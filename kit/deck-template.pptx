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motif</c:v>
                </c:pt>
              </c:strCache>
            </c:strRef>
          </c:tx>
          <c:spPr>
            <a:solidFill>
              <a:srgbClr val="0F8577"/>
            </a:solidFill>
            <a:ln w="25400" cap="flat">
              <a:solidFill>
                <a:srgbClr val="0F857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8577"/>
              </a:solidFill>
              <a:ln w="9525" cap="flat">
                <a:solidFill>
                  <a:srgbClr val="0F857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Sheet1!$A$2:$A$41</c:f>
              <c:multiLvlStrCache>
                <c:ptCount val="40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  <c:pt idx="36">
                    <c:v>36</c:v>
                  </c:pt>
                  <c:pt idx="37">
                    <c:v>37</c:v>
                  </c:pt>
                  <c:pt idx="38">
                    <c:v>38</c:v>
                  </c:pt>
                  <c:pt idx="39">
                    <c:v>39</c:v>
                  </c:pt>
                </c:lvl>
              </c:multiLvlStrCache>
            </c:multiLvlStrRef>
          </c:cat>
          <c:val>
            <c:numRef>
              <c:f>Sheet1!$B$2:$B$41</c:f>
              <c:numCache>
                <c:formatCode>General</c:formatCode>
                <c:ptCount val="40"/>
                <c:pt idx="0">
                  <c:v>0.0038659201394728076</c:v>
                </c:pt>
                <c:pt idx="1">
                  <c:v>0.006645011282741399</c:v>
                </c:pt>
                <c:pt idx="2">
                  <c:v>0.011108996538242306</c:v>
                </c:pt>
                <c:pt idx="3">
                  <c:v>0.018063013419781275</c:v>
                </c:pt>
                <c:pt idx="4">
                  <c:v>0.028565500784550377</c:v>
                </c:pt>
                <c:pt idx="5">
                  <c:v>0.04393693362340742</c:v>
                </c:pt>
                <c:pt idx="6">
                  <c:v>0.06572852861653047</c:v>
                </c:pt>
                <c:pt idx="7">
                  <c:v>0.0956344448325386</c:v>
                </c:pt>
                <c:pt idx="8">
                  <c:v>0.1353352832366127</c:v>
                </c:pt>
                <c:pt idx="9">
                  <c:v>0.1862704636977009</c:v>
                </c:pt>
                <c:pt idx="10">
                  <c:v>0.24935220877729622</c:v>
                </c:pt>
                <c:pt idx="11">
                  <c:v>0.32465246735834974</c:v>
                </c:pt>
                <c:pt idx="12">
                  <c:v>0.41111229050718745</c:v>
                </c:pt>
                <c:pt idx="13">
                  <c:v>0.5063356166481006</c:v>
                </c:pt>
                <c:pt idx="14">
                  <c:v>0.6065306597126334</c:v>
                </c:pt>
                <c:pt idx="15">
                  <c:v>0.7066482778577163</c:v>
                </c:pt>
                <c:pt idx="16">
                  <c:v>0.8007374029168081</c:v>
                </c:pt>
                <c:pt idx="17">
                  <c:v>0.8824969025845955</c:v>
                </c:pt>
                <c:pt idx="18">
                  <c:v>0.9459594689067654</c:v>
                </c:pt>
                <c:pt idx="19">
                  <c:v>0.9862071167439163</c:v>
                </c:pt>
                <c:pt idx="20">
                  <c:v>1</c:v>
                </c:pt>
                <c:pt idx="21">
                  <c:v>0.9862071167439163</c:v>
                </c:pt>
                <c:pt idx="22">
                  <c:v>0.9459594689067654</c:v>
                </c:pt>
                <c:pt idx="23">
                  <c:v>0.8824969025845955</c:v>
                </c:pt>
                <c:pt idx="24">
                  <c:v>0.8007374029168081</c:v>
                </c:pt>
                <c:pt idx="25">
                  <c:v>0.7066482778577163</c:v>
                </c:pt>
                <c:pt idx="26">
                  <c:v>0.6065306597126334</c:v>
                </c:pt>
                <c:pt idx="27">
                  <c:v>0.5063356166481006</c:v>
                </c:pt>
                <c:pt idx="28">
                  <c:v>0.41111229050718745</c:v>
                </c:pt>
                <c:pt idx="29">
                  <c:v>0.32465246735834974</c:v>
                </c:pt>
                <c:pt idx="30">
                  <c:v>0.24935220877729622</c:v>
                </c:pt>
                <c:pt idx="31">
                  <c:v>0.1862704636977009</c:v>
                </c:pt>
                <c:pt idx="32">
                  <c:v>0.1353352832366127</c:v>
                </c:pt>
                <c:pt idx="33">
                  <c:v>0.0956344448325386</c:v>
                </c:pt>
                <c:pt idx="34">
                  <c:v>0.06572852861653047</c:v>
                </c:pt>
                <c:pt idx="35">
                  <c:v>0.04393693362340742</c:v>
                </c:pt>
                <c:pt idx="36">
                  <c:v>0.028565500784550377</c:v>
                </c:pt>
                <c:pt idx="37">
                  <c:v>0.018063013419781275</c:v>
                </c:pt>
                <c:pt idx="38">
                  <c:v>0.011108996538242306</c:v>
                </c:pt>
                <c:pt idx="39">
                  <c:v>0.006645011282741399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motif</c:v>
                </c:pt>
              </c:strCache>
            </c:strRef>
          </c:tx>
          <c:spPr>
            <a:solidFill>
              <a:srgbClr val="C13A3E"/>
            </a:solidFill>
            <a:ln w="25400" cap="flat">
              <a:solidFill>
                <a:srgbClr val="C13A3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13A3E"/>
              </a:solidFill>
              <a:ln w="9525" cap="flat">
                <a:solidFill>
                  <a:srgbClr val="C13A3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Sheet1!$A$2:$A$41</c:f>
              <c:multiLvlStrCache>
                <c:ptCount val="40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  <c:pt idx="36">
                    <c:v>36</c:v>
                  </c:pt>
                  <c:pt idx="37">
                    <c:v>37</c:v>
                  </c:pt>
                  <c:pt idx="38">
                    <c:v>38</c:v>
                  </c:pt>
                  <c:pt idx="39">
                    <c:v>39</c:v>
                  </c:pt>
                </c:lvl>
              </c:multiLvlStrCache>
            </c:multiLvlStrRef>
          </c:cat>
          <c:val>
            <c:numRef>
              <c:f>Sheet1!$B$2:$B$41</c:f>
              <c:numCache>
                <c:formatCode>General</c:formatCode>
                <c:ptCount val="40"/>
                <c:pt idx="0">
                  <c:v>0.0038659201394728076</c:v>
                </c:pt>
                <c:pt idx="1">
                  <c:v>0.006645011282741399</c:v>
                </c:pt>
                <c:pt idx="2">
                  <c:v>0.011108996538242306</c:v>
                </c:pt>
                <c:pt idx="3">
                  <c:v>0.018063013419781275</c:v>
                </c:pt>
                <c:pt idx="4">
                  <c:v>0.028565500784550377</c:v>
                </c:pt>
                <c:pt idx="5">
                  <c:v>0.04393693362340742</c:v>
                </c:pt>
                <c:pt idx="6">
                  <c:v>0.06572852861653047</c:v>
                </c:pt>
                <c:pt idx="7">
                  <c:v>0.0956344448325386</c:v>
                </c:pt>
                <c:pt idx="8">
                  <c:v>0.1353352832366127</c:v>
                </c:pt>
                <c:pt idx="9">
                  <c:v>0.1862704636977009</c:v>
                </c:pt>
                <c:pt idx="10">
                  <c:v>0.24935220877729622</c:v>
                </c:pt>
                <c:pt idx="11">
                  <c:v>0.32465246735834974</c:v>
                </c:pt>
                <c:pt idx="12">
                  <c:v>0.41111229050718745</c:v>
                </c:pt>
                <c:pt idx="13">
                  <c:v>0.5063356166481006</c:v>
                </c:pt>
                <c:pt idx="14">
                  <c:v>0.6065306597126334</c:v>
                </c:pt>
                <c:pt idx="15">
                  <c:v>0.7066482778577163</c:v>
                </c:pt>
                <c:pt idx="16">
                  <c:v>0.8007374029168081</c:v>
                </c:pt>
                <c:pt idx="17">
                  <c:v>0.8824969025845955</c:v>
                </c:pt>
                <c:pt idx="18">
                  <c:v>0.9459594689067654</c:v>
                </c:pt>
                <c:pt idx="19">
                  <c:v>0.9862071167439163</c:v>
                </c:pt>
                <c:pt idx="20">
                  <c:v>1</c:v>
                </c:pt>
                <c:pt idx="21">
                  <c:v>0.9862071167439163</c:v>
                </c:pt>
                <c:pt idx="22">
                  <c:v>0.9459594689067654</c:v>
                </c:pt>
                <c:pt idx="23">
                  <c:v>0.8824969025845955</c:v>
                </c:pt>
                <c:pt idx="24">
                  <c:v>0.8007374029168081</c:v>
                </c:pt>
                <c:pt idx="25">
                  <c:v>0.7066482778577163</c:v>
                </c:pt>
                <c:pt idx="26">
                  <c:v>0.6065306597126334</c:v>
                </c:pt>
                <c:pt idx="27">
                  <c:v>0.5063356166481006</c:v>
                </c:pt>
                <c:pt idx="28">
                  <c:v>0.41111229050718745</c:v>
                </c:pt>
                <c:pt idx="29">
                  <c:v>0.32465246735834974</c:v>
                </c:pt>
                <c:pt idx="30">
                  <c:v>0.24935220877729622</c:v>
                </c:pt>
                <c:pt idx="31">
                  <c:v>0.1862704636977009</c:v>
                </c:pt>
                <c:pt idx="32">
                  <c:v>0.1353352832366127</c:v>
                </c:pt>
                <c:pt idx="33">
                  <c:v>0.0956344448325386</c:v>
                </c:pt>
                <c:pt idx="34">
                  <c:v>0.06572852861653047</c:v>
                </c:pt>
                <c:pt idx="35">
                  <c:v>0.04393693362340742</c:v>
                </c:pt>
                <c:pt idx="36">
                  <c:v>0.028565500784550377</c:v>
                </c:pt>
                <c:pt idx="37">
                  <c:v>0.018063013419781275</c:v>
                </c:pt>
                <c:pt idx="38">
                  <c:v>0.011108996538242306</c:v>
                </c:pt>
                <c:pt idx="39">
                  <c:v>0.006645011282741399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motif</c:v>
                </c:pt>
              </c:strCache>
            </c:strRef>
          </c:tx>
          <c:spPr>
            <a:solidFill>
              <a:srgbClr val="B8720C"/>
            </a:solidFill>
            <a:ln w="25400" cap="flat">
              <a:solidFill>
                <a:srgbClr val="B8720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8720C"/>
              </a:solidFill>
              <a:ln w="9525" cap="flat">
                <a:solidFill>
                  <a:srgbClr val="B872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Sheet1!$A$2:$A$41</c:f>
              <c:multiLvlStrCache>
                <c:ptCount val="40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  <c:pt idx="36">
                    <c:v>36</c:v>
                  </c:pt>
                  <c:pt idx="37">
                    <c:v>37</c:v>
                  </c:pt>
                  <c:pt idx="38">
                    <c:v>38</c:v>
                  </c:pt>
                  <c:pt idx="39">
                    <c:v>39</c:v>
                  </c:pt>
                </c:lvl>
              </c:multiLvlStrCache>
            </c:multiLvlStrRef>
          </c:cat>
          <c:val>
            <c:numRef>
              <c:f>Sheet1!$B$2:$B$41</c:f>
              <c:numCache>
                <c:formatCode>General</c:formatCode>
                <c:ptCount val="40"/>
                <c:pt idx="0">
                  <c:v>0.0038659201394728076</c:v>
                </c:pt>
                <c:pt idx="1">
                  <c:v>0.006645011282741399</c:v>
                </c:pt>
                <c:pt idx="2">
                  <c:v>0.011108996538242306</c:v>
                </c:pt>
                <c:pt idx="3">
                  <c:v>0.018063013419781275</c:v>
                </c:pt>
                <c:pt idx="4">
                  <c:v>0.028565500784550377</c:v>
                </c:pt>
                <c:pt idx="5">
                  <c:v>0.04393693362340742</c:v>
                </c:pt>
                <c:pt idx="6">
                  <c:v>0.06572852861653047</c:v>
                </c:pt>
                <c:pt idx="7">
                  <c:v>0.0956344448325386</c:v>
                </c:pt>
                <c:pt idx="8">
                  <c:v>0.1353352832366127</c:v>
                </c:pt>
                <c:pt idx="9">
                  <c:v>0.1862704636977009</c:v>
                </c:pt>
                <c:pt idx="10">
                  <c:v>0.24935220877729622</c:v>
                </c:pt>
                <c:pt idx="11">
                  <c:v>0.32465246735834974</c:v>
                </c:pt>
                <c:pt idx="12">
                  <c:v>0.41111229050718745</c:v>
                </c:pt>
                <c:pt idx="13">
                  <c:v>0.5063356166481006</c:v>
                </c:pt>
                <c:pt idx="14">
                  <c:v>0.6065306597126334</c:v>
                </c:pt>
                <c:pt idx="15">
                  <c:v>0.7066482778577163</c:v>
                </c:pt>
                <c:pt idx="16">
                  <c:v>0.8007374029168081</c:v>
                </c:pt>
                <c:pt idx="17">
                  <c:v>0.8824969025845955</c:v>
                </c:pt>
                <c:pt idx="18">
                  <c:v>0.9459594689067654</c:v>
                </c:pt>
                <c:pt idx="19">
                  <c:v>0.9862071167439163</c:v>
                </c:pt>
                <c:pt idx="20">
                  <c:v>1</c:v>
                </c:pt>
                <c:pt idx="21">
                  <c:v>0.9862071167439163</c:v>
                </c:pt>
                <c:pt idx="22">
                  <c:v>0.9459594689067654</c:v>
                </c:pt>
                <c:pt idx="23">
                  <c:v>0.8824969025845955</c:v>
                </c:pt>
                <c:pt idx="24">
                  <c:v>0.8007374029168081</c:v>
                </c:pt>
                <c:pt idx="25">
                  <c:v>0.7066482778577163</c:v>
                </c:pt>
                <c:pt idx="26">
                  <c:v>0.6065306597126334</c:v>
                </c:pt>
                <c:pt idx="27">
                  <c:v>0.5063356166481006</c:v>
                </c:pt>
                <c:pt idx="28">
                  <c:v>0.41111229050718745</c:v>
                </c:pt>
                <c:pt idx="29">
                  <c:v>0.32465246735834974</c:v>
                </c:pt>
                <c:pt idx="30">
                  <c:v>0.24935220877729622</c:v>
                </c:pt>
                <c:pt idx="31">
                  <c:v>0.1862704636977009</c:v>
                </c:pt>
                <c:pt idx="32">
                  <c:v>0.1353352832366127</c:v>
                </c:pt>
                <c:pt idx="33">
                  <c:v>0.0956344448325386</c:v>
                </c:pt>
                <c:pt idx="34">
                  <c:v>0.06572852861653047</c:v>
                </c:pt>
                <c:pt idx="35">
                  <c:v>0.04393693362340742</c:v>
                </c:pt>
                <c:pt idx="36">
                  <c:v>0.028565500784550377</c:v>
                </c:pt>
                <c:pt idx="37">
                  <c:v>0.018063013419781275</c:v>
                </c:pt>
                <c:pt idx="38">
                  <c:v>0.011108996538242306</c:v>
                </c:pt>
                <c:pt idx="39">
                  <c:v>0.006645011282741399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motif</c:v>
                </c:pt>
              </c:strCache>
            </c:strRef>
          </c:tx>
          <c:spPr>
            <a:solidFill>
              <a:srgbClr val="0F8577"/>
            </a:solidFill>
            <a:ln w="25400" cap="flat">
              <a:solidFill>
                <a:srgbClr val="0F857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8577"/>
              </a:solidFill>
              <a:ln w="9525" cap="flat">
                <a:solidFill>
                  <a:srgbClr val="0F857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Sheet1!$A$2:$A$41</c:f>
              <c:multiLvlStrCache>
                <c:ptCount val="40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  <c:pt idx="36">
                    <c:v>36</c:v>
                  </c:pt>
                  <c:pt idx="37">
                    <c:v>37</c:v>
                  </c:pt>
                  <c:pt idx="38">
                    <c:v>38</c:v>
                  </c:pt>
                  <c:pt idx="39">
                    <c:v>39</c:v>
                  </c:pt>
                </c:lvl>
              </c:multiLvlStrCache>
            </c:multiLvlStrRef>
          </c:cat>
          <c:val>
            <c:numRef>
              <c:f>Sheet1!$B$2:$B$41</c:f>
              <c:numCache>
                <c:formatCode>General</c:formatCode>
                <c:ptCount val="40"/>
                <c:pt idx="0">
                  <c:v>0.0038659201394728076</c:v>
                </c:pt>
                <c:pt idx="1">
                  <c:v>0.006645011282741399</c:v>
                </c:pt>
                <c:pt idx="2">
                  <c:v>0.011108996538242306</c:v>
                </c:pt>
                <c:pt idx="3">
                  <c:v>0.018063013419781275</c:v>
                </c:pt>
                <c:pt idx="4">
                  <c:v>0.028565500784550377</c:v>
                </c:pt>
                <c:pt idx="5">
                  <c:v>0.04393693362340742</c:v>
                </c:pt>
                <c:pt idx="6">
                  <c:v>0.06572852861653047</c:v>
                </c:pt>
                <c:pt idx="7">
                  <c:v>0.0956344448325386</c:v>
                </c:pt>
                <c:pt idx="8">
                  <c:v>0.1353352832366127</c:v>
                </c:pt>
                <c:pt idx="9">
                  <c:v>0.1862704636977009</c:v>
                </c:pt>
                <c:pt idx="10">
                  <c:v>0.24935220877729622</c:v>
                </c:pt>
                <c:pt idx="11">
                  <c:v>0.32465246735834974</c:v>
                </c:pt>
                <c:pt idx="12">
                  <c:v>0.41111229050718745</c:v>
                </c:pt>
                <c:pt idx="13">
                  <c:v>0.5063356166481006</c:v>
                </c:pt>
                <c:pt idx="14">
                  <c:v>0.6065306597126334</c:v>
                </c:pt>
                <c:pt idx="15">
                  <c:v>0.7066482778577163</c:v>
                </c:pt>
                <c:pt idx="16">
                  <c:v>0.8007374029168081</c:v>
                </c:pt>
                <c:pt idx="17">
                  <c:v>0.8824969025845955</c:v>
                </c:pt>
                <c:pt idx="18">
                  <c:v>0.9459594689067654</c:v>
                </c:pt>
                <c:pt idx="19">
                  <c:v>0.9862071167439163</c:v>
                </c:pt>
                <c:pt idx="20">
                  <c:v>1</c:v>
                </c:pt>
                <c:pt idx="21">
                  <c:v>0.9862071167439163</c:v>
                </c:pt>
                <c:pt idx="22">
                  <c:v>0.9459594689067654</c:v>
                </c:pt>
                <c:pt idx="23">
                  <c:v>0.8824969025845955</c:v>
                </c:pt>
                <c:pt idx="24">
                  <c:v>0.8007374029168081</c:v>
                </c:pt>
                <c:pt idx="25">
                  <c:v>0.7066482778577163</c:v>
                </c:pt>
                <c:pt idx="26">
                  <c:v>0.6065306597126334</c:v>
                </c:pt>
                <c:pt idx="27">
                  <c:v>0.5063356166481006</c:v>
                </c:pt>
                <c:pt idx="28">
                  <c:v>0.41111229050718745</c:v>
                </c:pt>
                <c:pt idx="29">
                  <c:v>0.32465246735834974</c:v>
                </c:pt>
                <c:pt idx="30">
                  <c:v>0.24935220877729622</c:v>
                </c:pt>
                <c:pt idx="31">
                  <c:v>0.1862704636977009</c:v>
                </c:pt>
                <c:pt idx="32">
                  <c:v>0.1353352832366127</c:v>
                </c:pt>
                <c:pt idx="33">
                  <c:v>0.0956344448325386</c:v>
                </c:pt>
                <c:pt idx="34">
                  <c:v>0.06572852861653047</c:v>
                </c:pt>
                <c:pt idx="35">
                  <c:v>0.04393693362340742</c:v>
                </c:pt>
                <c:pt idx="36">
                  <c:v>0.028565500784550377</c:v>
                </c:pt>
                <c:pt idx="37">
                  <c:v>0.018063013419781275</c:v>
                </c:pt>
                <c:pt idx="38">
                  <c:v>0.011108996538242306</c:v>
                </c:pt>
                <c:pt idx="39">
                  <c:v>0.006645011282741399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motif</c:v>
                </c:pt>
              </c:strCache>
            </c:strRef>
          </c:tx>
          <c:spPr>
            <a:solidFill>
              <a:srgbClr val="5B4FC4"/>
            </a:solidFill>
            <a:ln w="25400" cap="flat">
              <a:solidFill>
                <a:srgbClr val="5B4FC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B4FC4"/>
              </a:solidFill>
              <a:ln w="9525" cap="flat">
                <a:solidFill>
                  <a:srgbClr val="5B4FC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Sheet1!$A$2:$A$41</c:f>
              <c:multiLvlStrCache>
                <c:ptCount val="40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  <c:pt idx="36">
                    <c:v>36</c:v>
                  </c:pt>
                  <c:pt idx="37">
                    <c:v>37</c:v>
                  </c:pt>
                  <c:pt idx="38">
                    <c:v>38</c:v>
                  </c:pt>
                  <c:pt idx="39">
                    <c:v>39</c:v>
                  </c:pt>
                </c:lvl>
              </c:multiLvlStrCache>
            </c:multiLvlStrRef>
          </c:cat>
          <c:val>
            <c:numRef>
              <c:f>Sheet1!$B$2:$B$41</c:f>
              <c:numCache>
                <c:formatCode>General</c:formatCode>
                <c:ptCount val="40"/>
                <c:pt idx="0">
                  <c:v>0.0038659201394728076</c:v>
                </c:pt>
                <c:pt idx="1">
                  <c:v>0.006645011282741399</c:v>
                </c:pt>
                <c:pt idx="2">
                  <c:v>0.011108996538242306</c:v>
                </c:pt>
                <c:pt idx="3">
                  <c:v>0.018063013419781275</c:v>
                </c:pt>
                <c:pt idx="4">
                  <c:v>0.028565500784550377</c:v>
                </c:pt>
                <c:pt idx="5">
                  <c:v>0.04393693362340742</c:v>
                </c:pt>
                <c:pt idx="6">
                  <c:v>0.06572852861653047</c:v>
                </c:pt>
                <c:pt idx="7">
                  <c:v>0.0956344448325386</c:v>
                </c:pt>
                <c:pt idx="8">
                  <c:v>0.1353352832366127</c:v>
                </c:pt>
                <c:pt idx="9">
                  <c:v>0.1862704636977009</c:v>
                </c:pt>
                <c:pt idx="10">
                  <c:v>0.24935220877729622</c:v>
                </c:pt>
                <c:pt idx="11">
                  <c:v>0.32465246735834974</c:v>
                </c:pt>
                <c:pt idx="12">
                  <c:v>0.41111229050718745</c:v>
                </c:pt>
                <c:pt idx="13">
                  <c:v>0.5063356166481006</c:v>
                </c:pt>
                <c:pt idx="14">
                  <c:v>0.6065306597126334</c:v>
                </c:pt>
                <c:pt idx="15">
                  <c:v>0.7066482778577163</c:v>
                </c:pt>
                <c:pt idx="16">
                  <c:v>0.8007374029168081</c:v>
                </c:pt>
                <c:pt idx="17">
                  <c:v>0.8824969025845955</c:v>
                </c:pt>
                <c:pt idx="18">
                  <c:v>0.9459594689067654</c:v>
                </c:pt>
                <c:pt idx="19">
                  <c:v>0.9862071167439163</c:v>
                </c:pt>
                <c:pt idx="20">
                  <c:v>1</c:v>
                </c:pt>
                <c:pt idx="21">
                  <c:v>0.9862071167439163</c:v>
                </c:pt>
                <c:pt idx="22">
                  <c:v>0.9459594689067654</c:v>
                </c:pt>
                <c:pt idx="23">
                  <c:v>0.8824969025845955</c:v>
                </c:pt>
                <c:pt idx="24">
                  <c:v>0.8007374029168081</c:v>
                </c:pt>
                <c:pt idx="25">
                  <c:v>0.7066482778577163</c:v>
                </c:pt>
                <c:pt idx="26">
                  <c:v>0.6065306597126334</c:v>
                </c:pt>
                <c:pt idx="27">
                  <c:v>0.5063356166481006</c:v>
                </c:pt>
                <c:pt idx="28">
                  <c:v>0.41111229050718745</c:v>
                </c:pt>
                <c:pt idx="29">
                  <c:v>0.32465246735834974</c:v>
                </c:pt>
                <c:pt idx="30">
                  <c:v>0.24935220877729622</c:v>
                </c:pt>
                <c:pt idx="31">
                  <c:v>0.1862704636977009</c:v>
                </c:pt>
                <c:pt idx="32">
                  <c:v>0.1353352832366127</c:v>
                </c:pt>
                <c:pt idx="33">
                  <c:v>0.0956344448325386</c:v>
                </c:pt>
                <c:pt idx="34">
                  <c:v>0.06572852861653047</c:v>
                </c:pt>
                <c:pt idx="35">
                  <c:v>0.04393693362340742</c:v>
                </c:pt>
                <c:pt idx="36">
                  <c:v>0.028565500784550377</c:v>
                </c:pt>
                <c:pt idx="37">
                  <c:v>0.018063013419781275</c:v>
                </c:pt>
                <c:pt idx="38">
                  <c:v>0.011108996538242306</c:v>
                </c:pt>
                <c:pt idx="39">
                  <c:v>0.006645011282741399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motif</c:v>
                </c:pt>
              </c:strCache>
            </c:strRef>
          </c:tx>
          <c:spPr>
            <a:solidFill>
              <a:srgbClr val="0F8577"/>
            </a:solidFill>
            <a:ln w="25400" cap="flat">
              <a:solidFill>
                <a:srgbClr val="0F857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8577"/>
              </a:solidFill>
              <a:ln w="9525" cap="flat">
                <a:solidFill>
                  <a:srgbClr val="0F857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Sheet1!$A$2:$A$41</c:f>
              <c:multiLvlStrCache>
                <c:ptCount val="40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  <c:pt idx="36">
                    <c:v>36</c:v>
                  </c:pt>
                  <c:pt idx="37">
                    <c:v>37</c:v>
                  </c:pt>
                  <c:pt idx="38">
                    <c:v>38</c:v>
                  </c:pt>
                  <c:pt idx="39">
                    <c:v>39</c:v>
                  </c:pt>
                </c:lvl>
              </c:multiLvlStrCache>
            </c:multiLvlStrRef>
          </c:cat>
          <c:val>
            <c:numRef>
              <c:f>Sheet1!$B$2:$B$41</c:f>
              <c:numCache>
                <c:formatCode>General</c:formatCode>
                <c:ptCount val="40"/>
                <c:pt idx="0">
                  <c:v>0.0038659201394728076</c:v>
                </c:pt>
                <c:pt idx="1">
                  <c:v>0.006645011282741399</c:v>
                </c:pt>
                <c:pt idx="2">
                  <c:v>0.011108996538242306</c:v>
                </c:pt>
                <c:pt idx="3">
                  <c:v>0.018063013419781275</c:v>
                </c:pt>
                <c:pt idx="4">
                  <c:v>0.028565500784550377</c:v>
                </c:pt>
                <c:pt idx="5">
                  <c:v>0.04393693362340742</c:v>
                </c:pt>
                <c:pt idx="6">
                  <c:v>0.06572852861653047</c:v>
                </c:pt>
                <c:pt idx="7">
                  <c:v>0.0956344448325386</c:v>
                </c:pt>
                <c:pt idx="8">
                  <c:v>0.1353352832366127</c:v>
                </c:pt>
                <c:pt idx="9">
                  <c:v>0.1862704636977009</c:v>
                </c:pt>
                <c:pt idx="10">
                  <c:v>0.24935220877729622</c:v>
                </c:pt>
                <c:pt idx="11">
                  <c:v>0.32465246735834974</c:v>
                </c:pt>
                <c:pt idx="12">
                  <c:v>0.41111229050718745</c:v>
                </c:pt>
                <c:pt idx="13">
                  <c:v>0.5063356166481006</c:v>
                </c:pt>
                <c:pt idx="14">
                  <c:v>0.6065306597126334</c:v>
                </c:pt>
                <c:pt idx="15">
                  <c:v>0.7066482778577163</c:v>
                </c:pt>
                <c:pt idx="16">
                  <c:v>0.8007374029168081</c:v>
                </c:pt>
                <c:pt idx="17">
                  <c:v>0.8824969025845955</c:v>
                </c:pt>
                <c:pt idx="18">
                  <c:v>0.9459594689067654</c:v>
                </c:pt>
                <c:pt idx="19">
                  <c:v>0.9862071167439163</c:v>
                </c:pt>
                <c:pt idx="20">
                  <c:v>1</c:v>
                </c:pt>
                <c:pt idx="21">
                  <c:v>0.9862071167439163</c:v>
                </c:pt>
                <c:pt idx="22">
                  <c:v>0.9459594689067654</c:v>
                </c:pt>
                <c:pt idx="23">
                  <c:v>0.8824969025845955</c:v>
                </c:pt>
                <c:pt idx="24">
                  <c:v>0.8007374029168081</c:v>
                </c:pt>
                <c:pt idx="25">
                  <c:v>0.7066482778577163</c:v>
                </c:pt>
                <c:pt idx="26">
                  <c:v>0.6065306597126334</c:v>
                </c:pt>
                <c:pt idx="27">
                  <c:v>0.5063356166481006</c:v>
                </c:pt>
                <c:pt idx="28">
                  <c:v>0.41111229050718745</c:v>
                </c:pt>
                <c:pt idx="29">
                  <c:v>0.32465246735834974</c:v>
                </c:pt>
                <c:pt idx="30">
                  <c:v>0.24935220877729622</c:v>
                </c:pt>
                <c:pt idx="31">
                  <c:v>0.1862704636977009</c:v>
                </c:pt>
                <c:pt idx="32">
                  <c:v>0.1353352832366127</c:v>
                </c:pt>
                <c:pt idx="33">
                  <c:v>0.0956344448325386</c:v>
                </c:pt>
                <c:pt idx="34">
                  <c:v>0.06572852861653047</c:v>
                </c:pt>
                <c:pt idx="35">
                  <c:v>0.04393693362340742</c:v>
                </c:pt>
                <c:pt idx="36">
                  <c:v>0.028565500784550377</c:v>
                </c:pt>
                <c:pt idx="37">
                  <c:v>0.018063013419781275</c:v>
                </c:pt>
                <c:pt idx="38">
                  <c:v>0.011108996538242306</c:v>
                </c:pt>
                <c:pt idx="39">
                  <c:v>0.006645011282741399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0" y="4206240"/>
          <a:ext cx="12188952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" name="Text 0"/>
          <p:cNvSpPr/>
          <p:nvPr/>
        </p:nvSpPr>
        <p:spPr>
          <a:xfrm>
            <a:off x="822960" y="1417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WALKTHROUGH · SIMULATED ENVIRONMENT · 60 MIN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77240" y="1783080"/>
            <a:ext cx="10515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{{calc.title_line}}</a:t>
            </a:r>
            <a:endParaRPr lang="en-US" sz="4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0F85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{{brand.title_rest}}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822960" y="3703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{{brand.tagline}}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4434840"/>
            <a:ext cx="6035040" cy="457200"/>
          </a:xfrm>
          <a:prstGeom prst="roundRect">
            <a:avLst>
              <a:gd name="adj" fmla="val 12000"/>
            </a:avLst>
          </a:prstGeom>
          <a:solidFill>
            <a:srgbClr val="E3F5F1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22960" y="443484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8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{{calc.definition}}</a:t>
            </a:r>
            <a:pPr algn="ctr" indent="0" marL="0">
              <a:buNone/>
            </a:pPr>
            <a:r>
              <a:rPr lang="en-US" sz="1050" i="1" dirty="0">
                <a:solidFill>
                  <a:srgbClr val="5A6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22960" y="5989320"/>
            <a:ext cx="5303520" cy="0"/>
          </a:xfrm>
          <a:prstGeom prst="line">
            <a:avLst/>
          </a:prstGeom>
          <a:noFill/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Portfolio Value  ·  Capacity  ·  Delivery Risk  ·  SPC  ·  Talent  ·  Financial Precision  ·  Business Outcome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8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OF SHOW · 60 MINUTES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Acts — and a Framework First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508760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4F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737360" y="1563624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 Pillars Framework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737360" y="189280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language before the story begins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966960" y="1508760"/>
            <a:ext cx="1463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7C8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0:01–0:05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77240" y="2286000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3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37360" y="2340864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{{acts.0.title}}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737360" y="267004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every SPM initiative begins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966960" y="2286000"/>
            <a:ext cx="1463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7C8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{{acts.0.time}}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77240" y="3063240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72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737360" y="3118104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{{acts.1.title}}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737360" y="344728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manual cost of manufactured clarity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966960" y="3063240"/>
            <a:ext cx="1463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7C8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{{acts.1.time}}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77240" y="3840480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85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737360" y="3895344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{{acts.2.title}}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737360" y="422452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the 7 Pillars, in the platform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966960" y="3840480"/>
            <a:ext cx="1463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7C8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{{acts.2.time}}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61772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77240" y="4617720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4F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737360" y="4672584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{{acts.3.title}}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737360" y="500176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becomes visible, and arguable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966960" y="4617720"/>
            <a:ext cx="1463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7C8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{{acts.3.time}}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539496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77240" y="5394960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85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737360" y="5449824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{{acts.4.title}}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1737360" y="577900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restored, ROI documented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966960" y="5394960"/>
            <a:ext cx="1463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7C8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{{acts.4.time}}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62179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is introduced first, as a precursor to the demonstration — so the language is already shared by the time the live demo begins in Act III.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4F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WE BEGIN · THE FRAMEWORK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7 Pillars of AI-Enabled SPM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you'll see across the next five acts maps back to one of these seven. Keep this framework in mind — Act III will demonstrate each pillar live.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70048" cy="1371600"/>
          </a:xfrm>
          <a:prstGeom prst="roundRect">
            <a:avLst>
              <a:gd name="adj" fmla="val 4667"/>
            </a:avLst>
          </a:prstGeom>
          <a:solidFill>
            <a:srgbClr val="F5F7FA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" y="18013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F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2075688"/>
            <a:ext cx="2340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Allocation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2587752"/>
            <a:ext cx="2340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drift detection + cluster analysis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46704" y="1691640"/>
            <a:ext cx="2670048" cy="1371600"/>
          </a:xfrm>
          <a:prstGeom prst="roundRect">
            <a:avLst>
              <a:gd name="adj" fmla="val 4667"/>
            </a:avLst>
          </a:prstGeom>
          <a:solidFill>
            <a:srgbClr val="F5F7FA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511296" y="18013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F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11296" y="2075688"/>
            <a:ext cx="2340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&amp; Queuing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11296" y="2587752"/>
            <a:ext cx="2340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Erlang models, predictive overload alerts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44768" y="1691640"/>
            <a:ext cx="2670048" cy="1371600"/>
          </a:xfrm>
          <a:prstGeom prst="roundRect">
            <a:avLst>
              <a:gd name="adj" fmla="val 4667"/>
            </a:avLst>
          </a:prstGeom>
          <a:solidFill>
            <a:srgbClr val="F5F7FA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309360" y="18013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F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09360" y="2075688"/>
            <a:ext cx="2340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Risk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2587752"/>
            <a:ext cx="2340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simulation, survival analysis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942832" y="1691640"/>
            <a:ext cx="2670048" cy="1371600"/>
          </a:xfrm>
          <a:prstGeom prst="roundRect">
            <a:avLst>
              <a:gd name="adj" fmla="val 4667"/>
            </a:avLst>
          </a:prstGeom>
          <a:solidFill>
            <a:srgbClr val="F5F7FA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107424" y="18013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F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07424" y="2075688"/>
            <a:ext cx="2340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SPC Control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07424" y="2587752"/>
            <a:ext cx="2340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Graduates from reporting a number to controlling a process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3209544"/>
            <a:ext cx="2670048" cy="1371600"/>
          </a:xfrm>
          <a:prstGeom prst="roundRect">
            <a:avLst>
              <a:gd name="adj" fmla="val 4667"/>
            </a:avLst>
          </a:prstGeom>
          <a:solidFill>
            <a:srgbClr val="F5F7FA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13232" y="33192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F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232" y="3593592"/>
            <a:ext cx="2340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Elevation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3232" y="4105656"/>
            <a:ext cx="2340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AI-adopting PMs measurably outproduce those who aren't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46704" y="3209544"/>
            <a:ext cx="2670048" cy="1371600"/>
          </a:xfrm>
          <a:prstGeom prst="roundRect">
            <a:avLst>
              <a:gd name="adj" fmla="val 4667"/>
            </a:avLst>
          </a:prstGeom>
          <a:solidFill>
            <a:srgbClr val="F5F7FA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511296" y="33192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F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511296" y="3593592"/>
            <a:ext cx="2340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Precision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511296" y="4105656"/>
            <a:ext cx="2340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EAC/ETC, dynamic NPV/IRR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44768" y="3209544"/>
            <a:ext cx="2670048" cy="1371600"/>
          </a:xfrm>
          <a:prstGeom prst="roundRect">
            <a:avLst>
              <a:gd name="adj" fmla="val 4667"/>
            </a:avLst>
          </a:prstGeom>
          <a:solidFill>
            <a:srgbClr val="F5F7FA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309360" y="33192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4F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P07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9360" y="3593592"/>
            <a:ext cx="2340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09360" y="4105656"/>
            <a:ext cx="2340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+ causal inference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4F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WE BEGIN · WHY IT'S DIFFERENT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Qualitative GenAI vs. Statistical AI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8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SPM DOMAIN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063240" y="14173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13A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AMATEUR APPROACH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269480" y="14173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8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PROFESSIONAL APPROACH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64240" cy="1051560"/>
          </a:xfrm>
          <a:prstGeom prst="rect">
            <a:avLst/>
          </a:prstGeom>
          <a:solidFill>
            <a:srgbClr val="EDF1F7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828800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Alignment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063240" y="1828800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C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Keyword-scans summaries against pillars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269480" y="1828800"/>
            <a:ext cx="4206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&amp; factor analysis on hidden concentrations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907792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Risk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063240" y="2907792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C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subjective RAG / Jira counts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269480" y="2907792"/>
            <a:ext cx="4206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Monte Carlo confidence-interval simulations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986784"/>
            <a:ext cx="11064240" cy="1051560"/>
          </a:xfrm>
          <a:prstGeom prst="rect">
            <a:avLst/>
          </a:prstGeom>
          <a:solidFill>
            <a:srgbClr val="EDF1F7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77240" y="3986784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Control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063240" y="3986784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C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averages, prompts micromanagement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269480" y="3986784"/>
            <a:ext cx="4206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SPC separates common-cause noise from real signal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5065776"/>
            <a:ext cx="2194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Precision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063240" y="5065776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C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Re-calculates static formulas on manual entry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269480" y="5065776"/>
            <a:ext cx="4206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ARIMA/Prophet + Bayesian continuous EAC curves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0" y="4480560"/>
          <a:ext cx="12188952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" name="Text 0"/>
          <p:cNvSpPr/>
          <p:nvPr/>
        </p:nvSpPr>
        <p:spPr>
          <a:xfrm>
            <a:off x="640080" y="100584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F0F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3000" dirty="0"/>
          </a:p>
        </p:txBody>
      </p:sp>
      <p:sp>
        <p:nvSpPr>
          <p:cNvPr id="4" name="Shape 1"/>
          <p:cNvSpPr/>
          <p:nvPr/>
        </p:nvSpPr>
        <p:spPr>
          <a:xfrm>
            <a:off x="1965960" y="1234440"/>
            <a:ext cx="0" cy="1554480"/>
          </a:xfrm>
          <a:prstGeom prst="line">
            <a:avLst/>
          </a:prstGeom>
          <a:noFill/>
          <a:ln w="38100">
            <a:solidFill>
              <a:srgbClr val="C13A3E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286000" y="128016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{{acts.0.title}}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2286000" y="21488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SPM initiative begins with uncertainty.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2286000" y="28803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C13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{{calc.a1_quote_short}}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3A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 I · CURRENT STATE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portfolio nobody fully trusts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lack clarity on whether strategy is translating into execution, whether the data can be trusted, and whether progress is real.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2103120"/>
            <a:ext cx="306324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13A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{{story.a1.stats.0.num}}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843784"/>
            <a:ext cx="306324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{{story.a1.stats.0.label}}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0" y="196596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434840" y="2103120"/>
            <a:ext cx="306324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872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{{story.a1.stats.1.num}}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34840" y="2843784"/>
            <a:ext cx="306324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{{story.a1.stats.1.label}}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863840" y="196596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092440" y="2103120"/>
            <a:ext cx="306324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13A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{{story.a1.stats.2.num}}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092440" y="2843784"/>
            <a:ext cx="306324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{{story.a1.stats.2.label}}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10835640" cy="2468880"/>
          </a:xfrm>
          <a:prstGeom prst="roundRect">
            <a:avLst>
              <a:gd name="adj" fmla="val 2222"/>
            </a:avLst>
          </a:prstGeom>
          <a:solidFill>
            <a:srgbClr val="EDF1F7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68680" y="3886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{{tracker.title}}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4206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{{calc.tracker_sub}}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68680" y="4690872"/>
            <a:ext cx="109728" cy="109728"/>
          </a:xfrm>
          <a:prstGeom prst="ellipse">
            <a:avLst/>
          </a:prstGeom>
          <a:solidFill>
            <a:srgbClr val="0F8577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97280" y="4617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{{tracker.initiatives.0.name}}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80560" y="46177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8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{{calc.rag0}}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77840" y="46177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{{tracker.initiatives.0.pct}}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92240" y="4617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C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{{calc.note0}}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68680" y="5074920"/>
            <a:ext cx="109728" cy="109728"/>
          </a:xfrm>
          <a:prstGeom prst="ellipse">
            <a:avLst/>
          </a:prstGeom>
          <a:solidFill>
            <a:srgbClr val="B8720C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097280" y="50017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{{tracker.initiatives.1.name}}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80560" y="500176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72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{{calc.rag1}}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577840" y="50017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{{tracker.initiatives.1.pct}}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92240" y="50017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C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{{calc.note1}}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68680" y="5458968"/>
            <a:ext cx="109728" cy="109728"/>
          </a:xfrm>
          <a:prstGeom prst="ellipse">
            <a:avLst/>
          </a:prstGeom>
          <a:solidFill>
            <a:srgbClr val="C13A3E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097280" y="538581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{{tracker.initiatives.3.name}}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480560" y="538581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13A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{{calc.rag3}}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77840" y="538581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{{tracker.initiatives.3.pct}}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92240" y="5385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C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{{calc.note3}}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68680" y="5843016"/>
            <a:ext cx="109728" cy="109728"/>
          </a:xfrm>
          <a:prstGeom prst="ellipse">
            <a:avLst/>
          </a:prstGeom>
          <a:solidFill>
            <a:srgbClr val="B8720C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1097280" y="576986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{{tracker.initiatives.4.name}}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480560" y="576986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72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{{calc.rag4}}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77840" y="57698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C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{{tracker.initiatives.4.pct}}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92240" y="57698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C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{{calc.note4}}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0" y="4480560"/>
          <a:ext cx="12188952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" name="Text 0"/>
          <p:cNvSpPr/>
          <p:nvPr/>
        </p:nvSpPr>
        <p:spPr>
          <a:xfrm>
            <a:off x="640080" y="100584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F0F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13000" dirty="0"/>
          </a:p>
        </p:txBody>
      </p:sp>
      <p:sp>
        <p:nvSpPr>
          <p:cNvPr id="4" name="Shape 1"/>
          <p:cNvSpPr/>
          <p:nvPr/>
        </p:nvSpPr>
        <p:spPr>
          <a:xfrm>
            <a:off x="1965960" y="1234440"/>
            <a:ext cx="0" cy="1554480"/>
          </a:xfrm>
          <a:prstGeom prst="line">
            <a:avLst/>
          </a:prstGeom>
          <a:noFill/>
          <a:ln w="38100">
            <a:solidFill>
              <a:srgbClr val="B8720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286000" y="128016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{{acts.1.title}}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2286000" y="21488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carry the burden of delivering clarity through manual work.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2286000" y="28803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B87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{{calc.a2_quote}}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72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 II · THE HIDDEN COST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{{story.a2.deck_title}}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92240" cy="4663440"/>
          </a:xfrm>
          <a:prstGeom prst="roundRect">
            <a:avLst>
              <a:gd name="adj" fmla="val 1176"/>
            </a:avLst>
          </a:prstGeom>
          <a:solidFill>
            <a:srgbClr val="F5F7FA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manual task queue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{{story.a2.tasks.0.task}}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394960" y="21488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72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{{story.a2.tasks.0.hrs}}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2606040"/>
            <a:ext cx="5943600" cy="0"/>
          </a:xfrm>
          <a:prstGeom prst="line">
            <a:avLst/>
          </a:prstGeom>
          <a:noFill/>
          <a:ln w="9525">
            <a:solidFill>
              <a:srgbClr val="E1E6EF"/>
            </a:solidFill>
            <a:prstDash val="dash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68680" y="26974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{{story.a2.tasks.1.task}}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394960" y="269748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72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{{story.a2.tasks.1.hrs}}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3154680"/>
            <a:ext cx="5943600" cy="0"/>
          </a:xfrm>
          <a:prstGeom prst="line">
            <a:avLst/>
          </a:prstGeom>
          <a:noFill/>
          <a:ln w="9525">
            <a:solidFill>
              <a:srgbClr val="E1E6EF"/>
            </a:solidFill>
            <a:prstDash val="dash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68680" y="32461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{{story.a2.tasks.2.task}}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394960" y="32461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72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{{story.a2.tasks.2.hrs}}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3703320"/>
            <a:ext cx="5943600" cy="0"/>
          </a:xfrm>
          <a:prstGeom prst="line">
            <a:avLst/>
          </a:prstGeom>
          <a:noFill/>
          <a:ln w="9525">
            <a:solidFill>
              <a:srgbClr val="E1E6EF"/>
            </a:solidFill>
            <a:prstDash val="dash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68680" y="37947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{{story.a2.tasks.3.task}}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394960" y="37947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72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{{story.a2.tasks.3.hrs}}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" y="4251960"/>
            <a:ext cx="5943600" cy="0"/>
          </a:xfrm>
          <a:prstGeom prst="line">
            <a:avLst/>
          </a:prstGeom>
          <a:noFill/>
          <a:ln w="9525">
            <a:solidFill>
              <a:srgbClr val="E1E6EF"/>
            </a:solidFill>
            <a:prstDash val="dash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68680" y="43434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{{story.a2.tasks.4.task}}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394960" y="43434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72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{{story.a2.tasks.4.hrs}}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8680" y="4800600"/>
            <a:ext cx="5943600" cy="0"/>
          </a:xfrm>
          <a:prstGeom prst="line">
            <a:avLst/>
          </a:prstGeom>
          <a:noFill/>
          <a:ln w="9525">
            <a:solidFill>
              <a:srgbClr val="E1E6EF"/>
            </a:solidFill>
            <a:prstDash val="dash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68680" y="48920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{{story.a2.tasks.5.task}}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394960" y="48920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72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{{story.a2.tasks.5.hrs}}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68680" y="5349240"/>
            <a:ext cx="5943600" cy="0"/>
          </a:xfrm>
          <a:prstGeom prst="line">
            <a:avLst/>
          </a:prstGeom>
          <a:noFill/>
          <a:ln w="9525">
            <a:solidFill>
              <a:srgbClr val="E1E6EF"/>
            </a:solidFill>
            <a:prstDash val="dash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68680" y="54864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{{story.a2.left_label}}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394960" y="54864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F8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{{story.a2.left_hrs}}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269480" y="1463040"/>
            <a:ext cx="4114800" cy="4663440"/>
          </a:xfrm>
          <a:prstGeom prst="roundRect">
            <a:avLst>
              <a:gd name="adj" fmla="val 1333"/>
            </a:avLst>
          </a:prstGeom>
          <a:solidFill>
            <a:srgbClr val="EDF1F7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54380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rework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543800" y="21031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B872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{{story.a2.reporting_pct}}</a:t>
            </a:r>
            <a:endParaRPr lang="en-US" sz="4600" dirty="0"/>
          </a:p>
        </p:txBody>
      </p:sp>
      <p:sp>
        <p:nvSpPr>
          <p:cNvPr id="29" name="Text 27"/>
          <p:cNvSpPr/>
          <p:nvPr/>
        </p:nvSpPr>
        <p:spPr>
          <a:xfrm>
            <a:off x="7543800" y="30632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40-hour week spent chasing, reconciling, and rebuilding — not analyzing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543800" y="4023360"/>
            <a:ext cx="3566160" cy="0"/>
          </a:xfrm>
          <a:prstGeom prst="line">
            <a:avLst/>
          </a:prstGeom>
          <a:noFill/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543800" y="42062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8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{{story.a2.judgment_pct}}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7543800" y="48920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remains for the judgment leaders are actually paying for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0" y="4480560"/>
          <a:ext cx="12188952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" name="Text 0"/>
          <p:cNvSpPr/>
          <p:nvPr/>
        </p:nvSpPr>
        <p:spPr>
          <a:xfrm>
            <a:off x="640080" y="100584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F0F3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13000" dirty="0"/>
          </a:p>
        </p:txBody>
      </p:sp>
      <p:sp>
        <p:nvSpPr>
          <p:cNvPr id="4" name="Shape 1"/>
          <p:cNvSpPr/>
          <p:nvPr/>
        </p:nvSpPr>
        <p:spPr>
          <a:xfrm>
            <a:off x="1965960" y="1234440"/>
            <a:ext cx="0" cy="1554480"/>
          </a:xfrm>
          <a:prstGeom prst="line">
            <a:avLst/>
          </a:prstGeom>
          <a:noFill/>
          <a:ln w="38100">
            <a:solidFill>
              <a:srgbClr val="0F8577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286000" y="128016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{{acts.2.title}}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2286000" y="21488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 Pillars you already saw — now live, on the same portfolio.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286000" y="2926080"/>
            <a:ext cx="8229600" cy="566928"/>
          </a:xfrm>
          <a:prstGeom prst="roundRect">
            <a:avLst>
              <a:gd name="adj" fmla="val 50000"/>
            </a:avLst>
          </a:prstGeom>
          <a:solidFill>
            <a:srgbClr val="E3F5F1"/>
          </a:solidFill>
          <a:ln w="12700">
            <a:solidFill>
              <a:srgbClr val="0F8577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2286000" y="292608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8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LIVE DEMO — open demo.html — walk all 7 Pillars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0" y="4846320"/>
          <a:ext cx="12188952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4F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 IV · THE VALUE HYPOTHESIS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becomes visible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1887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system working, decisions accelerate, data becomes trustworthy, and the connection between strategy and execution strengthens.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77240" y="2103120"/>
            <a:ext cx="306324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B4F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{{calc.a4_num0}}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77240" y="2843784"/>
            <a:ext cx="306324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{{story.a4.stats.0.label}}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06240" y="196596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434840" y="2103120"/>
            <a:ext cx="306324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8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{{calc.a4_num1}}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4434840" y="2843784"/>
            <a:ext cx="306324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{{story.a4.stats.1.label}}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863840" y="1965960"/>
            <a:ext cx="3520440" cy="14630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092440" y="2103120"/>
            <a:ext cx="306324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8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{{calc.a4_num2}}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8092440" y="2843784"/>
            <a:ext cx="306324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{{story.a4.stats.2.label}}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3703320"/>
            <a:ext cx="10835640" cy="13716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822960" y="3886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velocity: risk emerges → leadership acts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22960" y="4251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8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{{calc.before_line}}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22960" y="4617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8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{{calc.after_line}}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8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 V · THE OUTCOME REALIZED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quarters later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869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regains confidence as measurable outcomes emerge. Adoption drives ROI, and the anxiety that opened this story has an answer.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2057400"/>
            <a:ext cx="214884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8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{{calc.a5_val0}}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798064"/>
            <a:ext cx="214884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{{calc.a5_note0}}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9202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057400"/>
            <a:ext cx="214884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8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{{calc.a5_val1}}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20440" y="2798064"/>
            <a:ext cx="214884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{{calc.a5_note1}}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9202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263640" y="2057400"/>
            <a:ext cx="214884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8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{{calc.a5_val2}}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263640" y="2798064"/>
            <a:ext cx="214884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{{calc.a5_note2}}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778240" y="192024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06840" y="2057400"/>
            <a:ext cx="2148840" cy="8046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8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{{calc.a5_val3}}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006840" y="2798064"/>
            <a:ext cx="214884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{{calc.a5_note3}}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703320"/>
            <a:ext cx="10835640" cy="2377440"/>
          </a:xfrm>
          <a:prstGeom prst="roundRect">
            <a:avLst>
              <a:gd name="adj" fmla="val 2308"/>
            </a:avLst>
          </a:prstGeom>
          <a:solidFill>
            <a:srgbClr val="EDF1F7"/>
          </a:solidFill>
          <a:ln w="12700">
            <a:solidFill>
              <a:srgbClr val="E1E6E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14400" y="402336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{{calc.quote1}}</a:t>
            </a:r>
            <a:endParaRPr lang="en-US" sz="2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2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{{calc.quote2}}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14400" y="5349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{{calc.quote_attr}}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0" y="4206240"/>
          <a:ext cx="12188952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" name="Text 0"/>
          <p:cNvSpPr/>
          <p:nvPr/>
        </p:nvSpPr>
        <p:spPr>
          <a:xfrm>
            <a:off x="822960" y="1463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77240" y="18288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anxiety to statistical rigor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822960" y="3017520"/>
            <a:ext cx="365760" cy="365760"/>
          </a:xfrm>
          <a:prstGeom prst="ellipse">
            <a:avLst/>
          </a:prstGeom>
          <a:solidFill>
            <a:srgbClr val="E3F5F1"/>
          </a:solidFill>
          <a:ln w="12700">
            <a:solidFill>
              <a:srgbClr val="0F857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82296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8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371600" y="29718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one initiative to run through Monte Carlo + SPC this quarter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3611880"/>
            <a:ext cx="365760" cy="365760"/>
          </a:xfrm>
          <a:prstGeom prst="ellipse">
            <a:avLst/>
          </a:prstGeom>
          <a:solidFill>
            <a:srgbClr val="E3F5F1"/>
          </a:solidFill>
          <a:ln w="12700">
            <a:solidFill>
              <a:srgbClr val="0F8577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22960" y="3611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8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71600" y="35661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charter &amp; backlog data sources for Strategic Drift Detection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22960" y="4206240"/>
            <a:ext cx="365760" cy="365760"/>
          </a:xfrm>
          <a:prstGeom prst="ellipse">
            <a:avLst/>
          </a:prstGeom>
          <a:solidFill>
            <a:srgbClr val="E3F5F1"/>
          </a:solidFill>
          <a:ln w="12700">
            <a:solidFill>
              <a:srgbClr val="0F857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2296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85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371600" y="41605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current decision velocity as the before-state benchmark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A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Stochastic SPM — AI Portfolio Intelligence Demo</dc:title>
  <dc:subject>PptxGenJS Presentation</dc:subject>
  <dc:creator>Stochastic SPM</dc:creator>
  <cp:lastModifiedBy>Stochastic SPM</cp:lastModifiedBy>
  <cp:revision>1</cp:revision>
  <dcterms:created xsi:type="dcterms:W3CDTF">2026-07-01T22:34:27Z</dcterms:created>
  <dcterms:modified xsi:type="dcterms:W3CDTF">2026-07-01T22:34:27Z</dcterms:modified>
</cp:coreProperties>
</file>