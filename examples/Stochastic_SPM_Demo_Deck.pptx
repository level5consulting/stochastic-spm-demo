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motif</c:v>
                </c:pt>
              </c:strCache>
            </c:strRef>
          </c:tx>
          <c:spPr>
            <a:solidFill>
              <a:srgbClr val="0F8577"/>
            </a:solidFill>
            <a:ln w="25400" cap="flat">
              <a:solidFill>
                <a:srgbClr val="0F8577"/>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F8577"/>
              </a:solidFill>
              <a:ln w="9525" cap="flat">
                <a:solidFill>
                  <a:srgbClr val="0F8577"/>
                </a:solidFill>
                <a:prstDash val="solid"/>
                <a:round/>
              </a:ln>
              <a:effectLst/>
            </c:spPr>
          </c:marker>
          <c:cat>
            <c:multiLvlStrRef>
              <c:f>Sheet1!$A$2:$A$41</c:f>
              <c:multiLvlStrCache>
                <c:ptCount val="40"/>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lvl>
              </c:multiLvlStrCache>
            </c:multiLvlStrRef>
          </c:cat>
          <c:val>
            <c:numRef>
              <c:f>Sheet1!$B$2:$B$41</c:f>
              <c:numCache>
                <c:formatCode>General</c:formatCode>
                <c:ptCount val="40"/>
                <c:pt idx="0">
                  <c:v>0.0038659201394728076</c:v>
                </c:pt>
                <c:pt idx="1">
                  <c:v>0.006645011282741399</c:v>
                </c:pt>
                <c:pt idx="2">
                  <c:v>0.011108996538242306</c:v>
                </c:pt>
                <c:pt idx="3">
                  <c:v>0.018063013419781275</c:v>
                </c:pt>
                <c:pt idx="4">
                  <c:v>0.028565500784550377</c:v>
                </c:pt>
                <c:pt idx="5">
                  <c:v>0.04393693362340742</c:v>
                </c:pt>
                <c:pt idx="6">
                  <c:v>0.06572852861653047</c:v>
                </c:pt>
                <c:pt idx="7">
                  <c:v>0.0956344448325386</c:v>
                </c:pt>
                <c:pt idx="8">
                  <c:v>0.1353352832366127</c:v>
                </c:pt>
                <c:pt idx="9">
                  <c:v>0.1862704636977009</c:v>
                </c:pt>
                <c:pt idx="10">
                  <c:v>0.24935220877729622</c:v>
                </c:pt>
                <c:pt idx="11">
                  <c:v>0.32465246735834974</c:v>
                </c:pt>
                <c:pt idx="12">
                  <c:v>0.41111229050718745</c:v>
                </c:pt>
                <c:pt idx="13">
                  <c:v>0.5063356166481006</c:v>
                </c:pt>
                <c:pt idx="14">
                  <c:v>0.6065306597126334</c:v>
                </c:pt>
                <c:pt idx="15">
                  <c:v>0.7066482778577163</c:v>
                </c:pt>
                <c:pt idx="16">
                  <c:v>0.8007374029168081</c:v>
                </c:pt>
                <c:pt idx="17">
                  <c:v>0.8824969025845955</c:v>
                </c:pt>
                <c:pt idx="18">
                  <c:v>0.9459594689067654</c:v>
                </c:pt>
                <c:pt idx="19">
                  <c:v>0.9862071167439163</c:v>
                </c:pt>
                <c:pt idx="20">
                  <c:v>1</c:v>
                </c:pt>
                <c:pt idx="21">
                  <c:v>0.9862071167439163</c:v>
                </c:pt>
                <c:pt idx="22">
                  <c:v>0.9459594689067654</c:v>
                </c:pt>
                <c:pt idx="23">
                  <c:v>0.8824969025845955</c:v>
                </c:pt>
                <c:pt idx="24">
                  <c:v>0.8007374029168081</c:v>
                </c:pt>
                <c:pt idx="25">
                  <c:v>0.7066482778577163</c:v>
                </c:pt>
                <c:pt idx="26">
                  <c:v>0.6065306597126334</c:v>
                </c:pt>
                <c:pt idx="27">
                  <c:v>0.5063356166481006</c:v>
                </c:pt>
                <c:pt idx="28">
                  <c:v>0.41111229050718745</c:v>
                </c:pt>
                <c:pt idx="29">
                  <c:v>0.32465246735834974</c:v>
                </c:pt>
                <c:pt idx="30">
                  <c:v>0.24935220877729622</c:v>
                </c:pt>
                <c:pt idx="31">
                  <c:v>0.1862704636977009</c:v>
                </c:pt>
                <c:pt idx="32">
                  <c:v>0.1353352832366127</c:v>
                </c:pt>
                <c:pt idx="33">
                  <c:v>0.0956344448325386</c:v>
                </c:pt>
                <c:pt idx="34">
                  <c:v>0.06572852861653047</c:v>
                </c:pt>
                <c:pt idx="35">
                  <c:v>0.04393693362340742</c:v>
                </c:pt>
                <c:pt idx="36">
                  <c:v>0.028565500784550377</c:v>
                </c:pt>
                <c:pt idx="37">
                  <c:v>0.018063013419781275</c:v>
                </c:pt>
                <c:pt idx="38">
                  <c:v>0.011108996538242306</c:v>
                </c:pt>
                <c:pt idx="39">
                  <c:v>0.006645011282741399</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motif</c:v>
                </c:pt>
              </c:strCache>
            </c:strRef>
          </c:tx>
          <c:spPr>
            <a:solidFill>
              <a:srgbClr val="C13A3E"/>
            </a:solidFill>
            <a:ln w="25400" cap="flat">
              <a:solidFill>
                <a:srgbClr val="C13A3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C13A3E"/>
              </a:solidFill>
              <a:ln w="9525" cap="flat">
                <a:solidFill>
                  <a:srgbClr val="C13A3E"/>
                </a:solidFill>
                <a:prstDash val="solid"/>
                <a:round/>
              </a:ln>
              <a:effectLst/>
            </c:spPr>
          </c:marker>
          <c:cat>
            <c:multiLvlStrRef>
              <c:f>Sheet1!$A$2:$A$41</c:f>
              <c:multiLvlStrCache>
                <c:ptCount val="40"/>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lvl>
              </c:multiLvlStrCache>
            </c:multiLvlStrRef>
          </c:cat>
          <c:val>
            <c:numRef>
              <c:f>Sheet1!$B$2:$B$41</c:f>
              <c:numCache>
                <c:formatCode>General</c:formatCode>
                <c:ptCount val="40"/>
                <c:pt idx="0">
                  <c:v>0.0038659201394728076</c:v>
                </c:pt>
                <c:pt idx="1">
                  <c:v>0.006645011282741399</c:v>
                </c:pt>
                <c:pt idx="2">
                  <c:v>0.011108996538242306</c:v>
                </c:pt>
                <c:pt idx="3">
                  <c:v>0.018063013419781275</c:v>
                </c:pt>
                <c:pt idx="4">
                  <c:v>0.028565500784550377</c:v>
                </c:pt>
                <c:pt idx="5">
                  <c:v>0.04393693362340742</c:v>
                </c:pt>
                <c:pt idx="6">
                  <c:v>0.06572852861653047</c:v>
                </c:pt>
                <c:pt idx="7">
                  <c:v>0.0956344448325386</c:v>
                </c:pt>
                <c:pt idx="8">
                  <c:v>0.1353352832366127</c:v>
                </c:pt>
                <c:pt idx="9">
                  <c:v>0.1862704636977009</c:v>
                </c:pt>
                <c:pt idx="10">
                  <c:v>0.24935220877729622</c:v>
                </c:pt>
                <c:pt idx="11">
                  <c:v>0.32465246735834974</c:v>
                </c:pt>
                <c:pt idx="12">
                  <c:v>0.41111229050718745</c:v>
                </c:pt>
                <c:pt idx="13">
                  <c:v>0.5063356166481006</c:v>
                </c:pt>
                <c:pt idx="14">
                  <c:v>0.6065306597126334</c:v>
                </c:pt>
                <c:pt idx="15">
                  <c:v>0.7066482778577163</c:v>
                </c:pt>
                <c:pt idx="16">
                  <c:v>0.8007374029168081</c:v>
                </c:pt>
                <c:pt idx="17">
                  <c:v>0.8824969025845955</c:v>
                </c:pt>
                <c:pt idx="18">
                  <c:v>0.9459594689067654</c:v>
                </c:pt>
                <c:pt idx="19">
                  <c:v>0.9862071167439163</c:v>
                </c:pt>
                <c:pt idx="20">
                  <c:v>1</c:v>
                </c:pt>
                <c:pt idx="21">
                  <c:v>0.9862071167439163</c:v>
                </c:pt>
                <c:pt idx="22">
                  <c:v>0.9459594689067654</c:v>
                </c:pt>
                <c:pt idx="23">
                  <c:v>0.8824969025845955</c:v>
                </c:pt>
                <c:pt idx="24">
                  <c:v>0.8007374029168081</c:v>
                </c:pt>
                <c:pt idx="25">
                  <c:v>0.7066482778577163</c:v>
                </c:pt>
                <c:pt idx="26">
                  <c:v>0.6065306597126334</c:v>
                </c:pt>
                <c:pt idx="27">
                  <c:v>0.5063356166481006</c:v>
                </c:pt>
                <c:pt idx="28">
                  <c:v>0.41111229050718745</c:v>
                </c:pt>
                <c:pt idx="29">
                  <c:v>0.32465246735834974</c:v>
                </c:pt>
                <c:pt idx="30">
                  <c:v>0.24935220877729622</c:v>
                </c:pt>
                <c:pt idx="31">
                  <c:v>0.1862704636977009</c:v>
                </c:pt>
                <c:pt idx="32">
                  <c:v>0.1353352832366127</c:v>
                </c:pt>
                <c:pt idx="33">
                  <c:v>0.0956344448325386</c:v>
                </c:pt>
                <c:pt idx="34">
                  <c:v>0.06572852861653047</c:v>
                </c:pt>
                <c:pt idx="35">
                  <c:v>0.04393693362340742</c:v>
                </c:pt>
                <c:pt idx="36">
                  <c:v>0.028565500784550377</c:v>
                </c:pt>
                <c:pt idx="37">
                  <c:v>0.018063013419781275</c:v>
                </c:pt>
                <c:pt idx="38">
                  <c:v>0.011108996538242306</c:v>
                </c:pt>
                <c:pt idx="39">
                  <c:v>0.006645011282741399</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motif</c:v>
                </c:pt>
              </c:strCache>
            </c:strRef>
          </c:tx>
          <c:spPr>
            <a:solidFill>
              <a:srgbClr val="B8720C"/>
            </a:solidFill>
            <a:ln w="25400" cap="flat">
              <a:solidFill>
                <a:srgbClr val="B8720C"/>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B8720C"/>
              </a:solidFill>
              <a:ln w="9525" cap="flat">
                <a:solidFill>
                  <a:srgbClr val="B8720C"/>
                </a:solidFill>
                <a:prstDash val="solid"/>
                <a:round/>
              </a:ln>
              <a:effectLst/>
            </c:spPr>
          </c:marker>
          <c:cat>
            <c:multiLvlStrRef>
              <c:f>Sheet1!$A$2:$A$41</c:f>
              <c:multiLvlStrCache>
                <c:ptCount val="40"/>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lvl>
              </c:multiLvlStrCache>
            </c:multiLvlStrRef>
          </c:cat>
          <c:val>
            <c:numRef>
              <c:f>Sheet1!$B$2:$B$41</c:f>
              <c:numCache>
                <c:formatCode>General</c:formatCode>
                <c:ptCount val="40"/>
                <c:pt idx="0">
                  <c:v>0.0038659201394728076</c:v>
                </c:pt>
                <c:pt idx="1">
                  <c:v>0.006645011282741399</c:v>
                </c:pt>
                <c:pt idx="2">
                  <c:v>0.011108996538242306</c:v>
                </c:pt>
                <c:pt idx="3">
                  <c:v>0.018063013419781275</c:v>
                </c:pt>
                <c:pt idx="4">
                  <c:v>0.028565500784550377</c:v>
                </c:pt>
                <c:pt idx="5">
                  <c:v>0.04393693362340742</c:v>
                </c:pt>
                <c:pt idx="6">
                  <c:v>0.06572852861653047</c:v>
                </c:pt>
                <c:pt idx="7">
                  <c:v>0.0956344448325386</c:v>
                </c:pt>
                <c:pt idx="8">
                  <c:v>0.1353352832366127</c:v>
                </c:pt>
                <c:pt idx="9">
                  <c:v>0.1862704636977009</c:v>
                </c:pt>
                <c:pt idx="10">
                  <c:v>0.24935220877729622</c:v>
                </c:pt>
                <c:pt idx="11">
                  <c:v>0.32465246735834974</c:v>
                </c:pt>
                <c:pt idx="12">
                  <c:v>0.41111229050718745</c:v>
                </c:pt>
                <c:pt idx="13">
                  <c:v>0.5063356166481006</c:v>
                </c:pt>
                <c:pt idx="14">
                  <c:v>0.6065306597126334</c:v>
                </c:pt>
                <c:pt idx="15">
                  <c:v>0.7066482778577163</c:v>
                </c:pt>
                <c:pt idx="16">
                  <c:v>0.8007374029168081</c:v>
                </c:pt>
                <c:pt idx="17">
                  <c:v>0.8824969025845955</c:v>
                </c:pt>
                <c:pt idx="18">
                  <c:v>0.9459594689067654</c:v>
                </c:pt>
                <c:pt idx="19">
                  <c:v>0.9862071167439163</c:v>
                </c:pt>
                <c:pt idx="20">
                  <c:v>1</c:v>
                </c:pt>
                <c:pt idx="21">
                  <c:v>0.9862071167439163</c:v>
                </c:pt>
                <c:pt idx="22">
                  <c:v>0.9459594689067654</c:v>
                </c:pt>
                <c:pt idx="23">
                  <c:v>0.8824969025845955</c:v>
                </c:pt>
                <c:pt idx="24">
                  <c:v>0.8007374029168081</c:v>
                </c:pt>
                <c:pt idx="25">
                  <c:v>0.7066482778577163</c:v>
                </c:pt>
                <c:pt idx="26">
                  <c:v>0.6065306597126334</c:v>
                </c:pt>
                <c:pt idx="27">
                  <c:v>0.5063356166481006</c:v>
                </c:pt>
                <c:pt idx="28">
                  <c:v>0.41111229050718745</c:v>
                </c:pt>
                <c:pt idx="29">
                  <c:v>0.32465246735834974</c:v>
                </c:pt>
                <c:pt idx="30">
                  <c:v>0.24935220877729622</c:v>
                </c:pt>
                <c:pt idx="31">
                  <c:v>0.1862704636977009</c:v>
                </c:pt>
                <c:pt idx="32">
                  <c:v>0.1353352832366127</c:v>
                </c:pt>
                <c:pt idx="33">
                  <c:v>0.0956344448325386</c:v>
                </c:pt>
                <c:pt idx="34">
                  <c:v>0.06572852861653047</c:v>
                </c:pt>
                <c:pt idx="35">
                  <c:v>0.04393693362340742</c:v>
                </c:pt>
                <c:pt idx="36">
                  <c:v>0.028565500784550377</c:v>
                </c:pt>
                <c:pt idx="37">
                  <c:v>0.018063013419781275</c:v>
                </c:pt>
                <c:pt idx="38">
                  <c:v>0.011108996538242306</c:v>
                </c:pt>
                <c:pt idx="39">
                  <c:v>0.006645011282741399</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motif</c:v>
                </c:pt>
              </c:strCache>
            </c:strRef>
          </c:tx>
          <c:spPr>
            <a:solidFill>
              <a:srgbClr val="0F8577"/>
            </a:solidFill>
            <a:ln w="25400" cap="flat">
              <a:solidFill>
                <a:srgbClr val="0F8577"/>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F8577"/>
              </a:solidFill>
              <a:ln w="9525" cap="flat">
                <a:solidFill>
                  <a:srgbClr val="0F8577"/>
                </a:solidFill>
                <a:prstDash val="solid"/>
                <a:round/>
              </a:ln>
              <a:effectLst/>
            </c:spPr>
          </c:marker>
          <c:cat>
            <c:multiLvlStrRef>
              <c:f>Sheet1!$A$2:$A$41</c:f>
              <c:multiLvlStrCache>
                <c:ptCount val="40"/>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lvl>
              </c:multiLvlStrCache>
            </c:multiLvlStrRef>
          </c:cat>
          <c:val>
            <c:numRef>
              <c:f>Sheet1!$B$2:$B$41</c:f>
              <c:numCache>
                <c:formatCode>General</c:formatCode>
                <c:ptCount val="40"/>
                <c:pt idx="0">
                  <c:v>0.0038659201394728076</c:v>
                </c:pt>
                <c:pt idx="1">
                  <c:v>0.006645011282741399</c:v>
                </c:pt>
                <c:pt idx="2">
                  <c:v>0.011108996538242306</c:v>
                </c:pt>
                <c:pt idx="3">
                  <c:v>0.018063013419781275</c:v>
                </c:pt>
                <c:pt idx="4">
                  <c:v>0.028565500784550377</c:v>
                </c:pt>
                <c:pt idx="5">
                  <c:v>0.04393693362340742</c:v>
                </c:pt>
                <c:pt idx="6">
                  <c:v>0.06572852861653047</c:v>
                </c:pt>
                <c:pt idx="7">
                  <c:v>0.0956344448325386</c:v>
                </c:pt>
                <c:pt idx="8">
                  <c:v>0.1353352832366127</c:v>
                </c:pt>
                <c:pt idx="9">
                  <c:v>0.1862704636977009</c:v>
                </c:pt>
                <c:pt idx="10">
                  <c:v>0.24935220877729622</c:v>
                </c:pt>
                <c:pt idx="11">
                  <c:v>0.32465246735834974</c:v>
                </c:pt>
                <c:pt idx="12">
                  <c:v>0.41111229050718745</c:v>
                </c:pt>
                <c:pt idx="13">
                  <c:v>0.5063356166481006</c:v>
                </c:pt>
                <c:pt idx="14">
                  <c:v>0.6065306597126334</c:v>
                </c:pt>
                <c:pt idx="15">
                  <c:v>0.7066482778577163</c:v>
                </c:pt>
                <c:pt idx="16">
                  <c:v>0.8007374029168081</c:v>
                </c:pt>
                <c:pt idx="17">
                  <c:v>0.8824969025845955</c:v>
                </c:pt>
                <c:pt idx="18">
                  <c:v>0.9459594689067654</c:v>
                </c:pt>
                <c:pt idx="19">
                  <c:v>0.9862071167439163</c:v>
                </c:pt>
                <c:pt idx="20">
                  <c:v>1</c:v>
                </c:pt>
                <c:pt idx="21">
                  <c:v>0.9862071167439163</c:v>
                </c:pt>
                <c:pt idx="22">
                  <c:v>0.9459594689067654</c:v>
                </c:pt>
                <c:pt idx="23">
                  <c:v>0.8824969025845955</c:v>
                </c:pt>
                <c:pt idx="24">
                  <c:v>0.8007374029168081</c:v>
                </c:pt>
                <c:pt idx="25">
                  <c:v>0.7066482778577163</c:v>
                </c:pt>
                <c:pt idx="26">
                  <c:v>0.6065306597126334</c:v>
                </c:pt>
                <c:pt idx="27">
                  <c:v>0.5063356166481006</c:v>
                </c:pt>
                <c:pt idx="28">
                  <c:v>0.41111229050718745</c:v>
                </c:pt>
                <c:pt idx="29">
                  <c:v>0.32465246735834974</c:v>
                </c:pt>
                <c:pt idx="30">
                  <c:v>0.24935220877729622</c:v>
                </c:pt>
                <c:pt idx="31">
                  <c:v>0.1862704636977009</c:v>
                </c:pt>
                <c:pt idx="32">
                  <c:v>0.1353352832366127</c:v>
                </c:pt>
                <c:pt idx="33">
                  <c:v>0.0956344448325386</c:v>
                </c:pt>
                <c:pt idx="34">
                  <c:v>0.06572852861653047</c:v>
                </c:pt>
                <c:pt idx="35">
                  <c:v>0.04393693362340742</c:v>
                </c:pt>
                <c:pt idx="36">
                  <c:v>0.028565500784550377</c:v>
                </c:pt>
                <c:pt idx="37">
                  <c:v>0.018063013419781275</c:v>
                </c:pt>
                <c:pt idx="38">
                  <c:v>0.011108996538242306</c:v>
                </c:pt>
                <c:pt idx="39">
                  <c:v>0.006645011282741399</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motif</c:v>
                </c:pt>
              </c:strCache>
            </c:strRef>
          </c:tx>
          <c:spPr>
            <a:solidFill>
              <a:srgbClr val="5B4FC4"/>
            </a:solidFill>
            <a:ln w="25400" cap="flat">
              <a:solidFill>
                <a:srgbClr val="5B4FC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5B4FC4"/>
              </a:solidFill>
              <a:ln w="9525" cap="flat">
                <a:solidFill>
                  <a:srgbClr val="5B4FC4"/>
                </a:solidFill>
                <a:prstDash val="solid"/>
                <a:round/>
              </a:ln>
              <a:effectLst/>
            </c:spPr>
          </c:marker>
          <c:cat>
            <c:multiLvlStrRef>
              <c:f>Sheet1!$A$2:$A$41</c:f>
              <c:multiLvlStrCache>
                <c:ptCount val="40"/>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lvl>
              </c:multiLvlStrCache>
            </c:multiLvlStrRef>
          </c:cat>
          <c:val>
            <c:numRef>
              <c:f>Sheet1!$B$2:$B$41</c:f>
              <c:numCache>
                <c:formatCode>General</c:formatCode>
                <c:ptCount val="40"/>
                <c:pt idx="0">
                  <c:v>0.0038659201394728076</c:v>
                </c:pt>
                <c:pt idx="1">
                  <c:v>0.006645011282741399</c:v>
                </c:pt>
                <c:pt idx="2">
                  <c:v>0.011108996538242306</c:v>
                </c:pt>
                <c:pt idx="3">
                  <c:v>0.018063013419781275</c:v>
                </c:pt>
                <c:pt idx="4">
                  <c:v>0.028565500784550377</c:v>
                </c:pt>
                <c:pt idx="5">
                  <c:v>0.04393693362340742</c:v>
                </c:pt>
                <c:pt idx="6">
                  <c:v>0.06572852861653047</c:v>
                </c:pt>
                <c:pt idx="7">
                  <c:v>0.0956344448325386</c:v>
                </c:pt>
                <c:pt idx="8">
                  <c:v>0.1353352832366127</c:v>
                </c:pt>
                <c:pt idx="9">
                  <c:v>0.1862704636977009</c:v>
                </c:pt>
                <c:pt idx="10">
                  <c:v>0.24935220877729622</c:v>
                </c:pt>
                <c:pt idx="11">
                  <c:v>0.32465246735834974</c:v>
                </c:pt>
                <c:pt idx="12">
                  <c:v>0.41111229050718745</c:v>
                </c:pt>
                <c:pt idx="13">
                  <c:v>0.5063356166481006</c:v>
                </c:pt>
                <c:pt idx="14">
                  <c:v>0.6065306597126334</c:v>
                </c:pt>
                <c:pt idx="15">
                  <c:v>0.7066482778577163</c:v>
                </c:pt>
                <c:pt idx="16">
                  <c:v>0.8007374029168081</c:v>
                </c:pt>
                <c:pt idx="17">
                  <c:v>0.8824969025845955</c:v>
                </c:pt>
                <c:pt idx="18">
                  <c:v>0.9459594689067654</c:v>
                </c:pt>
                <c:pt idx="19">
                  <c:v>0.9862071167439163</c:v>
                </c:pt>
                <c:pt idx="20">
                  <c:v>1</c:v>
                </c:pt>
                <c:pt idx="21">
                  <c:v>0.9862071167439163</c:v>
                </c:pt>
                <c:pt idx="22">
                  <c:v>0.9459594689067654</c:v>
                </c:pt>
                <c:pt idx="23">
                  <c:v>0.8824969025845955</c:v>
                </c:pt>
                <c:pt idx="24">
                  <c:v>0.8007374029168081</c:v>
                </c:pt>
                <c:pt idx="25">
                  <c:v>0.7066482778577163</c:v>
                </c:pt>
                <c:pt idx="26">
                  <c:v>0.6065306597126334</c:v>
                </c:pt>
                <c:pt idx="27">
                  <c:v>0.5063356166481006</c:v>
                </c:pt>
                <c:pt idx="28">
                  <c:v>0.41111229050718745</c:v>
                </c:pt>
                <c:pt idx="29">
                  <c:v>0.32465246735834974</c:v>
                </c:pt>
                <c:pt idx="30">
                  <c:v>0.24935220877729622</c:v>
                </c:pt>
                <c:pt idx="31">
                  <c:v>0.1862704636977009</c:v>
                </c:pt>
                <c:pt idx="32">
                  <c:v>0.1353352832366127</c:v>
                </c:pt>
                <c:pt idx="33">
                  <c:v>0.0956344448325386</c:v>
                </c:pt>
                <c:pt idx="34">
                  <c:v>0.06572852861653047</c:v>
                </c:pt>
                <c:pt idx="35">
                  <c:v>0.04393693362340742</c:v>
                </c:pt>
                <c:pt idx="36">
                  <c:v>0.028565500784550377</c:v>
                </c:pt>
                <c:pt idx="37">
                  <c:v>0.018063013419781275</c:v>
                </c:pt>
                <c:pt idx="38">
                  <c:v>0.011108996538242306</c:v>
                </c:pt>
                <c:pt idx="39">
                  <c:v>0.006645011282741399</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motif</c:v>
                </c:pt>
              </c:strCache>
            </c:strRef>
          </c:tx>
          <c:spPr>
            <a:solidFill>
              <a:srgbClr val="0F8577"/>
            </a:solidFill>
            <a:ln w="25400" cap="flat">
              <a:solidFill>
                <a:srgbClr val="0F8577"/>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F8577"/>
              </a:solidFill>
              <a:ln w="9525" cap="flat">
                <a:solidFill>
                  <a:srgbClr val="0F8577"/>
                </a:solidFill>
                <a:prstDash val="solid"/>
                <a:round/>
              </a:ln>
              <a:effectLst/>
            </c:spPr>
          </c:marker>
          <c:cat>
            <c:multiLvlStrRef>
              <c:f>Sheet1!$A$2:$A$41</c:f>
              <c:multiLvlStrCache>
                <c:ptCount val="40"/>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lvl>
              </c:multiLvlStrCache>
            </c:multiLvlStrRef>
          </c:cat>
          <c:val>
            <c:numRef>
              <c:f>Sheet1!$B$2:$B$41</c:f>
              <c:numCache>
                <c:formatCode>General</c:formatCode>
                <c:ptCount val="40"/>
                <c:pt idx="0">
                  <c:v>0.0038659201394728076</c:v>
                </c:pt>
                <c:pt idx="1">
                  <c:v>0.006645011282741399</c:v>
                </c:pt>
                <c:pt idx="2">
                  <c:v>0.011108996538242306</c:v>
                </c:pt>
                <c:pt idx="3">
                  <c:v>0.018063013419781275</c:v>
                </c:pt>
                <c:pt idx="4">
                  <c:v>0.028565500784550377</c:v>
                </c:pt>
                <c:pt idx="5">
                  <c:v>0.04393693362340742</c:v>
                </c:pt>
                <c:pt idx="6">
                  <c:v>0.06572852861653047</c:v>
                </c:pt>
                <c:pt idx="7">
                  <c:v>0.0956344448325386</c:v>
                </c:pt>
                <c:pt idx="8">
                  <c:v>0.1353352832366127</c:v>
                </c:pt>
                <c:pt idx="9">
                  <c:v>0.1862704636977009</c:v>
                </c:pt>
                <c:pt idx="10">
                  <c:v>0.24935220877729622</c:v>
                </c:pt>
                <c:pt idx="11">
                  <c:v>0.32465246735834974</c:v>
                </c:pt>
                <c:pt idx="12">
                  <c:v>0.41111229050718745</c:v>
                </c:pt>
                <c:pt idx="13">
                  <c:v>0.5063356166481006</c:v>
                </c:pt>
                <c:pt idx="14">
                  <c:v>0.6065306597126334</c:v>
                </c:pt>
                <c:pt idx="15">
                  <c:v>0.7066482778577163</c:v>
                </c:pt>
                <c:pt idx="16">
                  <c:v>0.8007374029168081</c:v>
                </c:pt>
                <c:pt idx="17">
                  <c:v>0.8824969025845955</c:v>
                </c:pt>
                <c:pt idx="18">
                  <c:v>0.9459594689067654</c:v>
                </c:pt>
                <c:pt idx="19">
                  <c:v>0.9862071167439163</c:v>
                </c:pt>
                <c:pt idx="20">
                  <c:v>1</c:v>
                </c:pt>
                <c:pt idx="21">
                  <c:v>0.9862071167439163</c:v>
                </c:pt>
                <c:pt idx="22">
                  <c:v>0.9459594689067654</c:v>
                </c:pt>
                <c:pt idx="23">
                  <c:v>0.8824969025845955</c:v>
                </c:pt>
                <c:pt idx="24">
                  <c:v>0.8007374029168081</c:v>
                </c:pt>
                <c:pt idx="25">
                  <c:v>0.7066482778577163</c:v>
                </c:pt>
                <c:pt idx="26">
                  <c:v>0.6065306597126334</c:v>
                </c:pt>
                <c:pt idx="27">
                  <c:v>0.5063356166481006</c:v>
                </c:pt>
                <c:pt idx="28">
                  <c:v>0.41111229050718745</c:v>
                </c:pt>
                <c:pt idx="29">
                  <c:v>0.32465246735834974</c:v>
                </c:pt>
                <c:pt idx="30">
                  <c:v>0.24935220877729622</c:v>
                </c:pt>
                <c:pt idx="31">
                  <c:v>0.1862704636977009</c:v>
                </c:pt>
                <c:pt idx="32">
                  <c:v>0.1353352832366127</c:v>
                </c:pt>
                <c:pt idx="33">
                  <c:v>0.0956344448325386</c:v>
                </c:pt>
                <c:pt idx="34">
                  <c:v>0.06572852861653047</c:v>
                </c:pt>
                <c:pt idx="35">
                  <c:v>0.04393693362340742</c:v>
                </c:pt>
                <c:pt idx="36">
                  <c:v>0.028565500784550377</c:v>
                </c:pt>
                <c:pt idx="37">
                  <c:v>0.018063013419781275</c:v>
                </c:pt>
                <c:pt idx="38">
                  <c:v>0.011108996538242306</c:v>
                </c:pt>
                <c:pt idx="39">
                  <c:v>0.006645011282741399</c:v>
                </c:pt>
              </c:numCache>
            </c:numRef>
          </c:val>
          <c:smooth val="1"/>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 “Quick vocabulary note before we dive in: ‘stochastic’ just means probability-based rather than fixed — that's the whole shift we're here to talk about today.”</a:t>
            </a:r>
          </a:p>
          <a:p/>
          <a:p>
            <a:r>
              <a:t>DO: Say this over Slide 1, pointing at the definition line under the title, before advancing to the Agenda.</a:t>
            </a:r>
          </a:p>
          <a:p/>
          <a:p>
            <a:r>
              <a:t>Illustrative data. Every number, name and chart in this walkthrough is simulated; no real product or client is shown. Built with the Stochastic SPM Demo Kit by Level 5ive Consulting · Code MIT · Framework content CC BY 4.0</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 “Before we get into the story, I want to give you the map we'll be walking. Everything you see today maps back to one of seven pillars.”</a:t>
            </a:r>
          </a:p>
          <a:p/>
          <a:p>
            <a:r>
              <a:t>DO: Advance to Slide 3. Name each category briskly — don't explain the technique in depth yet. You'll demonstrate the technique live in Act III, so this is a preview, not the payoff.</a:t>
            </a:r>
          </a:p>
          <a:p/>
          <a:p>
            <a:r>
              <a:t>Illustrative data. Every number, name and chart in this walkthrough is simulated; no real product or client is shown. Built with the Stochastic SPM Demo Kit by Level 5ive Consulting · Code MIT · Framework content CC BY 4.0</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 “Portfolio allocation, capacity planning, delivery risk, process control, talent elevation, financial precision, and business outcome. Seven pillars, one system.”</a:t>
            </a:r>
          </a:p>
          <a:p/>
          <a:p>
            <a:r>
              <a:t>DO: Advance to Slide 4.</a:t>
            </a:r>
          </a:p>
          <a:p/>
          <a:p>
            <a:r>
              <a:t>Illustrative data. Every number, name and chart in this walkthrough is simulated; no real product or client is shown. Built with the Stochastic SPM Demo Kit by Level 5ive Consulting · Code MIT · Framework content CC BY 4.0</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 “And here's the difference in one slide: the amateur version of AI for SPM scans keywords and aggregates opinions. The professional version runs real statistics underneath it — cluster analysis, Monte Carlo simulation, statistical process control, Bayesian forecasting. That's the version you're about to see.”</a:t>
            </a:r>
          </a:p>
          <a:p/>
          <a:p>
            <a:r>
              <a:t>WATCH FOR: This slide can read as dense for a mixed audience — keep the pace brisk and don't read every row aloud. Let the amateur-vs-pro contrast do the work visually.</a:t>
            </a:r>
          </a:p>
          <a:p/>
          <a:p>
            <a:r>
              <a:t>SAY: “Hold onto this framework. Every time a pillar comes up for the rest of the hour, you'll already know where it fits.”</a:t>
            </a:r>
          </a:p>
          <a:p/>
          <a:p>
            <a:r>
              <a:t>Illustrative data. Every number, name and chart in this walkthrough is simulated; no real product or client is shown. Built with the Stochastic SPM Demo Kit by Level 5ive Consulting · Code MIT · Framework content CC BY 4.0</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 “Every SPM transformation starts in the same place: a leader looking at a portfolio report and not being sure if they can trust it. Not because anyone's lying — because the report was built by hand, from five spreadsheets, by someone who updated it under deadline pressure.”</a:t>
            </a:r>
          </a:p>
          <a:p/>
          <a:p>
            <a:r>
              <a:t>DO: Advance to Slide 6. Point at the Master Tracker mock — let the room read the RAG colors and the stale note before you speak.</a:t>
            </a:r>
          </a:p>
          <a:p/>
          <a:p>
            <a:r>
              <a:t>Illustrative data. Every number, name and chart in this walkthrough is simulated; no real product or client is shown. Built with the Stochastic SPM Demo Kit by Level 5ive Consulting · Code MIT · Framework content CC BY 4.0</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CLICK: (Page version) Click the ACT I tab. Point to: the three red stat cards (62%, 11 days, 3), then the Master Tracker table - the struck-through "on track" note on Core Billing and the red flag on Fraud Detection. Then click Next Act.</a:t>
            </a:r>
          </a:p>
          <a:p/>
          <a:p>
            <a:r>
              <a:t>SAY: “Sixty-two percent of the statuses on a tracker like this are set by feel, not by a model. The 'current' report is, on average, eleven days stale by the time it reaches a steering meeting. And this week, there are three different versions of 'the numbers' floating around before this meeting even starts.”</a:t>
            </a:r>
          </a:p>
          <a:p/>
          <a:p>
            <a:r>
              <a:t>WATCH FOR: This should land as recognizable, not exaggerated — if the room nods rather than laughs, you've calibrated it correctly. If it feels too on-the-nose for this audience, soften the specific numbers rather than the point.</a:t>
            </a:r>
          </a:p>
          <a:p/>
          <a:p>
            <a:r>
              <a:t>SAY: “That's Act One. Uncertainty about whether strategy is actually translating into execution, and whether the data underneath it can be trusted.”</a:t>
            </a:r>
          </a:p>
          <a:p/>
          <a:p>
            <a:r>
              <a:t>Illustrative data. Every number, name and chart in this walkthrough is simulated; no real product or client is shown. Built with the Stochastic SPM Demo Kit by Level 5ive Consulting · Code MIT · Framework content CC BY 4.0</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 “Behind that tracker is a person. Let's look at where her week actually goes.”</a:t>
            </a:r>
          </a:p>
          <a:p/>
          <a:p>
            <a:r>
              <a:t>DO: Advance to Slide 8. Let the 91% stat sit for a beat before narrating the task list.</a:t>
            </a:r>
          </a:p>
          <a:p/>
          <a:p>
            <a:r>
              <a:t>Illustrative data. Every number, name and chart in this walkthrough is simulated; no real product or client is shown. Built with the Stochastic SPM Demo Kit by Level 5ive Consulting · Code MIT · Framework content CC BY 4.0</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CLICK: (Page version) Click the ACT II tab. Point to: the doughnut on the left (the small teal slice is the 3.5 hours left for judgment), then read down the task queue on the right to the bold last line.</a:t>
            </a:r>
          </a:p>
          <a:p/>
          <a:p>
            <a:r>
              <a:t>SAY: “Chasing fourteen project owners for updates. Reconciling conflicting budget spreadsheets. Rebuilding the steering deck from scratch, again. Re-keying resourcing data by hand from four different calendars. Then the ad hoc requests — 'can you pull that number again?' Add it up, and ninety-one percent of a forty-hour week goes to manufacturing clarity — not exercising judgment.”</a:t>
            </a:r>
          </a:p>
          <a:p/>
          <a:p>
            <a:r>
              <a:t>SAY: “She has about three and a half hours left over each week to actually think about the portfolio she's supposedly managing.”</a:t>
            </a:r>
          </a:p>
          <a:p/>
          <a:p>
            <a:r>
              <a:t>WATCH FOR: Operators in the room may want to jump in here with their own war stories — that's a good sign of engagement. Acknowledge briefly, then bridge: 'Let's go fix that.'</a:t>
            </a:r>
          </a:p>
          <a:p/>
          <a:p>
            <a:r>
              <a:t>SAY: “So the question isn't whether this person is capable. It's whether we're spending her time on the right ninety-one percent. Let's look at what changes when AI does the assembly work instead of her.”</a:t>
            </a:r>
          </a:p>
          <a:p/>
          <a:p>
            <a:r>
              <a:t>Illustrative data. Every number, name and chart in this walkthrough is simulated; no real product or client is shown. Built with the Stochastic SPM Demo Kit by Level 5ive Consulting · Code MIT · Framework content CC BY 4.0</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 Advance to Slide 9, then switch to the browser tab with the interactive demo. Click into Act III, then click through each pillar tab left to right as you narrate.</a:t>
            </a:r>
          </a:p>
          <a:p/>
          <a:p>
            <a:r>
              <a:t>CLICK: Click the ACT III tab (0:16–0:44). The seven pillar tabs run left to right: P01 Strategic Allocation, P02 Capacity &amp; Queuing, P03 Delivery Risk, P04 SPC Control, P05 Talent Elevation, P06 Financial Precision, P07 Outcome Twin. Press P to show or hide this panel.</a:t>
            </a:r>
          </a:p>
          <a:p/>
          <a:p>
            <a:r>
              <a:t>SAY: “Same data sources as what you just saw. Same portfolio. Now run through the Stochastic SPM engine — the same seven pillars from a few minutes ago, this time live.”</a:t>
            </a:r>
          </a:p>
          <a:p/>
          <a:p>
            <a:r>
              <a:t>Pillar 1 — Portfolio Value &amp; Strategic Allocation</a:t>
            </a:r>
          </a:p>
          <a:p/>
          <a:p>
            <a:r>
              <a:t>DO: Open the "P01 — Strategic Allocation" tab in the interactive demo.</a:t>
            </a:r>
          </a:p>
          <a:p/>
          <a:p>
            <a:r>
              <a:t>CLICK: Click ACT III, then the P01 Strategic Allocation tab. Point to: the two amber drift callouts on the left (LATAM 0.71, Legacy CRM 0.58), then the bubble chart on the right - the teal cloud-infrastructure cluster and the violet vendor cluster.</a:t>
            </a:r>
          </a:p>
          <a:p/>
          <a:p>
            <a:r>
              <a:t>SAY: “This isn't a keyword scan of project summaries. The engine is parsing charter language and backlog epics against our strategy metadata every night, and it's flagging drift before a human would ever notice it — the LATAM expansion initiative is talking about cost containment in a third of its open epics, not market entry.”</a:t>
            </a:r>
          </a:p>
          <a:p/>
          <a:p>
            <a:r>
              <a:t>SAY: “And on the right, cluster analysis is showing us something a spreadsheet never could: which projects are secretly correlated through a shared infrastructure or vendor dependency, so we're not accidentally over-indexed on a single point of failure.”</a:t>
            </a:r>
          </a:p>
          <a:p/>
          <a:p>
            <a:r>
              <a:t>WATCH FOR: An exec may ask 'how is this different from a dashboard filter?' — the answer is the model is reading unstructured text (charters, epics) and computing a drift *score*, not just displaying a status someone typed in.</a:t>
            </a:r>
          </a:p>
          <a:p/>
          <a:p>
            <a:r>
              <a:t>IF SHORT ON TIME: If pressed for time, show only the Strategic Drift Detection callouts and skip the cluster chart narration.</a:t>
            </a:r>
          </a:p>
          <a:p/>
          <a:p>
            <a:r>
              <a:t>Pillar 2 — Stochastic Capacity &amp; Resource Planning</a:t>
            </a:r>
          </a:p>
          <a:p/>
          <a:p>
            <a:r>
              <a:t>DO: Open the "P02 — Capacity &amp; Queuing" tab in the interactive demo.</a:t>
            </a:r>
          </a:p>
          <a:p/>
          <a:p>
            <a:r>
              <a:t>CLICK: Click the P02 Capacity &amp; Queuing tab. Point to: the Erlang curve on the left - follow it up to the knee at about 80-84% utilization - then the red "Threshold breached" card on the right: the 84% callout, then the forecast callout (3.1 days to 11.4 days).</a:t>
            </a:r>
          </a:p>
          <a:p/>
          <a:p>
            <a:r>
              <a:t>SAY: “This is queuing theory, not a spreadsheet that flags anyone over forty hours. The model is computing bottleneck probability from arrival rate and team capacity, in real time.”</a:t>
            </a:r>
          </a:p>
          <a:p/>
          <a:p>
            <a:r>
              <a:t>SAY: “Here's the moment that matters: once Platform Engineering crosses about eighty percent utilization, wait time stops climbing in a straight line and starts compounding. We can see it before it happens — expected queue wait goes from three days to over eleven within three sprints if nothing changes.”</a:t>
            </a:r>
          </a:p>
          <a:p/>
          <a:p>
            <a:r>
              <a:t>WATCH FOR: Operators will recognize this pattern immediately — let it land before moving on.</a:t>
            </a:r>
          </a:p>
          <a:p/>
          <a:p>
            <a:r>
              <a:t>Pillar 3 — Risk Management &amp; Predictive Delivery</a:t>
            </a:r>
          </a:p>
          <a:p/>
          <a:p>
            <a:r>
              <a:t>DO: Open the "P03 — Delivery Risk" tab in the interactive demo.</a:t>
            </a:r>
          </a:p>
          <a:p/>
          <a:p>
            <a:r>
              <a:t>CLICK: Click the P03 Delivery Risk tab. Point to: the Monte Carlo fan on the left (the shaded band is the P10-P90 range, the line is the median path), then the completion curve on the right - first Aug 15 (22%), then Sep 30 (85%) - and finish on the callout under the curve.</a:t>
            </a:r>
          </a:p>
          <a:p/>
          <a:p>
            <a:r>
              <a:t>SAY: “This is ten thousand simulated paths for the Fraud Detection pipeline, run overnight — not one person's gut-feel RAG status.”</a:t>
            </a:r>
          </a:p>
          <a:p/>
          <a:p>
            <a:r>
              <a:t>SAY: “The output is a real probability distribution. The date currently sitting in the steering deck — August 15th — has only a twenty-two percent chance of being met. September 30th is where we actually cross eighty-five percent confidence.”</a:t>
            </a:r>
          </a:p>
          <a:p/>
          <a:p>
            <a:r>
              <a:t>SAY: “This is usually the moment a room goes quiet. That's the whole point: a single RAG color was hiding this.”</a:t>
            </a:r>
          </a:p>
          <a:p/>
          <a:p>
            <a:r>
              <a:t>WATCH FOR: An exec will likely ask which date they should now commit to publicly. Bridge to: 'that's exactly the conversation this is designed to force earlier, with a number behind it instead of an opinion.'</a:t>
            </a:r>
          </a:p>
          <a:p/>
          <a:p>
            <a:r>
              <a:t>Pillar 4 — Operational Metrics via Statistical Process Control</a:t>
            </a:r>
          </a:p>
          <a:p/>
          <a:p>
            <a:r>
              <a:t>DO: Open the "P04 — SPC Control" tab in the interactive demo.</a:t>
            </a:r>
          </a:p>
          <a:p/>
          <a:p>
            <a:r>
              <a:t>CLICK: Click the P04 SPC Control tab. Read the "Reporting tells you a number changed" callout first, then trace the velocity line to the amber point at Sprint 12 above the red UCL. The red dashed lines are the control limits (UCL 48, LCL 36). Finish on the callout at the bottom.</a:t>
            </a:r>
          </a:p>
          <a:p/>
          <a:p>
            <a:r>
              <a:t>SAY: “Remember Act Two — the hours spent chasing status, rebuilding the deck, recoloring RAG by feel? All of that was in service of producing a number. This pillar is the graduation past that. Reporting tells you a number changed. SPC tells you whether that change actually means anything.”</a:t>
            </a:r>
          </a:p>
          <a:p/>
          <a:p>
            <a:r>
              <a:t>SAY: “Control limits, computed from this team's own historical variation — not a rule of thumb.”</a:t>
            </a:r>
          </a:p>
          <a:p/>
          <a:p>
            <a:r>
              <a:t>SAY: “Look at the velocity line: only one point actually breaches the control limit. That's the one worth a leadership conversation. Every other wiggle on this chart is normal noise the system now filters out automatically, instead of triggering a status meeting. Nobody had to report on it for that to be true.”</a:t>
            </a:r>
          </a:p>
          <a:p/>
          <a:p>
            <a:r>
              <a:t>WATCH FOR: An exec may push back with 'isn't this just a dashboard with thresholds?' The distinction: the thresholds themselves are computed from the process's own statistical variation, not set by a person guessing at what 'too slow' means.</a:t>
            </a:r>
          </a:p>
          <a:p/>
          <a:p>
            <a:r>
              <a:t>IF SHORT ON TIME: This pillar can be trimmed to the first SAY line only if the room is engaged elsewhere and time is tight — the callback to Act II is the part worth protecting, since it's what makes the pillar land as a graduation rather than just another chart.</a:t>
            </a:r>
          </a:p>
          <a:p/>
          <a:p>
            <a:r>
              <a:t>Pillar 5 — Talent Elevation &amp; Maturity Management</a:t>
            </a:r>
          </a:p>
          <a:p/>
          <a:p>
            <a:r>
              <a:t>DO: Open the "P05 — Talent Elevation" tab in the interactive demo.</a:t>
            </a:r>
          </a:p>
          <a:p/>
          <a:p>
            <a:r>
              <a:t>CLICK: Click the P05 Talent Elevation tab. Point to: the adoption-gap bars at the top (teal = high adoption, grey = low), then the estimation-error chart on the lower left - the one amber bar is T. Brooks - and finish on the live nudge callout on the lower right.</a:t>
            </a:r>
          </a:p>
          <a:p/>
          <a:p>
            <a:r>
              <a:t>SAY: “This is the pillar that answers a question every leader in this room is quietly asking: does using this thing actually make someone better at their job? Look at the same PMO, split by how fully each PM has adopted the AI-assisted workflow.”</a:t>
            </a:r>
          </a:p>
          <a:p/>
          <a:p>
            <a:r>
              <a:t>SAY: “PMs with high adoption are hitting on-time delivery eighty-eight percent of the time, versus sixty-one percent for PMs still working the old manual way. Forecast accuracy runs ninety-four percent versus seventy-one. And the PMs who've fully embraced this get forty-one percent of their week back for actual judgment — the PMs who haven't are stuck around twelve percent, which is close to where we started back in Act Two.”</a:t>
            </a:r>
          </a:p>
          <a:p/>
          <a:p>
            <a:r>
              <a:t>SAY: “That's not a talent gap. It's an adoption gap — and it's closeable.”</a:t>
            </a:r>
          </a:p>
          <a:p/>
          <a:p>
            <a:r>
              <a:t>SAY: “Underneath it, this is how: regression on every PM's historical estimates versus actuals. It found that one PM's validation-phase estimates run thirty-two percent short, on average — and it surfaces that as a live nudge while they're drafting the next requirements doc, not as a performance review finding six months later. That's the mechanism that moves someone from the low-adoption bar to the high-adoption bar.”</a:t>
            </a:r>
          </a:p>
          <a:p/>
          <a:p>
            <a:r>
              <a:t>WATCH FOR: This pillar tends to land well with operators and can feel sensitive to individual contributors in the room — frame it explicitly as elevation, not surveillance. The point is that the gap is closeable through adoption, not a fixed judgment about anyone's talent.</a:t>
            </a:r>
          </a:p>
          <a:p/>
          <a:p>
            <a:r>
              <a:t>IF SHORT ON TIME: If short on time, lead with the productivity comparison chart and one sentence on the mechanism — the adoption-gap framing is the part worth protecting.</a:t>
            </a:r>
          </a:p>
          <a:p/>
          <a:p>
            <a:r>
              <a:t>Pillar 6 — Financial Precision</a:t>
            </a:r>
          </a:p>
          <a:p/>
          <a:p>
            <a:r>
              <a:t>DO: Open the "P06 — Financial Precision" tab in the interactive demo.</a:t>
            </a:r>
          </a:p>
          <a:p/>
          <a:p>
            <a:r>
              <a:t>CLICK: Click the P06 Financial Precision tab. Point to: the EAC band narrowing across the eight sprints on the left, then the NPV ($2.4M) and IRR (18.6%) tiles with their confidence intervals, and finish on the governance-trigger callout.</a:t>
            </a:r>
          </a:p>
          <a:p/>
          <a:p>
            <a:r>
              <a:t>SAY: “Estimate to Complete used to mean re-running a static formula when someone remembered to update a number. Now it's a continuously updating Bayesian forecast — ARIMA time-series blended with Bayesian inference, recalculating every time new delivery data lands.”</a:t>
            </a:r>
          </a:p>
          <a:p/>
          <a:p>
            <a:r>
              <a:t>SAY: “And NPV and IRR aren't single point estimates anymore — they carry a confidence interval. When expected value on this initiative drifted within four points of our governance trigger last month, the workflow fired on its own. Nobody had to notice it manually.”</a:t>
            </a:r>
          </a:p>
          <a:p/>
          <a:p>
            <a:r>
              <a:t>WATCH FOR: This is usually the pillar that resonates most with the CFO-adjacent people in the room — let it breathe.</a:t>
            </a:r>
          </a:p>
          <a:p/>
          <a:p>
            <a:r>
              <a:t>Pillar 7 — Direct Business Outcome &amp; Value Realization</a:t>
            </a:r>
          </a:p>
          <a:p/>
          <a:p>
            <a:r>
              <a:t>DO: Open the "P07 — Outcome Twin" tab in the interactive demo.</a:t>
            </a:r>
          </a:p>
          <a:p/>
          <a:p>
            <a:r>
              <a:t>CLICK: Click the P07 Outcome Twin tab. Point to: the two outcome callouts on the left ($410K exposure, $1.2M protected), then the causal chart on the right - the gap between the treated cohort and the synthetic control after the Q3 launch - and finish on the +4.1pt callout.</a:t>
            </a:r>
          </a:p>
          <a:p/>
          <a:p>
            <a:r>
              <a:t>SAY: “This is the pillar that shifts the whole conversation from 'did we ship on time' to 'did it matter.'”</a:t>
            </a:r>
          </a:p>
          <a:p/>
          <a:p>
            <a:r>
              <a:t>SAY: “The digital twin maps execution dependencies straight through to OKRs and dollars — a three-week delay on the fraud pipeline maps to four hundred ten thousand dollars of projected Q4 exposure.”</a:t>
            </a:r>
          </a:p>
          <a:p/>
          <a:p>
            <a:r>
              <a:t>SAY: “And causal inference is how we prove it, not just claim it. We're comparing the treated initiative against a synthetic control — a version of the world where we didn't run it — and isolating a four-point retention lift that's actually attributable to the work, not to a general market trend.”</a:t>
            </a:r>
          </a:p>
          <a:p/>
          <a:p>
            <a:r>
              <a:t>WATCH FOR: This is the strongest closing pillar for an exec audience — if you're behind schedule, protect time here over Pillars 4 or 5.</a:t>
            </a:r>
          </a:p>
          <a:p/>
          <a:p>
            <a:r>
              <a:t>That's the Hero Moment: seven pillars, one system, and every number on screen now carries a confidence interval instead of an opinion.</a:t>
            </a:r>
          </a:p>
          <a:p/>
          <a:p>
            <a:r>
              <a:t>Illustrative data. Every number, name and chart in this walkthrough is simulated; no real product or client is shown. Built with the Stochastic SPM Demo Kit by Level 5ive Consulting · Code MIT · Framework content CC BY 4.0</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 “With the system doing the assembly work, value stops being an anecdote and starts being a number you can argue with.”</a:t>
            </a:r>
          </a:p>
          <a:p/>
          <a:p>
            <a:r>
              <a:t>DO: Advance to Slide 10. Walk the three stat cards left to right, then land on the decision-velocity comparison.</a:t>
            </a:r>
          </a:p>
          <a:p/>
          <a:p>
            <a:r>
              <a:t>CLICK: (Page version) Click the ACT IV tab. Point to: the three green stat cards left to right (6.2x, 91%, 31.5 hrs), then the Decision Velocity chart - grey Before bars against teal After bars.</a:t>
            </a:r>
          </a:p>
          <a:p/>
          <a:p>
            <a:r>
              <a:t>SAY: “Decisions that used to take nineteen days from 'a risk emerges' to 'leadership actually acts on it' now take just over two. That's not a productivity story — that's a risk story. Every day shaved off that cycle is a day less of exposure.”</a:t>
            </a:r>
          </a:p>
          <a:p/>
          <a:p>
            <a:r>
              <a:t>WATCH FOR: This is where the mixed audience tends to split: execs want the velocity number, operators want the 31.5-hours-returned number. Give both explicitly rather than picking one.</a:t>
            </a:r>
          </a:p>
          <a:p/>
          <a:p>
            <a:r>
              <a:t>Illustrative data. Every number, name and chart in this walkthrough is simulated; no real product or client is shown. Built with the Stochastic SPM Demo Kit by Level 5ive Consulting · Code MIT · Framework content CC BY 4.0</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DO: Advance to Slide 11. Read the closing quote slowly — it's designed to land as the answer to the Act I quote.</a:t>
            </a:r>
          </a:p>
          <a:p/>
          <a:p>
            <a:r>
              <a:t>CLICK: (Page version) Click the ACT V tab. Point to: the adoption curve on the left, then the Program Scorecard on the right, and read the closing quote at the bottom slowly.</a:t>
            </a:r>
          </a:p>
          <a:p/>
          <a:p>
            <a:r>
              <a:t>SAY: “Two quarters in: $5.8M in documented ROI, forecast accuracy tightened from plus-or-minus twenty-two percent to plus-or-minus four, and nine of eleven red-flag events caught before they ever became a red status in a steering deck.”</a:t>
            </a:r>
          </a:p>
          <a:p/>
          <a:p>
            <a:r>
              <a:t>SAY: “And the leader we opened with — the trust survey score moved from 4.1 to 8.7. In their own words: 'I stopped asking whether the number was real. Now I ask what we're going to do about it.'”</a:t>
            </a:r>
          </a:p>
          <a:p/>
          <a:p>
            <a:r>
              <a:t>That's the arc closed: the anxiety that opened this story now has a measurable answer.</a:t>
            </a:r>
          </a:p>
          <a:p/>
          <a:p>
            <a:r>
              <a:t>Illustrative data. Every number, name and chart in this walkthrough is simulated; no real product or client is shown. Built with the Stochastic SPM Demo Kit by Level 5ive Consulting · Code MIT · Framework content CC BY 4.0</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 “If you're running one pilot this quarter, start with one initiative through Monte Carlo and SPC, connect your charter and backlog data for drift detection, and baseline your current decision velocity today — because that's the number you'll want to compare against in two quarters.”</a:t>
            </a:r>
          </a:p>
          <a:p/>
          <a:p>
            <a:r>
              <a:t>Open the floor. Common questions and suggested bridges are in the appendix below.</a:t>
            </a:r>
          </a:p>
          <a:p/>
          <a:p>
            <a:r>
              <a:t>Illustrative data. Every number, name and chart in this walkthrough is simulated; no real product or client is shown. Built with the Stochastic SPM Demo Kit by Level 5ive Consulting · Code MIT · Framework content CC BY 4.0</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charts/chart3.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charts/chart6.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graphicFrame>
        <p:nvGraphicFramePr>
          <p:cNvPr id="2" name="Chart 0" descr=""/>
          <p:cNvGraphicFramePr/>
          <p:nvPr/>
        </p:nvGraphicFramePr>
        <p:xfrm>
          <a:off x="0" y="4206240"/>
          <a:ext cx="12188952" cy="2377440"/>
        </p:xfrm>
        <a:graphic xmlns:a="http://schemas.openxmlformats.org/drawingml/2006/main">
          <a:graphicData uri="http://schemas.openxmlformats.org/drawingml/2006/chart">
            <c:chart xmlns:c="http://schemas.openxmlformats.org/drawingml/2006/chart" r:id="rId1"/>
          </a:graphicData>
        </a:graphic>
      </p:graphicFrame>
      <p:sp>
        <p:nvSpPr>
          <p:cNvPr id="3" name="Text 0"/>
          <p:cNvSpPr/>
          <p:nvPr/>
        </p:nvSpPr>
        <p:spPr>
          <a:xfrm>
            <a:off x="822960" y="1417320"/>
            <a:ext cx="9144000" cy="320040"/>
          </a:xfrm>
          <a:prstGeom prst="rect">
            <a:avLst/>
          </a:prstGeom>
          <a:noFill/>
          <a:ln/>
        </p:spPr>
        <p:txBody>
          <a:bodyPr wrap="square" rtlCol="0" anchor="ctr"/>
          <a:lstStyle/>
          <a:p>
            <a:pPr indent="0" marL="0">
              <a:buNone/>
            </a:pPr>
            <a:r>
              <a:rPr lang="en-US" sz="1200" b="1" spc="200" kern="0" dirty="0">
                <a:solidFill>
                  <a:srgbClr val="0F8577"/>
                </a:solidFill>
                <a:latin typeface="Consolas" pitchFamily="34" charset="0"/>
                <a:ea typeface="Consolas" pitchFamily="34" charset="-122"/>
                <a:cs typeface="Consolas" pitchFamily="34" charset="-120"/>
              </a:rPr>
              <a:t>LIVE WALKTHROUGH · SIMULATED ENVIRONMENT · 60 MIN</a:t>
            </a:r>
            <a:endParaRPr lang="en-US" sz="1200" dirty="0"/>
          </a:p>
        </p:txBody>
      </p:sp>
      <p:sp>
        <p:nvSpPr>
          <p:cNvPr id="4" name="Text 1"/>
          <p:cNvSpPr/>
          <p:nvPr/>
        </p:nvSpPr>
        <p:spPr>
          <a:xfrm>
            <a:off x="777240" y="1783080"/>
            <a:ext cx="10515600" cy="2194560"/>
          </a:xfrm>
          <a:prstGeom prst="rect">
            <a:avLst/>
          </a:prstGeom>
          <a:noFill/>
          <a:ln/>
        </p:spPr>
        <p:txBody>
          <a:bodyPr wrap="square" rtlCol="0" anchor="ctr"/>
          <a:lstStyle/>
          <a:p>
            <a:pPr indent="0" marL="0">
              <a:lnSpc>
                <a:spcPts val="5200"/>
              </a:lnSpc>
              <a:buNone/>
            </a:pPr>
            <a:r>
              <a:rPr lang="en-US" sz="4800" b="1" dirty="0">
                <a:solidFill>
                  <a:srgbClr val="1A2233"/>
                </a:solidFill>
                <a:latin typeface="Cambria" pitchFamily="34" charset="0"/>
                <a:ea typeface="Cambria" pitchFamily="34" charset="-122"/>
                <a:cs typeface="Cambria" pitchFamily="34" charset="-120"/>
              </a:rPr>
              <a:t>Stochastic SPM</a:t>
            </a:r>
            <a:endParaRPr lang="en-US" sz="4800" dirty="0"/>
          </a:p>
          <a:p>
            <a:pPr indent="0" marL="0">
              <a:lnSpc>
                <a:spcPts val="5200"/>
              </a:lnSpc>
              <a:buNone/>
            </a:pPr>
            <a:r>
              <a:rPr lang="en-US" sz="4800" b="1" dirty="0">
                <a:solidFill>
                  <a:srgbClr val="0F8577"/>
                </a:solidFill>
                <a:latin typeface="Cambria" pitchFamily="34" charset="0"/>
                <a:ea typeface="Cambria" pitchFamily="34" charset="-122"/>
                <a:cs typeface="Cambria" pitchFamily="34" charset="-120"/>
              </a:rPr>
              <a:t>AI Portfolio Intelligence</a:t>
            </a:r>
            <a:endParaRPr lang="en-US" sz="4800" dirty="0"/>
          </a:p>
        </p:txBody>
      </p:sp>
      <p:sp>
        <p:nvSpPr>
          <p:cNvPr id="5" name="Text 2"/>
          <p:cNvSpPr/>
          <p:nvPr/>
        </p:nvSpPr>
        <p:spPr>
          <a:xfrm>
            <a:off x="822960" y="3703320"/>
            <a:ext cx="7772400" cy="731520"/>
          </a:xfrm>
          <a:prstGeom prst="rect">
            <a:avLst/>
          </a:prstGeom>
          <a:noFill/>
          <a:ln/>
        </p:spPr>
        <p:txBody>
          <a:bodyPr wrap="square" rtlCol="0" anchor="ctr"/>
          <a:lstStyle/>
          <a:p>
            <a:pPr indent="0" marL="0">
              <a:lnSpc>
                <a:spcPts val="2100"/>
              </a:lnSpc>
              <a:buNone/>
            </a:pPr>
            <a:r>
              <a:rPr lang="en-US" sz="1500" dirty="0">
                <a:solidFill>
                  <a:srgbClr val="5A6C8F"/>
                </a:solidFill>
                <a:latin typeface="Calibri" pitchFamily="34" charset="0"/>
                <a:ea typeface="Calibri" pitchFamily="34" charset="-122"/>
                <a:cs typeface="Calibri" pitchFamily="34" charset="-120"/>
              </a:rPr>
              <a:t>From administrative tracking to statistical rigor. A 5-act narrative demo of an AI-enabled EPMO, built on the 7 Pillars framework.</a:t>
            </a:r>
            <a:endParaRPr lang="en-US" sz="1500" dirty="0"/>
          </a:p>
        </p:txBody>
      </p:sp>
      <p:sp>
        <p:nvSpPr>
          <p:cNvPr id="6" name="Shape 3"/>
          <p:cNvSpPr/>
          <p:nvPr/>
        </p:nvSpPr>
        <p:spPr>
          <a:xfrm>
            <a:off x="822960" y="4434840"/>
            <a:ext cx="6035040" cy="457200"/>
          </a:xfrm>
          <a:prstGeom prst="roundRect">
            <a:avLst>
              <a:gd name="adj" fmla="val 12000"/>
            </a:avLst>
          </a:prstGeom>
          <a:solidFill>
            <a:srgbClr val="E3F5F1"/>
          </a:solidFill>
          <a:ln/>
        </p:spPr>
        <p:txBody>
          <a:bodyPr/>
          <a:p/>
        </p:txBody>
      </p:sp>
      <p:sp>
        <p:nvSpPr>
          <p:cNvPr id="7" name="Text 4"/>
          <p:cNvSpPr/>
          <p:nvPr/>
        </p:nvSpPr>
        <p:spPr>
          <a:xfrm>
            <a:off x="822960" y="4434840"/>
            <a:ext cx="6035040" cy="457200"/>
          </a:xfrm>
          <a:prstGeom prst="rect">
            <a:avLst/>
          </a:prstGeom>
          <a:noFill/>
          <a:ln/>
        </p:spPr>
        <p:txBody>
          <a:bodyPr wrap="square" rtlCol="0" anchor="ctr"/>
          <a:lstStyle/>
          <a:p>
            <a:pPr algn="ctr" indent="0" marL="0">
              <a:buNone/>
            </a:pPr>
            <a:r>
              <a:rPr lang="en-US" sz="1050" b="1" dirty="0">
                <a:solidFill>
                  <a:srgbClr val="0F8577"/>
                </a:solidFill>
                <a:latin typeface="Consolas" pitchFamily="34" charset="0"/>
                <a:ea typeface="Consolas" pitchFamily="34" charset="-122"/>
                <a:cs typeface="Consolas" pitchFamily="34" charset="-120"/>
              </a:rPr>
              <a:t>stochastic (adj.) — governed by probability, not fixed rules. The opposite of a guess.</a:t>
            </a:r>
            <a:pPr algn="ctr" indent="0" marL="0">
              <a:buNone/>
            </a:pPr>
            <a:r>
              <a:rPr lang="en-US" sz="1050" i="1" dirty="0">
                <a:solidFill>
                  <a:srgbClr val="5A6C8F"/>
                </a:solidFill>
                <a:latin typeface="Consolas" pitchFamily="34" charset="0"/>
                <a:ea typeface="Consolas" pitchFamily="34" charset="-122"/>
                <a:cs typeface="Consolas" pitchFamily="34" charset="-120"/>
              </a:rPr>
              <a:t/>
            </a:r>
            <a:endParaRPr lang="en-US" sz="1050" dirty="0"/>
          </a:p>
        </p:txBody>
      </p:sp>
      <p:sp>
        <p:nvSpPr>
          <p:cNvPr id="8" name="Shape 5"/>
          <p:cNvSpPr/>
          <p:nvPr/>
        </p:nvSpPr>
        <p:spPr>
          <a:xfrm>
            <a:off x="822960" y="5989320"/>
            <a:ext cx="5303520" cy="0"/>
          </a:xfrm>
          <a:prstGeom prst="line">
            <a:avLst/>
          </a:prstGeom>
          <a:noFill/>
          <a:ln w="12700">
            <a:solidFill>
              <a:srgbClr val="E1E6EF"/>
            </a:solidFill>
            <a:prstDash val="solid"/>
          </a:ln>
        </p:spPr>
        <p:txBody>
          <a:bodyPr/>
          <a:p/>
        </p:txBody>
      </p:sp>
      <p:sp>
        <p:nvSpPr>
          <p:cNvPr id="9" name="Text 6"/>
          <p:cNvSpPr/>
          <p:nvPr/>
        </p:nvSpPr>
        <p:spPr>
          <a:xfrm>
            <a:off x="822960" y="6126480"/>
            <a:ext cx="10058400" cy="365760"/>
          </a:xfrm>
          <a:prstGeom prst="rect">
            <a:avLst/>
          </a:prstGeom>
          <a:noFill/>
          <a:ln/>
        </p:spPr>
        <p:txBody>
          <a:bodyPr wrap="square" rtlCol="0" anchor="ctr"/>
          <a:lstStyle/>
          <a:p>
            <a:pPr indent="0" marL="0">
              <a:buNone/>
            </a:pPr>
            <a:r>
              <a:rPr lang="en-US" sz="1000" dirty="0">
                <a:solidFill>
                  <a:srgbClr val="7C8AA6"/>
                </a:solidFill>
                <a:latin typeface="Consolas" pitchFamily="34" charset="0"/>
                <a:ea typeface="Consolas" pitchFamily="34" charset="-122"/>
                <a:cs typeface="Consolas" pitchFamily="34" charset="-120"/>
              </a:rPr>
              <a:t>Portfolio Value  ·  Capacity  ·  Delivery Risk  ·  SPC  ·  Talent  ·  Financial Precision  ·  Business Outcome</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7315200" cy="274320"/>
          </a:xfrm>
          <a:prstGeom prst="rect">
            <a:avLst/>
          </a:prstGeom>
          <a:noFill/>
          <a:ln/>
        </p:spPr>
        <p:txBody>
          <a:bodyPr wrap="square" rtlCol="0" anchor="ctr"/>
          <a:lstStyle/>
          <a:p>
            <a:pPr indent="0" marL="0">
              <a:buNone/>
            </a:pPr>
            <a:r>
              <a:rPr lang="en-US" sz="1100" b="1" spc="200" kern="0" dirty="0">
                <a:solidFill>
                  <a:srgbClr val="0F8577"/>
                </a:solidFill>
                <a:latin typeface="Consolas" pitchFamily="34" charset="0"/>
                <a:ea typeface="Consolas" pitchFamily="34" charset="-122"/>
                <a:cs typeface="Consolas" pitchFamily="34" charset="-120"/>
              </a:rPr>
              <a:t>RUN OF SHOW · 60 MINUTES</a:t>
            </a:r>
            <a:endParaRPr lang="en-US" sz="1100" dirty="0"/>
          </a:p>
        </p:txBody>
      </p:sp>
      <p:sp>
        <p:nvSpPr>
          <p:cNvPr id="3" name="Text 1"/>
          <p:cNvSpPr/>
          <p:nvPr/>
        </p:nvSpPr>
        <p:spPr>
          <a:xfrm>
            <a:off x="548640" y="731520"/>
            <a:ext cx="10058400" cy="640080"/>
          </a:xfrm>
          <a:prstGeom prst="rect">
            <a:avLst/>
          </a:prstGeom>
          <a:noFill/>
          <a:ln/>
        </p:spPr>
        <p:txBody>
          <a:bodyPr wrap="square" rtlCol="0" anchor="ctr"/>
          <a:lstStyle/>
          <a:p>
            <a:pPr indent="0" marL="0">
              <a:buNone/>
            </a:pPr>
            <a:r>
              <a:rPr lang="en-US" sz="2800" b="1" dirty="0">
                <a:solidFill>
                  <a:srgbClr val="1A2233"/>
                </a:solidFill>
                <a:latin typeface="Cambria" pitchFamily="34" charset="0"/>
                <a:ea typeface="Cambria" pitchFamily="34" charset="-122"/>
                <a:cs typeface="Cambria" pitchFamily="34" charset="-120"/>
              </a:rPr>
              <a:t>Five Acts — and a Framework First</a:t>
            </a:r>
            <a:endParaRPr lang="en-US" sz="2800" dirty="0"/>
          </a:p>
        </p:txBody>
      </p:sp>
      <p:sp>
        <p:nvSpPr>
          <p:cNvPr id="4" name="Shape 2"/>
          <p:cNvSpPr/>
          <p:nvPr/>
        </p:nvSpPr>
        <p:spPr>
          <a:xfrm>
            <a:off x="548640" y="1508760"/>
            <a:ext cx="11064240" cy="713232"/>
          </a:xfrm>
          <a:prstGeom prst="roundRect">
            <a:avLst>
              <a:gd name="adj" fmla="val 7692"/>
            </a:avLst>
          </a:prstGeom>
          <a:solidFill>
            <a:srgbClr val="F5F7FA"/>
          </a:solidFill>
          <a:ln w="12700">
            <a:solidFill>
              <a:srgbClr val="E1E6EF"/>
            </a:solidFill>
            <a:prstDash val="solid"/>
          </a:ln>
        </p:spPr>
        <p:txBody>
          <a:bodyPr/>
          <a:p/>
        </p:txBody>
      </p:sp>
      <p:sp>
        <p:nvSpPr>
          <p:cNvPr id="5" name="Text 3"/>
          <p:cNvSpPr/>
          <p:nvPr/>
        </p:nvSpPr>
        <p:spPr>
          <a:xfrm>
            <a:off x="777240" y="1508760"/>
            <a:ext cx="822960" cy="713232"/>
          </a:xfrm>
          <a:prstGeom prst="rect">
            <a:avLst/>
          </a:prstGeom>
          <a:noFill/>
          <a:ln/>
        </p:spPr>
        <p:txBody>
          <a:bodyPr wrap="square" rtlCol="0" anchor="ctr"/>
          <a:lstStyle/>
          <a:p>
            <a:pPr indent="0" marL="0">
              <a:buNone/>
            </a:pPr>
            <a:r>
              <a:rPr lang="en-US" sz="2200" b="1" dirty="0">
                <a:solidFill>
                  <a:srgbClr val="5B4FC4"/>
                </a:solidFill>
                <a:latin typeface="Cambria" pitchFamily="34" charset="0"/>
                <a:ea typeface="Cambria" pitchFamily="34" charset="-122"/>
                <a:cs typeface="Cambria" pitchFamily="34" charset="-120"/>
              </a:rPr>
              <a:t>PRE</a:t>
            </a:r>
            <a:endParaRPr lang="en-US" sz="2200" dirty="0"/>
          </a:p>
        </p:txBody>
      </p:sp>
      <p:sp>
        <p:nvSpPr>
          <p:cNvPr id="6" name="Text 4"/>
          <p:cNvSpPr/>
          <p:nvPr/>
        </p:nvSpPr>
        <p:spPr>
          <a:xfrm>
            <a:off x="1737360" y="1563624"/>
            <a:ext cx="4937760" cy="384048"/>
          </a:xfrm>
          <a:prstGeom prst="rect">
            <a:avLst/>
          </a:prstGeom>
          <a:noFill/>
          <a:ln/>
        </p:spPr>
        <p:txBody>
          <a:bodyPr wrap="square"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The 7 Pillars Framework</a:t>
            </a:r>
            <a:endParaRPr lang="en-US" sz="1450" dirty="0"/>
          </a:p>
        </p:txBody>
      </p:sp>
      <p:sp>
        <p:nvSpPr>
          <p:cNvPr id="7" name="Text 5"/>
          <p:cNvSpPr/>
          <p:nvPr/>
        </p:nvSpPr>
        <p:spPr>
          <a:xfrm>
            <a:off x="1737360" y="1892808"/>
            <a:ext cx="4937760" cy="292608"/>
          </a:xfrm>
          <a:prstGeom prst="rect">
            <a:avLst/>
          </a:prstGeom>
          <a:noFill/>
          <a:ln/>
        </p:spPr>
        <p:txBody>
          <a:bodyPr wrap="square" rtlCol="0" anchor="ctr"/>
          <a:lstStyle/>
          <a:p>
            <a:pPr indent="0" marL="0">
              <a:buNone/>
            </a:pPr>
            <a:r>
              <a:rPr lang="en-US" sz="1000" dirty="0">
                <a:solidFill>
                  <a:srgbClr val="5A6C8F"/>
                </a:solidFill>
                <a:latin typeface="Calibri" pitchFamily="34" charset="0"/>
                <a:ea typeface="Calibri" pitchFamily="34" charset="-122"/>
                <a:cs typeface="Calibri" pitchFamily="34" charset="-120"/>
              </a:rPr>
              <a:t>Shared language before the story begins</a:t>
            </a:r>
            <a:endParaRPr lang="en-US" sz="1000" dirty="0"/>
          </a:p>
        </p:txBody>
      </p:sp>
      <p:sp>
        <p:nvSpPr>
          <p:cNvPr id="8" name="Text 6"/>
          <p:cNvSpPr/>
          <p:nvPr/>
        </p:nvSpPr>
        <p:spPr>
          <a:xfrm>
            <a:off x="9966960" y="1508760"/>
            <a:ext cx="1463040" cy="713232"/>
          </a:xfrm>
          <a:prstGeom prst="rect">
            <a:avLst/>
          </a:prstGeom>
          <a:noFill/>
          <a:ln/>
        </p:spPr>
        <p:txBody>
          <a:bodyPr wrap="square" rtlCol="0" anchor="ctr"/>
          <a:lstStyle/>
          <a:p>
            <a:pPr algn="r" indent="0" marL="0">
              <a:buNone/>
            </a:pPr>
            <a:r>
              <a:rPr lang="en-US" sz="1150" dirty="0">
                <a:solidFill>
                  <a:srgbClr val="7C8AA6"/>
                </a:solidFill>
                <a:latin typeface="Consolas" pitchFamily="34" charset="0"/>
                <a:ea typeface="Consolas" pitchFamily="34" charset="-122"/>
                <a:cs typeface="Consolas" pitchFamily="34" charset="-120"/>
              </a:rPr>
              <a:t>0:01–0:05</a:t>
            </a:r>
            <a:endParaRPr lang="en-US" sz="1150" dirty="0"/>
          </a:p>
        </p:txBody>
      </p:sp>
      <p:sp>
        <p:nvSpPr>
          <p:cNvPr id="9" name="Shape 7"/>
          <p:cNvSpPr/>
          <p:nvPr/>
        </p:nvSpPr>
        <p:spPr>
          <a:xfrm>
            <a:off x="548640" y="2286000"/>
            <a:ext cx="11064240" cy="713232"/>
          </a:xfrm>
          <a:prstGeom prst="roundRect">
            <a:avLst>
              <a:gd name="adj" fmla="val 7692"/>
            </a:avLst>
          </a:prstGeom>
          <a:solidFill>
            <a:srgbClr val="F5F7FA"/>
          </a:solidFill>
          <a:ln w="12700">
            <a:solidFill>
              <a:srgbClr val="E1E6EF"/>
            </a:solidFill>
            <a:prstDash val="solid"/>
          </a:ln>
        </p:spPr>
        <p:txBody>
          <a:bodyPr/>
          <a:p/>
        </p:txBody>
      </p:sp>
      <p:sp>
        <p:nvSpPr>
          <p:cNvPr id="10" name="Text 8"/>
          <p:cNvSpPr/>
          <p:nvPr/>
        </p:nvSpPr>
        <p:spPr>
          <a:xfrm>
            <a:off x="777240" y="2286000"/>
            <a:ext cx="822960" cy="713232"/>
          </a:xfrm>
          <a:prstGeom prst="rect">
            <a:avLst/>
          </a:prstGeom>
          <a:noFill/>
          <a:ln/>
        </p:spPr>
        <p:txBody>
          <a:bodyPr wrap="square" rtlCol="0" anchor="ctr"/>
          <a:lstStyle/>
          <a:p>
            <a:pPr indent="0" marL="0">
              <a:buNone/>
            </a:pPr>
            <a:r>
              <a:rPr lang="en-US" sz="2200" b="1" dirty="0">
                <a:solidFill>
                  <a:srgbClr val="C13A3E"/>
                </a:solidFill>
                <a:latin typeface="Cambria" pitchFamily="34" charset="0"/>
                <a:ea typeface="Cambria" pitchFamily="34" charset="-122"/>
                <a:cs typeface="Cambria" pitchFamily="34" charset="-120"/>
              </a:rPr>
              <a:t>I</a:t>
            </a:r>
            <a:endParaRPr lang="en-US" sz="2200" dirty="0"/>
          </a:p>
        </p:txBody>
      </p:sp>
      <p:sp>
        <p:nvSpPr>
          <p:cNvPr id="11" name="Text 9"/>
          <p:cNvSpPr/>
          <p:nvPr/>
        </p:nvSpPr>
        <p:spPr>
          <a:xfrm>
            <a:off x="1737360" y="2340864"/>
            <a:ext cx="4937760" cy="384048"/>
          </a:xfrm>
          <a:prstGeom prst="rect">
            <a:avLst/>
          </a:prstGeom>
          <a:noFill/>
          <a:ln/>
        </p:spPr>
        <p:txBody>
          <a:bodyPr wrap="square"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The Leader's Anxiety</a:t>
            </a:r>
            <a:endParaRPr lang="en-US" sz="1450" dirty="0"/>
          </a:p>
        </p:txBody>
      </p:sp>
      <p:sp>
        <p:nvSpPr>
          <p:cNvPr id="12" name="Text 10"/>
          <p:cNvSpPr/>
          <p:nvPr/>
        </p:nvSpPr>
        <p:spPr>
          <a:xfrm>
            <a:off x="1737360" y="2670048"/>
            <a:ext cx="4937760" cy="292608"/>
          </a:xfrm>
          <a:prstGeom prst="rect">
            <a:avLst/>
          </a:prstGeom>
          <a:noFill/>
          <a:ln/>
        </p:spPr>
        <p:txBody>
          <a:bodyPr wrap="square" rtlCol="0" anchor="ctr"/>
          <a:lstStyle/>
          <a:p>
            <a:pPr indent="0" marL="0">
              <a:buNone/>
            </a:pPr>
            <a:r>
              <a:rPr lang="en-US" sz="1000" dirty="0">
                <a:solidFill>
                  <a:srgbClr val="5A6C8F"/>
                </a:solidFill>
                <a:latin typeface="Calibri" pitchFamily="34" charset="0"/>
                <a:ea typeface="Calibri" pitchFamily="34" charset="-122"/>
                <a:cs typeface="Calibri" pitchFamily="34" charset="-120"/>
              </a:rPr>
              <a:t>Where every SPM initiative begins</a:t>
            </a:r>
            <a:endParaRPr lang="en-US" sz="1000" dirty="0"/>
          </a:p>
        </p:txBody>
      </p:sp>
      <p:sp>
        <p:nvSpPr>
          <p:cNvPr id="13" name="Text 11"/>
          <p:cNvSpPr/>
          <p:nvPr/>
        </p:nvSpPr>
        <p:spPr>
          <a:xfrm>
            <a:off x="9966960" y="2286000"/>
            <a:ext cx="1463040" cy="713232"/>
          </a:xfrm>
          <a:prstGeom prst="rect">
            <a:avLst/>
          </a:prstGeom>
          <a:noFill/>
          <a:ln/>
        </p:spPr>
        <p:txBody>
          <a:bodyPr wrap="square" rtlCol="0" anchor="ctr"/>
          <a:lstStyle/>
          <a:p>
            <a:pPr algn="r" indent="0" marL="0">
              <a:buNone/>
            </a:pPr>
            <a:r>
              <a:rPr lang="en-US" sz="1150" dirty="0">
                <a:solidFill>
                  <a:srgbClr val="7C8AA6"/>
                </a:solidFill>
                <a:latin typeface="Consolas" pitchFamily="34" charset="0"/>
                <a:ea typeface="Consolas" pitchFamily="34" charset="-122"/>
                <a:cs typeface="Consolas" pitchFamily="34" charset="-120"/>
              </a:rPr>
              <a:t>0:05–0:10</a:t>
            </a:r>
            <a:endParaRPr lang="en-US" sz="1150" dirty="0"/>
          </a:p>
        </p:txBody>
      </p:sp>
      <p:sp>
        <p:nvSpPr>
          <p:cNvPr id="14" name="Shape 12"/>
          <p:cNvSpPr/>
          <p:nvPr/>
        </p:nvSpPr>
        <p:spPr>
          <a:xfrm>
            <a:off x="548640" y="3063240"/>
            <a:ext cx="11064240" cy="713232"/>
          </a:xfrm>
          <a:prstGeom prst="roundRect">
            <a:avLst>
              <a:gd name="adj" fmla="val 7692"/>
            </a:avLst>
          </a:prstGeom>
          <a:solidFill>
            <a:srgbClr val="F5F7FA"/>
          </a:solidFill>
          <a:ln w="12700">
            <a:solidFill>
              <a:srgbClr val="E1E6EF"/>
            </a:solidFill>
            <a:prstDash val="solid"/>
          </a:ln>
        </p:spPr>
        <p:txBody>
          <a:bodyPr/>
          <a:p/>
        </p:txBody>
      </p:sp>
      <p:sp>
        <p:nvSpPr>
          <p:cNvPr id="15" name="Text 13"/>
          <p:cNvSpPr/>
          <p:nvPr/>
        </p:nvSpPr>
        <p:spPr>
          <a:xfrm>
            <a:off x="777240" y="3063240"/>
            <a:ext cx="822960" cy="713232"/>
          </a:xfrm>
          <a:prstGeom prst="rect">
            <a:avLst/>
          </a:prstGeom>
          <a:noFill/>
          <a:ln/>
        </p:spPr>
        <p:txBody>
          <a:bodyPr wrap="square" rtlCol="0" anchor="ctr"/>
          <a:lstStyle/>
          <a:p>
            <a:pPr indent="0" marL="0">
              <a:buNone/>
            </a:pPr>
            <a:r>
              <a:rPr lang="en-US" sz="2200" b="1" dirty="0">
                <a:solidFill>
                  <a:srgbClr val="B8720C"/>
                </a:solidFill>
                <a:latin typeface="Cambria" pitchFamily="34" charset="0"/>
                <a:ea typeface="Cambria" pitchFamily="34" charset="-122"/>
                <a:cs typeface="Cambria" pitchFamily="34" charset="-120"/>
              </a:rPr>
              <a:t>II</a:t>
            </a:r>
            <a:endParaRPr lang="en-US" sz="2200" dirty="0"/>
          </a:p>
        </p:txBody>
      </p:sp>
      <p:sp>
        <p:nvSpPr>
          <p:cNvPr id="16" name="Text 14"/>
          <p:cNvSpPr/>
          <p:nvPr/>
        </p:nvSpPr>
        <p:spPr>
          <a:xfrm>
            <a:off x="1737360" y="3118104"/>
            <a:ext cx="4937760" cy="384048"/>
          </a:xfrm>
          <a:prstGeom prst="rect">
            <a:avLst/>
          </a:prstGeom>
          <a:noFill/>
          <a:ln/>
        </p:spPr>
        <p:txBody>
          <a:bodyPr wrap="square"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The Operator's Grind</a:t>
            </a:r>
            <a:endParaRPr lang="en-US" sz="1450" dirty="0"/>
          </a:p>
        </p:txBody>
      </p:sp>
      <p:sp>
        <p:nvSpPr>
          <p:cNvPr id="17" name="Text 15"/>
          <p:cNvSpPr/>
          <p:nvPr/>
        </p:nvSpPr>
        <p:spPr>
          <a:xfrm>
            <a:off x="1737360" y="3447288"/>
            <a:ext cx="4937760" cy="292608"/>
          </a:xfrm>
          <a:prstGeom prst="rect">
            <a:avLst/>
          </a:prstGeom>
          <a:noFill/>
          <a:ln/>
        </p:spPr>
        <p:txBody>
          <a:bodyPr wrap="square" rtlCol="0" anchor="ctr"/>
          <a:lstStyle/>
          <a:p>
            <a:pPr indent="0" marL="0">
              <a:buNone/>
            </a:pPr>
            <a:r>
              <a:rPr lang="en-US" sz="1000" dirty="0">
                <a:solidFill>
                  <a:srgbClr val="5A6C8F"/>
                </a:solidFill>
                <a:latin typeface="Calibri" pitchFamily="34" charset="0"/>
                <a:ea typeface="Calibri" pitchFamily="34" charset="-122"/>
                <a:cs typeface="Calibri" pitchFamily="34" charset="-120"/>
              </a:rPr>
              <a:t>The manual cost of manufactured clarity</a:t>
            </a:r>
            <a:endParaRPr lang="en-US" sz="1000" dirty="0"/>
          </a:p>
        </p:txBody>
      </p:sp>
      <p:sp>
        <p:nvSpPr>
          <p:cNvPr id="18" name="Text 16"/>
          <p:cNvSpPr/>
          <p:nvPr/>
        </p:nvSpPr>
        <p:spPr>
          <a:xfrm>
            <a:off x="9966960" y="3063240"/>
            <a:ext cx="1463040" cy="713232"/>
          </a:xfrm>
          <a:prstGeom prst="rect">
            <a:avLst/>
          </a:prstGeom>
          <a:noFill/>
          <a:ln/>
        </p:spPr>
        <p:txBody>
          <a:bodyPr wrap="square" rtlCol="0" anchor="ctr"/>
          <a:lstStyle/>
          <a:p>
            <a:pPr algn="r" indent="0" marL="0">
              <a:buNone/>
            </a:pPr>
            <a:r>
              <a:rPr lang="en-US" sz="1150" dirty="0">
                <a:solidFill>
                  <a:srgbClr val="7C8AA6"/>
                </a:solidFill>
                <a:latin typeface="Consolas" pitchFamily="34" charset="0"/>
                <a:ea typeface="Consolas" pitchFamily="34" charset="-122"/>
                <a:cs typeface="Consolas" pitchFamily="34" charset="-120"/>
              </a:rPr>
              <a:t>0:10–0:16</a:t>
            </a:r>
            <a:endParaRPr lang="en-US" sz="1150" dirty="0"/>
          </a:p>
        </p:txBody>
      </p:sp>
      <p:sp>
        <p:nvSpPr>
          <p:cNvPr id="19" name="Shape 17"/>
          <p:cNvSpPr/>
          <p:nvPr/>
        </p:nvSpPr>
        <p:spPr>
          <a:xfrm>
            <a:off x="548640" y="3840480"/>
            <a:ext cx="11064240" cy="713232"/>
          </a:xfrm>
          <a:prstGeom prst="roundRect">
            <a:avLst>
              <a:gd name="adj" fmla="val 7692"/>
            </a:avLst>
          </a:prstGeom>
          <a:solidFill>
            <a:srgbClr val="F5F7FA"/>
          </a:solidFill>
          <a:ln w="12700">
            <a:solidFill>
              <a:srgbClr val="E1E6EF"/>
            </a:solidFill>
            <a:prstDash val="solid"/>
          </a:ln>
        </p:spPr>
        <p:txBody>
          <a:bodyPr/>
          <a:p/>
        </p:txBody>
      </p:sp>
      <p:sp>
        <p:nvSpPr>
          <p:cNvPr id="20" name="Text 18"/>
          <p:cNvSpPr/>
          <p:nvPr/>
        </p:nvSpPr>
        <p:spPr>
          <a:xfrm>
            <a:off x="777240" y="3840480"/>
            <a:ext cx="822960" cy="713232"/>
          </a:xfrm>
          <a:prstGeom prst="rect">
            <a:avLst/>
          </a:prstGeom>
          <a:noFill/>
          <a:ln/>
        </p:spPr>
        <p:txBody>
          <a:bodyPr wrap="square" rtlCol="0" anchor="ctr"/>
          <a:lstStyle/>
          <a:p>
            <a:pPr indent="0" marL="0">
              <a:buNone/>
            </a:pPr>
            <a:r>
              <a:rPr lang="en-US" sz="2200" b="1" dirty="0">
                <a:solidFill>
                  <a:srgbClr val="0F8577"/>
                </a:solidFill>
                <a:latin typeface="Cambria" pitchFamily="34" charset="0"/>
                <a:ea typeface="Cambria" pitchFamily="34" charset="-122"/>
                <a:cs typeface="Cambria" pitchFamily="34" charset="-120"/>
              </a:rPr>
              <a:t>III</a:t>
            </a:r>
            <a:endParaRPr lang="en-US" sz="2200" dirty="0"/>
          </a:p>
        </p:txBody>
      </p:sp>
      <p:sp>
        <p:nvSpPr>
          <p:cNvPr id="21" name="Text 19"/>
          <p:cNvSpPr/>
          <p:nvPr/>
        </p:nvSpPr>
        <p:spPr>
          <a:xfrm>
            <a:off x="1737360" y="3895344"/>
            <a:ext cx="4937760" cy="384048"/>
          </a:xfrm>
          <a:prstGeom prst="rect">
            <a:avLst/>
          </a:prstGeom>
          <a:noFill/>
          <a:ln/>
        </p:spPr>
        <p:txBody>
          <a:bodyPr wrap="square"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The Hero Moment</a:t>
            </a:r>
            <a:endParaRPr lang="en-US" sz="1450" dirty="0"/>
          </a:p>
        </p:txBody>
      </p:sp>
      <p:sp>
        <p:nvSpPr>
          <p:cNvPr id="22" name="Text 20"/>
          <p:cNvSpPr/>
          <p:nvPr/>
        </p:nvSpPr>
        <p:spPr>
          <a:xfrm>
            <a:off x="1737360" y="4224528"/>
            <a:ext cx="4937760" cy="292608"/>
          </a:xfrm>
          <a:prstGeom prst="rect">
            <a:avLst/>
          </a:prstGeom>
          <a:noFill/>
          <a:ln/>
        </p:spPr>
        <p:txBody>
          <a:bodyPr wrap="square" rtlCol="0" anchor="ctr"/>
          <a:lstStyle/>
          <a:p>
            <a:pPr indent="0" marL="0">
              <a:buNone/>
            </a:pPr>
            <a:r>
              <a:rPr lang="en-US" sz="1000" dirty="0">
                <a:solidFill>
                  <a:srgbClr val="5A6C8F"/>
                </a:solidFill>
                <a:latin typeface="Calibri" pitchFamily="34" charset="0"/>
                <a:ea typeface="Calibri" pitchFamily="34" charset="-122"/>
                <a:cs typeface="Calibri" pitchFamily="34" charset="-120"/>
              </a:rPr>
              <a:t>Live: the 7 Pillars, in the platform</a:t>
            </a:r>
            <a:endParaRPr lang="en-US" sz="1000" dirty="0"/>
          </a:p>
        </p:txBody>
      </p:sp>
      <p:sp>
        <p:nvSpPr>
          <p:cNvPr id="23" name="Text 21"/>
          <p:cNvSpPr/>
          <p:nvPr/>
        </p:nvSpPr>
        <p:spPr>
          <a:xfrm>
            <a:off x="9966960" y="3840480"/>
            <a:ext cx="1463040" cy="713232"/>
          </a:xfrm>
          <a:prstGeom prst="rect">
            <a:avLst/>
          </a:prstGeom>
          <a:noFill/>
          <a:ln/>
        </p:spPr>
        <p:txBody>
          <a:bodyPr wrap="square" rtlCol="0" anchor="ctr"/>
          <a:lstStyle/>
          <a:p>
            <a:pPr algn="r" indent="0" marL="0">
              <a:buNone/>
            </a:pPr>
            <a:r>
              <a:rPr lang="en-US" sz="1150" dirty="0">
                <a:solidFill>
                  <a:srgbClr val="7C8AA6"/>
                </a:solidFill>
                <a:latin typeface="Consolas" pitchFamily="34" charset="0"/>
                <a:ea typeface="Consolas" pitchFamily="34" charset="-122"/>
                <a:cs typeface="Consolas" pitchFamily="34" charset="-120"/>
              </a:rPr>
              <a:t>0:16–0:44</a:t>
            </a:r>
            <a:endParaRPr lang="en-US" sz="1150" dirty="0"/>
          </a:p>
        </p:txBody>
      </p:sp>
      <p:sp>
        <p:nvSpPr>
          <p:cNvPr id="24" name="Shape 22"/>
          <p:cNvSpPr/>
          <p:nvPr/>
        </p:nvSpPr>
        <p:spPr>
          <a:xfrm>
            <a:off x="548640" y="4617720"/>
            <a:ext cx="11064240" cy="713232"/>
          </a:xfrm>
          <a:prstGeom prst="roundRect">
            <a:avLst>
              <a:gd name="adj" fmla="val 7692"/>
            </a:avLst>
          </a:prstGeom>
          <a:solidFill>
            <a:srgbClr val="F5F7FA"/>
          </a:solidFill>
          <a:ln w="12700">
            <a:solidFill>
              <a:srgbClr val="E1E6EF"/>
            </a:solidFill>
            <a:prstDash val="solid"/>
          </a:ln>
        </p:spPr>
        <p:txBody>
          <a:bodyPr/>
          <a:p/>
        </p:txBody>
      </p:sp>
      <p:sp>
        <p:nvSpPr>
          <p:cNvPr id="25" name="Text 23"/>
          <p:cNvSpPr/>
          <p:nvPr/>
        </p:nvSpPr>
        <p:spPr>
          <a:xfrm>
            <a:off x="777240" y="4617720"/>
            <a:ext cx="822960" cy="713232"/>
          </a:xfrm>
          <a:prstGeom prst="rect">
            <a:avLst/>
          </a:prstGeom>
          <a:noFill/>
          <a:ln/>
        </p:spPr>
        <p:txBody>
          <a:bodyPr wrap="square" rtlCol="0" anchor="ctr"/>
          <a:lstStyle/>
          <a:p>
            <a:pPr indent="0" marL="0">
              <a:buNone/>
            </a:pPr>
            <a:r>
              <a:rPr lang="en-US" sz="2200" b="1" dirty="0">
                <a:solidFill>
                  <a:srgbClr val="5B4FC4"/>
                </a:solidFill>
                <a:latin typeface="Cambria" pitchFamily="34" charset="0"/>
                <a:ea typeface="Cambria" pitchFamily="34" charset="-122"/>
                <a:cs typeface="Cambria" pitchFamily="34" charset="-120"/>
              </a:rPr>
              <a:t>IV</a:t>
            </a:r>
            <a:endParaRPr lang="en-US" sz="2200" dirty="0"/>
          </a:p>
        </p:txBody>
      </p:sp>
      <p:sp>
        <p:nvSpPr>
          <p:cNvPr id="26" name="Text 24"/>
          <p:cNvSpPr/>
          <p:nvPr/>
        </p:nvSpPr>
        <p:spPr>
          <a:xfrm>
            <a:off x="1737360" y="4672584"/>
            <a:ext cx="4937760" cy="384048"/>
          </a:xfrm>
          <a:prstGeom prst="rect">
            <a:avLst/>
          </a:prstGeom>
          <a:noFill/>
          <a:ln/>
        </p:spPr>
        <p:txBody>
          <a:bodyPr wrap="square"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The Value Hypothesis</a:t>
            </a:r>
            <a:endParaRPr lang="en-US" sz="1450" dirty="0"/>
          </a:p>
        </p:txBody>
      </p:sp>
      <p:sp>
        <p:nvSpPr>
          <p:cNvPr id="27" name="Text 25"/>
          <p:cNvSpPr/>
          <p:nvPr/>
        </p:nvSpPr>
        <p:spPr>
          <a:xfrm>
            <a:off x="1737360" y="5001768"/>
            <a:ext cx="4937760" cy="292608"/>
          </a:xfrm>
          <a:prstGeom prst="rect">
            <a:avLst/>
          </a:prstGeom>
          <a:noFill/>
          <a:ln/>
        </p:spPr>
        <p:txBody>
          <a:bodyPr wrap="square" rtlCol="0" anchor="ctr"/>
          <a:lstStyle/>
          <a:p>
            <a:pPr indent="0" marL="0">
              <a:buNone/>
            </a:pPr>
            <a:r>
              <a:rPr lang="en-US" sz="1000" dirty="0">
                <a:solidFill>
                  <a:srgbClr val="5A6C8F"/>
                </a:solidFill>
                <a:latin typeface="Calibri" pitchFamily="34" charset="0"/>
                <a:ea typeface="Calibri" pitchFamily="34" charset="-122"/>
                <a:cs typeface="Calibri" pitchFamily="34" charset="-120"/>
              </a:rPr>
              <a:t>Value becomes visible, and arguable</a:t>
            </a:r>
            <a:endParaRPr lang="en-US" sz="1000" dirty="0"/>
          </a:p>
        </p:txBody>
      </p:sp>
      <p:sp>
        <p:nvSpPr>
          <p:cNvPr id="28" name="Text 26"/>
          <p:cNvSpPr/>
          <p:nvPr/>
        </p:nvSpPr>
        <p:spPr>
          <a:xfrm>
            <a:off x="9966960" y="4617720"/>
            <a:ext cx="1463040" cy="713232"/>
          </a:xfrm>
          <a:prstGeom prst="rect">
            <a:avLst/>
          </a:prstGeom>
          <a:noFill/>
          <a:ln/>
        </p:spPr>
        <p:txBody>
          <a:bodyPr wrap="square" rtlCol="0" anchor="ctr"/>
          <a:lstStyle/>
          <a:p>
            <a:pPr algn="r" indent="0" marL="0">
              <a:buNone/>
            </a:pPr>
            <a:r>
              <a:rPr lang="en-US" sz="1150" dirty="0">
                <a:solidFill>
                  <a:srgbClr val="7C8AA6"/>
                </a:solidFill>
                <a:latin typeface="Consolas" pitchFamily="34" charset="0"/>
                <a:ea typeface="Consolas" pitchFamily="34" charset="-122"/>
                <a:cs typeface="Consolas" pitchFamily="34" charset="-120"/>
              </a:rPr>
              <a:t>0:44–0:52</a:t>
            </a:r>
            <a:endParaRPr lang="en-US" sz="1150" dirty="0"/>
          </a:p>
        </p:txBody>
      </p:sp>
      <p:sp>
        <p:nvSpPr>
          <p:cNvPr id="29" name="Shape 27"/>
          <p:cNvSpPr/>
          <p:nvPr/>
        </p:nvSpPr>
        <p:spPr>
          <a:xfrm>
            <a:off x="548640" y="5394960"/>
            <a:ext cx="11064240" cy="713232"/>
          </a:xfrm>
          <a:prstGeom prst="roundRect">
            <a:avLst>
              <a:gd name="adj" fmla="val 7692"/>
            </a:avLst>
          </a:prstGeom>
          <a:solidFill>
            <a:srgbClr val="F5F7FA"/>
          </a:solidFill>
          <a:ln w="12700">
            <a:solidFill>
              <a:srgbClr val="E1E6EF"/>
            </a:solidFill>
            <a:prstDash val="solid"/>
          </a:ln>
        </p:spPr>
        <p:txBody>
          <a:bodyPr/>
          <a:p/>
        </p:txBody>
      </p:sp>
      <p:sp>
        <p:nvSpPr>
          <p:cNvPr id="30" name="Text 28"/>
          <p:cNvSpPr/>
          <p:nvPr/>
        </p:nvSpPr>
        <p:spPr>
          <a:xfrm>
            <a:off x="777240" y="5394960"/>
            <a:ext cx="822960" cy="713232"/>
          </a:xfrm>
          <a:prstGeom prst="rect">
            <a:avLst/>
          </a:prstGeom>
          <a:noFill/>
          <a:ln/>
        </p:spPr>
        <p:txBody>
          <a:bodyPr wrap="square" rtlCol="0" anchor="ctr"/>
          <a:lstStyle/>
          <a:p>
            <a:pPr indent="0" marL="0">
              <a:buNone/>
            </a:pPr>
            <a:r>
              <a:rPr lang="en-US" sz="2200" b="1" dirty="0">
                <a:solidFill>
                  <a:srgbClr val="0F8577"/>
                </a:solidFill>
                <a:latin typeface="Cambria" pitchFamily="34" charset="0"/>
                <a:ea typeface="Cambria" pitchFamily="34" charset="-122"/>
                <a:cs typeface="Cambria" pitchFamily="34" charset="-120"/>
              </a:rPr>
              <a:t>V</a:t>
            </a:r>
            <a:endParaRPr lang="en-US" sz="2200" dirty="0"/>
          </a:p>
        </p:txBody>
      </p:sp>
      <p:sp>
        <p:nvSpPr>
          <p:cNvPr id="31" name="Text 29"/>
          <p:cNvSpPr/>
          <p:nvPr/>
        </p:nvSpPr>
        <p:spPr>
          <a:xfrm>
            <a:off x="1737360" y="5449824"/>
            <a:ext cx="4937760" cy="384048"/>
          </a:xfrm>
          <a:prstGeom prst="rect">
            <a:avLst/>
          </a:prstGeom>
          <a:noFill/>
          <a:ln/>
        </p:spPr>
        <p:txBody>
          <a:bodyPr wrap="square" rtlCol="0" anchor="ctr"/>
          <a:lstStyle/>
          <a:p>
            <a:pPr indent="0" marL="0">
              <a:buNone/>
            </a:pPr>
            <a:r>
              <a:rPr lang="en-US" sz="1450" b="1" dirty="0">
                <a:solidFill>
                  <a:srgbClr val="1A2233"/>
                </a:solidFill>
                <a:latin typeface="Calibri" pitchFamily="34" charset="0"/>
                <a:ea typeface="Calibri" pitchFamily="34" charset="-122"/>
                <a:cs typeface="Calibri" pitchFamily="34" charset="-120"/>
              </a:rPr>
              <a:t>The Outcome Realized</a:t>
            </a:r>
            <a:endParaRPr lang="en-US" sz="1450" dirty="0"/>
          </a:p>
        </p:txBody>
      </p:sp>
      <p:sp>
        <p:nvSpPr>
          <p:cNvPr id="32" name="Text 30"/>
          <p:cNvSpPr/>
          <p:nvPr/>
        </p:nvSpPr>
        <p:spPr>
          <a:xfrm>
            <a:off x="1737360" y="5779008"/>
            <a:ext cx="4937760" cy="292608"/>
          </a:xfrm>
          <a:prstGeom prst="rect">
            <a:avLst/>
          </a:prstGeom>
          <a:noFill/>
          <a:ln/>
        </p:spPr>
        <p:txBody>
          <a:bodyPr wrap="square" rtlCol="0" anchor="ctr"/>
          <a:lstStyle/>
          <a:p>
            <a:pPr indent="0" marL="0">
              <a:buNone/>
            </a:pPr>
            <a:r>
              <a:rPr lang="en-US" sz="1000" dirty="0">
                <a:solidFill>
                  <a:srgbClr val="5A6C8F"/>
                </a:solidFill>
                <a:latin typeface="Calibri" pitchFamily="34" charset="0"/>
                <a:ea typeface="Calibri" pitchFamily="34" charset="-122"/>
                <a:cs typeface="Calibri" pitchFamily="34" charset="-120"/>
              </a:rPr>
              <a:t>Confidence restored, ROI documented</a:t>
            </a:r>
            <a:endParaRPr lang="en-US" sz="1000" dirty="0"/>
          </a:p>
        </p:txBody>
      </p:sp>
      <p:sp>
        <p:nvSpPr>
          <p:cNvPr id="33" name="Text 31"/>
          <p:cNvSpPr/>
          <p:nvPr/>
        </p:nvSpPr>
        <p:spPr>
          <a:xfrm>
            <a:off x="9966960" y="5394960"/>
            <a:ext cx="1463040" cy="713232"/>
          </a:xfrm>
          <a:prstGeom prst="rect">
            <a:avLst/>
          </a:prstGeom>
          <a:noFill/>
          <a:ln/>
        </p:spPr>
        <p:txBody>
          <a:bodyPr wrap="square" rtlCol="0" anchor="ctr"/>
          <a:lstStyle/>
          <a:p>
            <a:pPr algn="r" indent="0" marL="0">
              <a:buNone/>
            </a:pPr>
            <a:r>
              <a:rPr lang="en-US" sz="1150" dirty="0">
                <a:solidFill>
                  <a:srgbClr val="7C8AA6"/>
                </a:solidFill>
                <a:latin typeface="Consolas" pitchFamily="34" charset="0"/>
                <a:ea typeface="Consolas" pitchFamily="34" charset="-122"/>
                <a:cs typeface="Consolas" pitchFamily="34" charset="-120"/>
              </a:rPr>
              <a:t>0:52–0:58</a:t>
            </a:r>
            <a:endParaRPr lang="en-US" sz="1150" dirty="0"/>
          </a:p>
        </p:txBody>
      </p:sp>
      <p:sp>
        <p:nvSpPr>
          <p:cNvPr id="34" name="Text 32"/>
          <p:cNvSpPr/>
          <p:nvPr/>
        </p:nvSpPr>
        <p:spPr>
          <a:xfrm>
            <a:off x="548640" y="6217920"/>
            <a:ext cx="10789920" cy="365760"/>
          </a:xfrm>
          <a:prstGeom prst="rect">
            <a:avLst/>
          </a:prstGeom>
          <a:noFill/>
          <a:ln/>
        </p:spPr>
        <p:txBody>
          <a:bodyPr wrap="square" rtlCol="0" anchor="ctr"/>
          <a:lstStyle/>
          <a:p>
            <a:pPr indent="0" marL="0">
              <a:buNone/>
            </a:pPr>
            <a:r>
              <a:rPr lang="en-US" sz="1000" i="1" dirty="0">
                <a:solidFill>
                  <a:srgbClr val="7C8AA6"/>
                </a:solidFill>
                <a:latin typeface="Calibri" pitchFamily="34" charset="0"/>
                <a:ea typeface="Calibri" pitchFamily="34" charset="-122"/>
                <a:cs typeface="Calibri" pitchFamily="34" charset="-120"/>
              </a:rPr>
              <a:t>The framework is introduced first, as a precursor to the demonstration — so the language is already shared by the time the live demo begins in Act III.</a:t>
            </a:r>
            <a:endParaRPr lang="en-US" sz="1000" dirty="0"/>
          </a:p>
        </p:txBody>
      </p:sp>
      <p:sp>
        <p:nvSpPr>
          <p:cNvPr id="35" name="Text 33"/>
          <p:cNvSpPr/>
          <p:nvPr/>
        </p:nvSpPr>
        <p:spPr>
          <a:xfrm>
            <a:off x="11365992" y="6355080"/>
            <a:ext cx="548640" cy="320040"/>
          </a:xfrm>
          <a:prstGeom prst="rect">
            <a:avLst/>
          </a:prstGeom>
          <a:noFill/>
          <a:ln/>
        </p:spPr>
        <p:txBody>
          <a:bodyPr wrap="square" rtlCol="0" anchor="ctr"/>
          <a:lstStyle/>
          <a:p>
            <a:pPr algn="r" indent="0" marL="0">
              <a:buNone/>
            </a:pPr>
            <a:r>
              <a:rPr lang="en-US" sz="900" dirty="0">
                <a:solidFill>
                  <a:srgbClr val="7C8AA6"/>
                </a:solidFill>
                <a:latin typeface="Consolas" pitchFamily="34" charset="0"/>
                <a:ea typeface="Consolas" pitchFamily="34" charset="-122"/>
                <a:cs typeface="Consolas" pitchFamily="34" charset="-120"/>
              </a:rPr>
              <a:t>02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274320"/>
          </a:xfrm>
          <a:prstGeom prst="rect">
            <a:avLst/>
          </a:prstGeom>
          <a:noFill/>
          <a:ln/>
        </p:spPr>
        <p:txBody>
          <a:bodyPr wrap="square" rtlCol="0" anchor="ctr"/>
          <a:lstStyle/>
          <a:p>
            <a:pPr indent="0" marL="0">
              <a:buNone/>
            </a:pPr>
            <a:r>
              <a:rPr lang="en-US" sz="1100" b="1" spc="200" kern="0" dirty="0">
                <a:solidFill>
                  <a:srgbClr val="5B4FC4"/>
                </a:solidFill>
                <a:latin typeface="Consolas" pitchFamily="34" charset="0"/>
                <a:ea typeface="Consolas" pitchFamily="34" charset="-122"/>
                <a:cs typeface="Consolas" pitchFamily="34" charset="-120"/>
              </a:rPr>
              <a:t>BEFORE WE BEGIN · THE FRAMEWORK</a:t>
            </a:r>
            <a:endParaRPr lang="en-US" sz="1100" dirty="0"/>
          </a:p>
        </p:txBody>
      </p:sp>
      <p:sp>
        <p:nvSpPr>
          <p:cNvPr id="3" name="Text 1"/>
          <p:cNvSpPr/>
          <p:nvPr/>
        </p:nvSpPr>
        <p:spPr>
          <a:xfrm>
            <a:off x="548640" y="640080"/>
            <a:ext cx="10058400" cy="502920"/>
          </a:xfrm>
          <a:prstGeom prst="rect">
            <a:avLst/>
          </a:prstGeom>
          <a:noFill/>
          <a:ln/>
        </p:spPr>
        <p:txBody>
          <a:bodyPr wrap="square" rtlCol="0" anchor="ctr"/>
          <a:lstStyle/>
          <a:p>
            <a:pPr indent="0" marL="0">
              <a:buNone/>
            </a:pPr>
            <a:r>
              <a:rPr lang="en-US" sz="2500" b="1" dirty="0">
                <a:solidFill>
                  <a:srgbClr val="1A2233"/>
                </a:solidFill>
                <a:latin typeface="Cambria" pitchFamily="34" charset="0"/>
                <a:ea typeface="Cambria" pitchFamily="34" charset="-122"/>
                <a:cs typeface="Cambria" pitchFamily="34" charset="-120"/>
              </a:rPr>
              <a:t>The 7 Pillars of AI-Enabled SPM</a:t>
            </a:r>
            <a:endParaRPr lang="en-US" sz="2500" dirty="0"/>
          </a:p>
        </p:txBody>
      </p:sp>
      <p:sp>
        <p:nvSpPr>
          <p:cNvPr id="4" name="Text 2"/>
          <p:cNvSpPr/>
          <p:nvPr/>
        </p:nvSpPr>
        <p:spPr>
          <a:xfrm>
            <a:off x="548640" y="1078992"/>
            <a:ext cx="10332720" cy="365760"/>
          </a:xfrm>
          <a:prstGeom prst="rect">
            <a:avLst/>
          </a:prstGeom>
          <a:noFill/>
          <a:ln/>
        </p:spPr>
        <p:txBody>
          <a:bodyPr wrap="square" rtlCol="0" anchor="ctr"/>
          <a:lstStyle/>
          <a:p>
            <a:pPr indent="0" marL="0">
              <a:buNone/>
            </a:pPr>
            <a:r>
              <a:rPr lang="en-US" sz="1200" i="1" dirty="0">
                <a:solidFill>
                  <a:srgbClr val="5A6C8F"/>
                </a:solidFill>
                <a:latin typeface="Calibri" pitchFamily="34" charset="0"/>
                <a:ea typeface="Calibri" pitchFamily="34" charset="-122"/>
                <a:cs typeface="Calibri" pitchFamily="34" charset="-120"/>
              </a:rPr>
              <a:t>Everything you'll see across the next five acts maps back to one of these seven. Keep this framework in mind — Act III will demonstrate each pillar live.</a:t>
            </a:r>
            <a:endParaRPr lang="en-US" sz="1200" dirty="0"/>
          </a:p>
        </p:txBody>
      </p:sp>
      <p:sp>
        <p:nvSpPr>
          <p:cNvPr id="5" name="Shape 3"/>
          <p:cNvSpPr/>
          <p:nvPr/>
        </p:nvSpPr>
        <p:spPr>
          <a:xfrm>
            <a:off x="548640" y="1691640"/>
            <a:ext cx="2670048" cy="1371600"/>
          </a:xfrm>
          <a:prstGeom prst="roundRect">
            <a:avLst>
              <a:gd name="adj" fmla="val 4667"/>
            </a:avLst>
          </a:prstGeom>
          <a:solidFill>
            <a:srgbClr val="F5F7FA"/>
          </a:solidFill>
          <a:ln w="12700">
            <a:solidFill>
              <a:srgbClr val="E1E6EF"/>
            </a:solidFill>
            <a:prstDash val="solid"/>
          </a:ln>
        </p:spPr>
        <p:txBody>
          <a:bodyPr/>
          <a:p/>
        </p:txBody>
      </p:sp>
      <p:sp>
        <p:nvSpPr>
          <p:cNvPr id="6" name="Text 4"/>
          <p:cNvSpPr/>
          <p:nvPr/>
        </p:nvSpPr>
        <p:spPr>
          <a:xfrm>
            <a:off x="713232" y="1801368"/>
            <a:ext cx="1371600" cy="274320"/>
          </a:xfrm>
          <a:prstGeom prst="rect">
            <a:avLst/>
          </a:prstGeom>
          <a:noFill/>
          <a:ln/>
        </p:spPr>
        <p:txBody>
          <a:bodyPr wrap="square" rtlCol="0" anchor="ctr"/>
          <a:lstStyle/>
          <a:p>
            <a:pPr indent="0" marL="0">
              <a:buNone/>
            </a:pPr>
            <a:r>
              <a:rPr lang="en-US" sz="1100" b="1" dirty="0">
                <a:solidFill>
                  <a:srgbClr val="5B4FC4"/>
                </a:solidFill>
                <a:latin typeface="Consolas" pitchFamily="34" charset="0"/>
                <a:ea typeface="Consolas" pitchFamily="34" charset="-122"/>
                <a:cs typeface="Consolas" pitchFamily="34" charset="-120"/>
              </a:rPr>
              <a:t>P01</a:t>
            </a:r>
            <a:endParaRPr lang="en-US" sz="1100" dirty="0"/>
          </a:p>
        </p:txBody>
      </p:sp>
      <p:sp>
        <p:nvSpPr>
          <p:cNvPr id="7" name="Text 5"/>
          <p:cNvSpPr/>
          <p:nvPr/>
        </p:nvSpPr>
        <p:spPr>
          <a:xfrm>
            <a:off x="713232" y="2075688"/>
            <a:ext cx="2340864" cy="502920"/>
          </a:xfrm>
          <a:prstGeom prst="rect">
            <a:avLst/>
          </a:prstGeom>
          <a:noFill/>
          <a:ln/>
        </p:spPr>
        <p:txBody>
          <a:bodyPr wrap="square" rtlCol="0" anchor="ctr"/>
          <a:lstStyle/>
          <a:p>
            <a:pPr indent="0" marL="0">
              <a:lnSpc>
                <a:spcPts val="1500"/>
              </a:lnSpc>
              <a:buNone/>
            </a:pPr>
            <a:r>
              <a:rPr lang="en-US" sz="1300" b="1" dirty="0">
                <a:solidFill>
                  <a:srgbClr val="1A2233"/>
                </a:solidFill>
                <a:latin typeface="Calibri" pitchFamily="34" charset="0"/>
                <a:ea typeface="Calibri" pitchFamily="34" charset="-122"/>
                <a:cs typeface="Calibri" pitchFamily="34" charset="-120"/>
              </a:rPr>
              <a:t>Strategic Allocation</a:t>
            </a:r>
            <a:endParaRPr lang="en-US" sz="1300" dirty="0"/>
          </a:p>
        </p:txBody>
      </p:sp>
      <p:sp>
        <p:nvSpPr>
          <p:cNvPr id="8" name="Text 6"/>
          <p:cNvSpPr/>
          <p:nvPr/>
        </p:nvSpPr>
        <p:spPr>
          <a:xfrm>
            <a:off x="713232" y="2587752"/>
            <a:ext cx="2340864" cy="411480"/>
          </a:xfrm>
          <a:prstGeom prst="rect">
            <a:avLst/>
          </a:prstGeom>
          <a:noFill/>
          <a:ln/>
        </p:spPr>
        <p:txBody>
          <a:bodyPr wrap="square" rtlCol="0" anchor="ctr"/>
          <a:lstStyle/>
          <a:p>
            <a:pPr indent="0" marL="0">
              <a:lnSpc>
                <a:spcPts val="1200"/>
              </a:lnSpc>
              <a:buNone/>
            </a:pPr>
            <a:r>
              <a:rPr lang="en-US" sz="950" dirty="0">
                <a:solidFill>
                  <a:srgbClr val="5A6C8F"/>
                </a:solidFill>
                <a:latin typeface="Calibri" pitchFamily="34" charset="0"/>
                <a:ea typeface="Calibri" pitchFamily="34" charset="-122"/>
                <a:cs typeface="Calibri" pitchFamily="34" charset="-120"/>
              </a:rPr>
              <a:t>NLP drift detection + cluster analysis</a:t>
            </a:r>
            <a:endParaRPr lang="en-US" sz="950" dirty="0"/>
          </a:p>
        </p:txBody>
      </p:sp>
      <p:sp>
        <p:nvSpPr>
          <p:cNvPr id="9" name="Shape 7"/>
          <p:cNvSpPr/>
          <p:nvPr/>
        </p:nvSpPr>
        <p:spPr>
          <a:xfrm>
            <a:off x="3346704" y="1691640"/>
            <a:ext cx="2670048" cy="1371600"/>
          </a:xfrm>
          <a:prstGeom prst="roundRect">
            <a:avLst>
              <a:gd name="adj" fmla="val 4667"/>
            </a:avLst>
          </a:prstGeom>
          <a:solidFill>
            <a:srgbClr val="F5F7FA"/>
          </a:solidFill>
          <a:ln w="12700">
            <a:solidFill>
              <a:srgbClr val="E1E6EF"/>
            </a:solidFill>
            <a:prstDash val="solid"/>
          </a:ln>
        </p:spPr>
        <p:txBody>
          <a:bodyPr/>
          <a:p/>
        </p:txBody>
      </p:sp>
      <p:sp>
        <p:nvSpPr>
          <p:cNvPr id="10" name="Text 8"/>
          <p:cNvSpPr/>
          <p:nvPr/>
        </p:nvSpPr>
        <p:spPr>
          <a:xfrm>
            <a:off x="3511296" y="1801368"/>
            <a:ext cx="1371600" cy="274320"/>
          </a:xfrm>
          <a:prstGeom prst="rect">
            <a:avLst/>
          </a:prstGeom>
          <a:noFill/>
          <a:ln/>
        </p:spPr>
        <p:txBody>
          <a:bodyPr wrap="square" rtlCol="0" anchor="ctr"/>
          <a:lstStyle/>
          <a:p>
            <a:pPr indent="0" marL="0">
              <a:buNone/>
            </a:pPr>
            <a:r>
              <a:rPr lang="en-US" sz="1100" b="1" dirty="0">
                <a:solidFill>
                  <a:srgbClr val="5B4FC4"/>
                </a:solidFill>
                <a:latin typeface="Consolas" pitchFamily="34" charset="0"/>
                <a:ea typeface="Consolas" pitchFamily="34" charset="-122"/>
                <a:cs typeface="Consolas" pitchFamily="34" charset="-120"/>
              </a:rPr>
              <a:t>P02</a:t>
            </a:r>
            <a:endParaRPr lang="en-US" sz="1100" dirty="0"/>
          </a:p>
        </p:txBody>
      </p:sp>
      <p:sp>
        <p:nvSpPr>
          <p:cNvPr id="11" name="Text 9"/>
          <p:cNvSpPr/>
          <p:nvPr/>
        </p:nvSpPr>
        <p:spPr>
          <a:xfrm>
            <a:off x="3511296" y="2075688"/>
            <a:ext cx="2340864" cy="502920"/>
          </a:xfrm>
          <a:prstGeom prst="rect">
            <a:avLst/>
          </a:prstGeom>
          <a:noFill/>
          <a:ln/>
        </p:spPr>
        <p:txBody>
          <a:bodyPr wrap="square" rtlCol="0" anchor="ctr"/>
          <a:lstStyle/>
          <a:p>
            <a:pPr indent="0" marL="0">
              <a:lnSpc>
                <a:spcPts val="1500"/>
              </a:lnSpc>
              <a:buNone/>
            </a:pPr>
            <a:r>
              <a:rPr lang="en-US" sz="1300" b="1" dirty="0">
                <a:solidFill>
                  <a:srgbClr val="1A2233"/>
                </a:solidFill>
                <a:latin typeface="Calibri" pitchFamily="34" charset="0"/>
                <a:ea typeface="Calibri" pitchFamily="34" charset="-122"/>
                <a:cs typeface="Calibri" pitchFamily="34" charset="-120"/>
              </a:rPr>
              <a:t>Capacity &amp; Queuing</a:t>
            </a:r>
            <a:endParaRPr lang="en-US" sz="1300" dirty="0"/>
          </a:p>
        </p:txBody>
      </p:sp>
      <p:sp>
        <p:nvSpPr>
          <p:cNvPr id="12" name="Text 10"/>
          <p:cNvSpPr/>
          <p:nvPr/>
        </p:nvSpPr>
        <p:spPr>
          <a:xfrm>
            <a:off x="3511296" y="2587752"/>
            <a:ext cx="2340864" cy="411480"/>
          </a:xfrm>
          <a:prstGeom prst="rect">
            <a:avLst/>
          </a:prstGeom>
          <a:noFill/>
          <a:ln/>
        </p:spPr>
        <p:txBody>
          <a:bodyPr wrap="square" rtlCol="0" anchor="ctr"/>
          <a:lstStyle/>
          <a:p>
            <a:pPr indent="0" marL="0">
              <a:lnSpc>
                <a:spcPts val="1200"/>
              </a:lnSpc>
              <a:buNone/>
            </a:pPr>
            <a:r>
              <a:rPr lang="en-US" sz="950" dirty="0">
                <a:solidFill>
                  <a:srgbClr val="5A6C8F"/>
                </a:solidFill>
                <a:latin typeface="Calibri" pitchFamily="34" charset="0"/>
                <a:ea typeface="Calibri" pitchFamily="34" charset="-122"/>
                <a:cs typeface="Calibri" pitchFamily="34" charset="-120"/>
              </a:rPr>
              <a:t>Erlang models, predictive overload alerts</a:t>
            </a:r>
            <a:endParaRPr lang="en-US" sz="950" dirty="0"/>
          </a:p>
        </p:txBody>
      </p:sp>
      <p:sp>
        <p:nvSpPr>
          <p:cNvPr id="13" name="Shape 11"/>
          <p:cNvSpPr/>
          <p:nvPr/>
        </p:nvSpPr>
        <p:spPr>
          <a:xfrm>
            <a:off x="6144768" y="1691640"/>
            <a:ext cx="2670048" cy="1371600"/>
          </a:xfrm>
          <a:prstGeom prst="roundRect">
            <a:avLst>
              <a:gd name="adj" fmla="val 4667"/>
            </a:avLst>
          </a:prstGeom>
          <a:solidFill>
            <a:srgbClr val="F5F7FA"/>
          </a:solidFill>
          <a:ln w="12700">
            <a:solidFill>
              <a:srgbClr val="E1E6EF"/>
            </a:solidFill>
            <a:prstDash val="solid"/>
          </a:ln>
        </p:spPr>
        <p:txBody>
          <a:bodyPr/>
          <a:p/>
        </p:txBody>
      </p:sp>
      <p:sp>
        <p:nvSpPr>
          <p:cNvPr id="14" name="Text 12"/>
          <p:cNvSpPr/>
          <p:nvPr/>
        </p:nvSpPr>
        <p:spPr>
          <a:xfrm>
            <a:off x="6309360" y="1801368"/>
            <a:ext cx="1371600" cy="274320"/>
          </a:xfrm>
          <a:prstGeom prst="rect">
            <a:avLst/>
          </a:prstGeom>
          <a:noFill/>
          <a:ln/>
        </p:spPr>
        <p:txBody>
          <a:bodyPr wrap="square" rtlCol="0" anchor="ctr"/>
          <a:lstStyle/>
          <a:p>
            <a:pPr indent="0" marL="0">
              <a:buNone/>
            </a:pPr>
            <a:r>
              <a:rPr lang="en-US" sz="1100" b="1" dirty="0">
                <a:solidFill>
                  <a:srgbClr val="5B4FC4"/>
                </a:solidFill>
                <a:latin typeface="Consolas" pitchFamily="34" charset="0"/>
                <a:ea typeface="Consolas" pitchFamily="34" charset="-122"/>
                <a:cs typeface="Consolas" pitchFamily="34" charset="-120"/>
              </a:rPr>
              <a:t>P03</a:t>
            </a:r>
            <a:endParaRPr lang="en-US" sz="1100" dirty="0"/>
          </a:p>
        </p:txBody>
      </p:sp>
      <p:sp>
        <p:nvSpPr>
          <p:cNvPr id="15" name="Text 13"/>
          <p:cNvSpPr/>
          <p:nvPr/>
        </p:nvSpPr>
        <p:spPr>
          <a:xfrm>
            <a:off x="6309360" y="2075688"/>
            <a:ext cx="2340864" cy="502920"/>
          </a:xfrm>
          <a:prstGeom prst="rect">
            <a:avLst/>
          </a:prstGeom>
          <a:noFill/>
          <a:ln/>
        </p:spPr>
        <p:txBody>
          <a:bodyPr wrap="square" rtlCol="0" anchor="ctr"/>
          <a:lstStyle/>
          <a:p>
            <a:pPr indent="0" marL="0">
              <a:lnSpc>
                <a:spcPts val="1500"/>
              </a:lnSpc>
              <a:buNone/>
            </a:pPr>
            <a:r>
              <a:rPr lang="en-US" sz="1300" b="1" dirty="0">
                <a:solidFill>
                  <a:srgbClr val="1A2233"/>
                </a:solidFill>
                <a:latin typeface="Calibri" pitchFamily="34" charset="0"/>
                <a:ea typeface="Calibri" pitchFamily="34" charset="-122"/>
                <a:cs typeface="Calibri" pitchFamily="34" charset="-120"/>
              </a:rPr>
              <a:t>Delivery Risk</a:t>
            </a:r>
            <a:endParaRPr lang="en-US" sz="1300" dirty="0"/>
          </a:p>
        </p:txBody>
      </p:sp>
      <p:sp>
        <p:nvSpPr>
          <p:cNvPr id="16" name="Text 14"/>
          <p:cNvSpPr/>
          <p:nvPr/>
        </p:nvSpPr>
        <p:spPr>
          <a:xfrm>
            <a:off x="6309360" y="2587752"/>
            <a:ext cx="2340864" cy="411480"/>
          </a:xfrm>
          <a:prstGeom prst="rect">
            <a:avLst/>
          </a:prstGeom>
          <a:noFill/>
          <a:ln/>
        </p:spPr>
        <p:txBody>
          <a:bodyPr wrap="square" rtlCol="0" anchor="ctr"/>
          <a:lstStyle/>
          <a:p>
            <a:pPr indent="0" marL="0">
              <a:lnSpc>
                <a:spcPts val="1200"/>
              </a:lnSpc>
              <a:buNone/>
            </a:pPr>
            <a:r>
              <a:rPr lang="en-US" sz="950" dirty="0">
                <a:solidFill>
                  <a:srgbClr val="5A6C8F"/>
                </a:solidFill>
                <a:latin typeface="Calibri" pitchFamily="34" charset="0"/>
                <a:ea typeface="Calibri" pitchFamily="34" charset="-122"/>
                <a:cs typeface="Calibri" pitchFamily="34" charset="-120"/>
              </a:rPr>
              <a:t>Monte Carlo simulation, survival analysis</a:t>
            </a:r>
            <a:endParaRPr lang="en-US" sz="950" dirty="0"/>
          </a:p>
        </p:txBody>
      </p:sp>
      <p:sp>
        <p:nvSpPr>
          <p:cNvPr id="17" name="Shape 15"/>
          <p:cNvSpPr/>
          <p:nvPr/>
        </p:nvSpPr>
        <p:spPr>
          <a:xfrm>
            <a:off x="8942832" y="1691640"/>
            <a:ext cx="2670048" cy="1371600"/>
          </a:xfrm>
          <a:prstGeom prst="roundRect">
            <a:avLst>
              <a:gd name="adj" fmla="val 4667"/>
            </a:avLst>
          </a:prstGeom>
          <a:solidFill>
            <a:srgbClr val="F5F7FA"/>
          </a:solidFill>
          <a:ln w="12700">
            <a:solidFill>
              <a:srgbClr val="E1E6EF"/>
            </a:solidFill>
            <a:prstDash val="solid"/>
          </a:ln>
        </p:spPr>
        <p:txBody>
          <a:bodyPr/>
          <a:p/>
        </p:txBody>
      </p:sp>
      <p:sp>
        <p:nvSpPr>
          <p:cNvPr id="18" name="Text 16"/>
          <p:cNvSpPr/>
          <p:nvPr/>
        </p:nvSpPr>
        <p:spPr>
          <a:xfrm>
            <a:off x="9107424" y="1801368"/>
            <a:ext cx="1371600" cy="274320"/>
          </a:xfrm>
          <a:prstGeom prst="rect">
            <a:avLst/>
          </a:prstGeom>
          <a:noFill/>
          <a:ln/>
        </p:spPr>
        <p:txBody>
          <a:bodyPr wrap="square" rtlCol="0" anchor="ctr"/>
          <a:lstStyle/>
          <a:p>
            <a:pPr indent="0" marL="0">
              <a:buNone/>
            </a:pPr>
            <a:r>
              <a:rPr lang="en-US" sz="1100" b="1" dirty="0">
                <a:solidFill>
                  <a:srgbClr val="5B4FC4"/>
                </a:solidFill>
                <a:latin typeface="Consolas" pitchFamily="34" charset="0"/>
                <a:ea typeface="Consolas" pitchFamily="34" charset="-122"/>
                <a:cs typeface="Consolas" pitchFamily="34" charset="-120"/>
              </a:rPr>
              <a:t>P04</a:t>
            </a:r>
            <a:endParaRPr lang="en-US" sz="1100" dirty="0"/>
          </a:p>
        </p:txBody>
      </p:sp>
      <p:sp>
        <p:nvSpPr>
          <p:cNvPr id="19" name="Text 17"/>
          <p:cNvSpPr/>
          <p:nvPr/>
        </p:nvSpPr>
        <p:spPr>
          <a:xfrm>
            <a:off x="9107424" y="2075688"/>
            <a:ext cx="2340864" cy="502920"/>
          </a:xfrm>
          <a:prstGeom prst="rect">
            <a:avLst/>
          </a:prstGeom>
          <a:noFill/>
          <a:ln/>
        </p:spPr>
        <p:txBody>
          <a:bodyPr wrap="square" rtlCol="0" anchor="ctr"/>
          <a:lstStyle/>
          <a:p>
            <a:pPr indent="0" marL="0">
              <a:lnSpc>
                <a:spcPts val="1500"/>
              </a:lnSpc>
              <a:buNone/>
            </a:pPr>
            <a:r>
              <a:rPr lang="en-US" sz="1300" b="1" dirty="0">
                <a:solidFill>
                  <a:srgbClr val="1A2233"/>
                </a:solidFill>
                <a:latin typeface="Calibri" pitchFamily="34" charset="0"/>
                <a:ea typeface="Calibri" pitchFamily="34" charset="-122"/>
                <a:cs typeface="Calibri" pitchFamily="34" charset="-120"/>
              </a:rPr>
              <a:t>SPC Control</a:t>
            </a:r>
            <a:endParaRPr lang="en-US" sz="1300" dirty="0"/>
          </a:p>
        </p:txBody>
      </p:sp>
      <p:sp>
        <p:nvSpPr>
          <p:cNvPr id="20" name="Text 18"/>
          <p:cNvSpPr/>
          <p:nvPr/>
        </p:nvSpPr>
        <p:spPr>
          <a:xfrm>
            <a:off x="9107424" y="2587752"/>
            <a:ext cx="2340864" cy="411480"/>
          </a:xfrm>
          <a:prstGeom prst="rect">
            <a:avLst/>
          </a:prstGeom>
          <a:noFill/>
          <a:ln/>
        </p:spPr>
        <p:txBody>
          <a:bodyPr wrap="square" rtlCol="0" anchor="ctr"/>
          <a:lstStyle/>
          <a:p>
            <a:pPr indent="0" marL="0">
              <a:lnSpc>
                <a:spcPts val="1200"/>
              </a:lnSpc>
              <a:buNone/>
            </a:pPr>
            <a:r>
              <a:rPr lang="en-US" sz="950" dirty="0">
                <a:solidFill>
                  <a:srgbClr val="5A6C8F"/>
                </a:solidFill>
                <a:latin typeface="Calibri" pitchFamily="34" charset="0"/>
                <a:ea typeface="Calibri" pitchFamily="34" charset="-122"/>
                <a:cs typeface="Calibri" pitchFamily="34" charset="-120"/>
              </a:rPr>
              <a:t>Graduates from reporting a number to controlling a process</a:t>
            </a:r>
            <a:endParaRPr lang="en-US" sz="950" dirty="0"/>
          </a:p>
        </p:txBody>
      </p:sp>
      <p:sp>
        <p:nvSpPr>
          <p:cNvPr id="21" name="Shape 19"/>
          <p:cNvSpPr/>
          <p:nvPr/>
        </p:nvSpPr>
        <p:spPr>
          <a:xfrm>
            <a:off x="548640" y="3209544"/>
            <a:ext cx="2670048" cy="1371600"/>
          </a:xfrm>
          <a:prstGeom prst="roundRect">
            <a:avLst>
              <a:gd name="adj" fmla="val 4667"/>
            </a:avLst>
          </a:prstGeom>
          <a:solidFill>
            <a:srgbClr val="F5F7FA"/>
          </a:solidFill>
          <a:ln w="12700">
            <a:solidFill>
              <a:srgbClr val="E1E6EF"/>
            </a:solidFill>
            <a:prstDash val="solid"/>
          </a:ln>
        </p:spPr>
        <p:txBody>
          <a:bodyPr/>
          <a:p/>
        </p:txBody>
      </p:sp>
      <p:sp>
        <p:nvSpPr>
          <p:cNvPr id="22" name="Text 20"/>
          <p:cNvSpPr/>
          <p:nvPr/>
        </p:nvSpPr>
        <p:spPr>
          <a:xfrm>
            <a:off x="713232" y="3319272"/>
            <a:ext cx="1371600" cy="274320"/>
          </a:xfrm>
          <a:prstGeom prst="rect">
            <a:avLst/>
          </a:prstGeom>
          <a:noFill/>
          <a:ln/>
        </p:spPr>
        <p:txBody>
          <a:bodyPr wrap="square" rtlCol="0" anchor="ctr"/>
          <a:lstStyle/>
          <a:p>
            <a:pPr indent="0" marL="0">
              <a:buNone/>
            </a:pPr>
            <a:r>
              <a:rPr lang="en-US" sz="1100" b="1" dirty="0">
                <a:solidFill>
                  <a:srgbClr val="5B4FC4"/>
                </a:solidFill>
                <a:latin typeface="Consolas" pitchFamily="34" charset="0"/>
                <a:ea typeface="Consolas" pitchFamily="34" charset="-122"/>
                <a:cs typeface="Consolas" pitchFamily="34" charset="-120"/>
              </a:rPr>
              <a:t>P05</a:t>
            </a:r>
            <a:endParaRPr lang="en-US" sz="1100" dirty="0"/>
          </a:p>
        </p:txBody>
      </p:sp>
      <p:sp>
        <p:nvSpPr>
          <p:cNvPr id="23" name="Text 21"/>
          <p:cNvSpPr/>
          <p:nvPr/>
        </p:nvSpPr>
        <p:spPr>
          <a:xfrm>
            <a:off x="713232" y="3593592"/>
            <a:ext cx="2340864" cy="502920"/>
          </a:xfrm>
          <a:prstGeom prst="rect">
            <a:avLst/>
          </a:prstGeom>
          <a:noFill/>
          <a:ln/>
        </p:spPr>
        <p:txBody>
          <a:bodyPr wrap="square" rtlCol="0" anchor="ctr"/>
          <a:lstStyle/>
          <a:p>
            <a:pPr indent="0" marL="0">
              <a:lnSpc>
                <a:spcPts val="1500"/>
              </a:lnSpc>
              <a:buNone/>
            </a:pPr>
            <a:r>
              <a:rPr lang="en-US" sz="1300" b="1" dirty="0">
                <a:solidFill>
                  <a:srgbClr val="1A2233"/>
                </a:solidFill>
                <a:latin typeface="Calibri" pitchFamily="34" charset="0"/>
                <a:ea typeface="Calibri" pitchFamily="34" charset="-122"/>
                <a:cs typeface="Calibri" pitchFamily="34" charset="-120"/>
              </a:rPr>
              <a:t>Talent Elevation</a:t>
            </a:r>
            <a:endParaRPr lang="en-US" sz="1300" dirty="0"/>
          </a:p>
        </p:txBody>
      </p:sp>
      <p:sp>
        <p:nvSpPr>
          <p:cNvPr id="24" name="Text 22"/>
          <p:cNvSpPr/>
          <p:nvPr/>
        </p:nvSpPr>
        <p:spPr>
          <a:xfrm>
            <a:off x="713232" y="4105656"/>
            <a:ext cx="2340864" cy="411480"/>
          </a:xfrm>
          <a:prstGeom prst="rect">
            <a:avLst/>
          </a:prstGeom>
          <a:noFill/>
          <a:ln/>
        </p:spPr>
        <p:txBody>
          <a:bodyPr wrap="square" rtlCol="0" anchor="ctr"/>
          <a:lstStyle/>
          <a:p>
            <a:pPr indent="0" marL="0">
              <a:lnSpc>
                <a:spcPts val="1200"/>
              </a:lnSpc>
              <a:buNone/>
            </a:pPr>
            <a:r>
              <a:rPr lang="en-US" sz="950" dirty="0">
                <a:solidFill>
                  <a:srgbClr val="5A6C8F"/>
                </a:solidFill>
                <a:latin typeface="Calibri" pitchFamily="34" charset="0"/>
                <a:ea typeface="Calibri" pitchFamily="34" charset="-122"/>
                <a:cs typeface="Calibri" pitchFamily="34" charset="-120"/>
              </a:rPr>
              <a:t>AI-adopting PMs measurably outproduce those who aren't</a:t>
            </a:r>
            <a:endParaRPr lang="en-US" sz="950" dirty="0"/>
          </a:p>
        </p:txBody>
      </p:sp>
      <p:sp>
        <p:nvSpPr>
          <p:cNvPr id="25" name="Shape 23"/>
          <p:cNvSpPr/>
          <p:nvPr/>
        </p:nvSpPr>
        <p:spPr>
          <a:xfrm>
            <a:off x="3346704" y="3209544"/>
            <a:ext cx="2670048" cy="1371600"/>
          </a:xfrm>
          <a:prstGeom prst="roundRect">
            <a:avLst>
              <a:gd name="adj" fmla="val 4667"/>
            </a:avLst>
          </a:prstGeom>
          <a:solidFill>
            <a:srgbClr val="F5F7FA"/>
          </a:solidFill>
          <a:ln w="12700">
            <a:solidFill>
              <a:srgbClr val="E1E6EF"/>
            </a:solidFill>
            <a:prstDash val="solid"/>
          </a:ln>
        </p:spPr>
        <p:txBody>
          <a:bodyPr/>
          <a:p/>
        </p:txBody>
      </p:sp>
      <p:sp>
        <p:nvSpPr>
          <p:cNvPr id="26" name="Text 24"/>
          <p:cNvSpPr/>
          <p:nvPr/>
        </p:nvSpPr>
        <p:spPr>
          <a:xfrm>
            <a:off x="3511296" y="3319272"/>
            <a:ext cx="1371600" cy="274320"/>
          </a:xfrm>
          <a:prstGeom prst="rect">
            <a:avLst/>
          </a:prstGeom>
          <a:noFill/>
          <a:ln/>
        </p:spPr>
        <p:txBody>
          <a:bodyPr wrap="square" rtlCol="0" anchor="ctr"/>
          <a:lstStyle/>
          <a:p>
            <a:pPr indent="0" marL="0">
              <a:buNone/>
            </a:pPr>
            <a:r>
              <a:rPr lang="en-US" sz="1100" b="1" dirty="0">
                <a:solidFill>
                  <a:srgbClr val="5B4FC4"/>
                </a:solidFill>
                <a:latin typeface="Consolas" pitchFamily="34" charset="0"/>
                <a:ea typeface="Consolas" pitchFamily="34" charset="-122"/>
                <a:cs typeface="Consolas" pitchFamily="34" charset="-120"/>
              </a:rPr>
              <a:t>P06</a:t>
            </a:r>
            <a:endParaRPr lang="en-US" sz="1100" dirty="0"/>
          </a:p>
        </p:txBody>
      </p:sp>
      <p:sp>
        <p:nvSpPr>
          <p:cNvPr id="27" name="Text 25"/>
          <p:cNvSpPr/>
          <p:nvPr/>
        </p:nvSpPr>
        <p:spPr>
          <a:xfrm>
            <a:off x="3511296" y="3593592"/>
            <a:ext cx="2340864" cy="502920"/>
          </a:xfrm>
          <a:prstGeom prst="rect">
            <a:avLst/>
          </a:prstGeom>
          <a:noFill/>
          <a:ln/>
        </p:spPr>
        <p:txBody>
          <a:bodyPr wrap="square" rtlCol="0" anchor="ctr"/>
          <a:lstStyle/>
          <a:p>
            <a:pPr indent="0" marL="0">
              <a:lnSpc>
                <a:spcPts val="1500"/>
              </a:lnSpc>
              <a:buNone/>
            </a:pPr>
            <a:r>
              <a:rPr lang="en-US" sz="1300" b="1" dirty="0">
                <a:solidFill>
                  <a:srgbClr val="1A2233"/>
                </a:solidFill>
                <a:latin typeface="Calibri" pitchFamily="34" charset="0"/>
                <a:ea typeface="Calibri" pitchFamily="34" charset="-122"/>
                <a:cs typeface="Calibri" pitchFamily="34" charset="-120"/>
              </a:rPr>
              <a:t>Financial Precision</a:t>
            </a:r>
            <a:endParaRPr lang="en-US" sz="1300" dirty="0"/>
          </a:p>
        </p:txBody>
      </p:sp>
      <p:sp>
        <p:nvSpPr>
          <p:cNvPr id="28" name="Text 26"/>
          <p:cNvSpPr/>
          <p:nvPr/>
        </p:nvSpPr>
        <p:spPr>
          <a:xfrm>
            <a:off x="3511296" y="4105656"/>
            <a:ext cx="2340864" cy="411480"/>
          </a:xfrm>
          <a:prstGeom prst="rect">
            <a:avLst/>
          </a:prstGeom>
          <a:noFill/>
          <a:ln/>
        </p:spPr>
        <p:txBody>
          <a:bodyPr wrap="square" rtlCol="0" anchor="ctr"/>
          <a:lstStyle/>
          <a:p>
            <a:pPr indent="0" marL="0">
              <a:lnSpc>
                <a:spcPts val="1200"/>
              </a:lnSpc>
              <a:buNone/>
            </a:pPr>
            <a:r>
              <a:rPr lang="en-US" sz="950" dirty="0">
                <a:solidFill>
                  <a:srgbClr val="5A6C8F"/>
                </a:solidFill>
                <a:latin typeface="Calibri" pitchFamily="34" charset="0"/>
                <a:ea typeface="Calibri" pitchFamily="34" charset="-122"/>
                <a:cs typeface="Calibri" pitchFamily="34" charset="-120"/>
              </a:rPr>
              <a:t>Bayesian EAC/ETC, dynamic NPV/IRR</a:t>
            </a:r>
            <a:endParaRPr lang="en-US" sz="950" dirty="0"/>
          </a:p>
        </p:txBody>
      </p:sp>
      <p:sp>
        <p:nvSpPr>
          <p:cNvPr id="29" name="Shape 27"/>
          <p:cNvSpPr/>
          <p:nvPr/>
        </p:nvSpPr>
        <p:spPr>
          <a:xfrm>
            <a:off x="6144768" y="3209544"/>
            <a:ext cx="2670048" cy="1371600"/>
          </a:xfrm>
          <a:prstGeom prst="roundRect">
            <a:avLst>
              <a:gd name="adj" fmla="val 4667"/>
            </a:avLst>
          </a:prstGeom>
          <a:solidFill>
            <a:srgbClr val="F5F7FA"/>
          </a:solidFill>
          <a:ln w="12700">
            <a:solidFill>
              <a:srgbClr val="E1E6EF"/>
            </a:solidFill>
            <a:prstDash val="solid"/>
          </a:ln>
        </p:spPr>
        <p:txBody>
          <a:bodyPr/>
          <a:p/>
        </p:txBody>
      </p:sp>
      <p:sp>
        <p:nvSpPr>
          <p:cNvPr id="30" name="Text 28"/>
          <p:cNvSpPr/>
          <p:nvPr/>
        </p:nvSpPr>
        <p:spPr>
          <a:xfrm>
            <a:off x="6309360" y="3319272"/>
            <a:ext cx="1371600" cy="274320"/>
          </a:xfrm>
          <a:prstGeom prst="rect">
            <a:avLst/>
          </a:prstGeom>
          <a:noFill/>
          <a:ln/>
        </p:spPr>
        <p:txBody>
          <a:bodyPr wrap="square" rtlCol="0" anchor="ctr"/>
          <a:lstStyle/>
          <a:p>
            <a:pPr indent="0" marL="0">
              <a:buNone/>
            </a:pPr>
            <a:r>
              <a:rPr lang="en-US" sz="1100" b="1" dirty="0">
                <a:solidFill>
                  <a:srgbClr val="5B4FC4"/>
                </a:solidFill>
                <a:latin typeface="Consolas" pitchFamily="34" charset="0"/>
                <a:ea typeface="Consolas" pitchFamily="34" charset="-122"/>
                <a:cs typeface="Consolas" pitchFamily="34" charset="-120"/>
              </a:rPr>
              <a:t>P07</a:t>
            </a:r>
            <a:endParaRPr lang="en-US" sz="1100" dirty="0"/>
          </a:p>
        </p:txBody>
      </p:sp>
      <p:sp>
        <p:nvSpPr>
          <p:cNvPr id="31" name="Text 29"/>
          <p:cNvSpPr/>
          <p:nvPr/>
        </p:nvSpPr>
        <p:spPr>
          <a:xfrm>
            <a:off x="6309360" y="3593592"/>
            <a:ext cx="2340864" cy="502920"/>
          </a:xfrm>
          <a:prstGeom prst="rect">
            <a:avLst/>
          </a:prstGeom>
          <a:noFill/>
          <a:ln/>
        </p:spPr>
        <p:txBody>
          <a:bodyPr wrap="square" rtlCol="0" anchor="ctr"/>
          <a:lstStyle/>
          <a:p>
            <a:pPr indent="0" marL="0">
              <a:lnSpc>
                <a:spcPts val="1500"/>
              </a:lnSpc>
              <a:buNone/>
            </a:pPr>
            <a:r>
              <a:rPr lang="en-US" sz="1300" b="1" dirty="0">
                <a:solidFill>
                  <a:srgbClr val="1A2233"/>
                </a:solidFill>
                <a:latin typeface="Calibri" pitchFamily="34" charset="0"/>
                <a:ea typeface="Calibri" pitchFamily="34" charset="-122"/>
                <a:cs typeface="Calibri" pitchFamily="34" charset="-120"/>
              </a:rPr>
              <a:t>Business Outcome</a:t>
            </a:r>
            <a:endParaRPr lang="en-US" sz="1300" dirty="0"/>
          </a:p>
        </p:txBody>
      </p:sp>
      <p:sp>
        <p:nvSpPr>
          <p:cNvPr id="32" name="Text 30"/>
          <p:cNvSpPr/>
          <p:nvPr/>
        </p:nvSpPr>
        <p:spPr>
          <a:xfrm>
            <a:off x="6309360" y="4105656"/>
            <a:ext cx="2340864" cy="411480"/>
          </a:xfrm>
          <a:prstGeom prst="rect">
            <a:avLst/>
          </a:prstGeom>
          <a:noFill/>
          <a:ln/>
        </p:spPr>
        <p:txBody>
          <a:bodyPr wrap="square" rtlCol="0" anchor="ctr"/>
          <a:lstStyle/>
          <a:p>
            <a:pPr indent="0" marL="0">
              <a:lnSpc>
                <a:spcPts val="1200"/>
              </a:lnSpc>
              <a:buNone/>
            </a:pPr>
            <a:r>
              <a:rPr lang="en-US" sz="950" dirty="0">
                <a:solidFill>
                  <a:srgbClr val="5A6C8F"/>
                </a:solidFill>
                <a:latin typeface="Calibri" pitchFamily="34" charset="0"/>
                <a:ea typeface="Calibri" pitchFamily="34" charset="-122"/>
                <a:cs typeface="Calibri" pitchFamily="34" charset="-120"/>
              </a:rPr>
              <a:t>Digital twin + causal inference</a:t>
            </a:r>
            <a:endParaRPr lang="en-US" sz="950" dirty="0"/>
          </a:p>
        </p:txBody>
      </p:sp>
      <p:sp>
        <p:nvSpPr>
          <p:cNvPr id="33" name="Text 31"/>
          <p:cNvSpPr/>
          <p:nvPr/>
        </p:nvSpPr>
        <p:spPr>
          <a:xfrm>
            <a:off x="11365992" y="6355080"/>
            <a:ext cx="548640" cy="320040"/>
          </a:xfrm>
          <a:prstGeom prst="rect">
            <a:avLst/>
          </a:prstGeom>
          <a:noFill/>
          <a:ln/>
        </p:spPr>
        <p:txBody>
          <a:bodyPr wrap="square" rtlCol="0" anchor="ctr"/>
          <a:lstStyle/>
          <a:p>
            <a:pPr algn="r" indent="0" marL="0">
              <a:buNone/>
            </a:pPr>
            <a:r>
              <a:rPr lang="en-US" sz="900" dirty="0">
                <a:solidFill>
                  <a:srgbClr val="7C8AA6"/>
                </a:solidFill>
                <a:latin typeface="Consolas" pitchFamily="34" charset="0"/>
                <a:ea typeface="Consolas" pitchFamily="34" charset="-122"/>
                <a:cs typeface="Consolas" pitchFamily="34" charset="-120"/>
              </a:rPr>
              <a:t>03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274320"/>
          </a:xfrm>
          <a:prstGeom prst="rect">
            <a:avLst/>
          </a:prstGeom>
          <a:noFill/>
          <a:ln/>
        </p:spPr>
        <p:txBody>
          <a:bodyPr wrap="square" rtlCol="0" anchor="ctr"/>
          <a:lstStyle/>
          <a:p>
            <a:pPr indent="0" marL="0">
              <a:buNone/>
            </a:pPr>
            <a:r>
              <a:rPr lang="en-US" sz="1100" b="1" spc="200" kern="0" dirty="0">
                <a:solidFill>
                  <a:srgbClr val="5B4FC4"/>
                </a:solidFill>
                <a:latin typeface="Consolas" pitchFamily="34" charset="0"/>
                <a:ea typeface="Consolas" pitchFamily="34" charset="-122"/>
                <a:cs typeface="Consolas" pitchFamily="34" charset="-120"/>
              </a:rPr>
              <a:t>BEFORE WE BEGIN · WHY IT'S DIFFERENT</a:t>
            </a:r>
            <a:endParaRPr lang="en-US" sz="1100" dirty="0"/>
          </a:p>
        </p:txBody>
      </p:sp>
      <p:sp>
        <p:nvSpPr>
          <p:cNvPr id="3" name="Text 1"/>
          <p:cNvSpPr/>
          <p:nvPr/>
        </p:nvSpPr>
        <p:spPr>
          <a:xfrm>
            <a:off x="548640" y="640080"/>
            <a:ext cx="10058400" cy="502920"/>
          </a:xfrm>
          <a:prstGeom prst="rect">
            <a:avLst/>
          </a:prstGeom>
          <a:noFill/>
          <a:ln/>
        </p:spPr>
        <p:txBody>
          <a:bodyPr wrap="square" rtlCol="0" anchor="ctr"/>
          <a:lstStyle/>
          <a:p>
            <a:pPr indent="0" marL="0">
              <a:buNone/>
            </a:pPr>
            <a:r>
              <a:rPr lang="en-US" sz="2500" b="1" dirty="0">
                <a:solidFill>
                  <a:srgbClr val="1A2233"/>
                </a:solidFill>
                <a:latin typeface="Cambria" pitchFamily="34" charset="0"/>
                <a:ea typeface="Cambria" pitchFamily="34" charset="-122"/>
                <a:cs typeface="Cambria" pitchFamily="34" charset="-120"/>
              </a:rPr>
              <a:t>Qualitative GenAI vs. Statistical AI</a:t>
            </a:r>
            <a:endParaRPr lang="en-US" sz="2500" dirty="0"/>
          </a:p>
        </p:txBody>
      </p:sp>
      <p:sp>
        <p:nvSpPr>
          <p:cNvPr id="4" name="Text 2"/>
          <p:cNvSpPr/>
          <p:nvPr/>
        </p:nvSpPr>
        <p:spPr>
          <a:xfrm>
            <a:off x="548640" y="1417320"/>
            <a:ext cx="2377440" cy="320040"/>
          </a:xfrm>
          <a:prstGeom prst="rect">
            <a:avLst/>
          </a:prstGeom>
          <a:noFill/>
          <a:ln/>
        </p:spPr>
        <p:txBody>
          <a:bodyPr wrap="square" rtlCol="0" anchor="ctr"/>
          <a:lstStyle/>
          <a:p>
            <a:pPr indent="0" marL="0">
              <a:buNone/>
            </a:pPr>
            <a:r>
              <a:rPr lang="en-US" sz="1000" b="1" dirty="0">
                <a:solidFill>
                  <a:srgbClr val="7C8AA6"/>
                </a:solidFill>
                <a:latin typeface="Consolas" pitchFamily="34" charset="0"/>
                <a:ea typeface="Consolas" pitchFamily="34" charset="-122"/>
                <a:cs typeface="Consolas" pitchFamily="34" charset="-120"/>
              </a:rPr>
              <a:t>SPM DOMAIN</a:t>
            </a:r>
            <a:endParaRPr lang="en-US" sz="1000" dirty="0"/>
          </a:p>
        </p:txBody>
      </p:sp>
      <p:sp>
        <p:nvSpPr>
          <p:cNvPr id="5" name="Text 3"/>
          <p:cNvSpPr/>
          <p:nvPr/>
        </p:nvSpPr>
        <p:spPr>
          <a:xfrm>
            <a:off x="3063240" y="1417320"/>
            <a:ext cx="4023360" cy="320040"/>
          </a:xfrm>
          <a:prstGeom prst="rect">
            <a:avLst/>
          </a:prstGeom>
          <a:noFill/>
          <a:ln/>
        </p:spPr>
        <p:txBody>
          <a:bodyPr wrap="square" rtlCol="0" anchor="ctr"/>
          <a:lstStyle/>
          <a:p>
            <a:pPr indent="0" marL="0">
              <a:buNone/>
            </a:pPr>
            <a:r>
              <a:rPr lang="en-US" sz="1000" b="1" dirty="0">
                <a:solidFill>
                  <a:srgbClr val="C13A3E"/>
                </a:solidFill>
                <a:latin typeface="Consolas" pitchFamily="34" charset="0"/>
                <a:ea typeface="Consolas" pitchFamily="34" charset="-122"/>
                <a:cs typeface="Consolas" pitchFamily="34" charset="-120"/>
              </a:rPr>
              <a:t>AMATEUR APPROACH</a:t>
            </a:r>
            <a:endParaRPr lang="en-US" sz="1000" dirty="0"/>
          </a:p>
        </p:txBody>
      </p:sp>
      <p:sp>
        <p:nvSpPr>
          <p:cNvPr id="6" name="Text 4"/>
          <p:cNvSpPr/>
          <p:nvPr/>
        </p:nvSpPr>
        <p:spPr>
          <a:xfrm>
            <a:off x="7269480" y="1417320"/>
            <a:ext cx="4297680" cy="320040"/>
          </a:xfrm>
          <a:prstGeom prst="rect">
            <a:avLst/>
          </a:prstGeom>
          <a:noFill/>
          <a:ln/>
        </p:spPr>
        <p:txBody>
          <a:bodyPr wrap="square" rtlCol="0" anchor="ctr"/>
          <a:lstStyle/>
          <a:p>
            <a:pPr indent="0" marL="0">
              <a:buNone/>
            </a:pPr>
            <a:r>
              <a:rPr lang="en-US" sz="1000" b="1" dirty="0">
                <a:solidFill>
                  <a:srgbClr val="0F8577"/>
                </a:solidFill>
                <a:latin typeface="Consolas" pitchFamily="34" charset="0"/>
                <a:ea typeface="Consolas" pitchFamily="34" charset="-122"/>
                <a:cs typeface="Consolas" pitchFamily="34" charset="-120"/>
              </a:rPr>
              <a:t>PROFESSIONAL APPROACH</a:t>
            </a:r>
            <a:endParaRPr lang="en-US" sz="1000" dirty="0"/>
          </a:p>
        </p:txBody>
      </p:sp>
      <p:sp>
        <p:nvSpPr>
          <p:cNvPr id="7" name="Shape 5"/>
          <p:cNvSpPr/>
          <p:nvPr/>
        </p:nvSpPr>
        <p:spPr>
          <a:xfrm>
            <a:off x="548640" y="1828800"/>
            <a:ext cx="11064240" cy="1051560"/>
          </a:xfrm>
          <a:prstGeom prst="rect">
            <a:avLst/>
          </a:prstGeom>
          <a:solidFill>
            <a:srgbClr val="EDF1F7"/>
          </a:solidFill>
          <a:ln/>
        </p:spPr>
        <p:txBody>
          <a:bodyPr/>
          <a:p/>
        </p:txBody>
      </p:sp>
      <p:sp>
        <p:nvSpPr>
          <p:cNvPr id="8" name="Text 6"/>
          <p:cNvSpPr/>
          <p:nvPr/>
        </p:nvSpPr>
        <p:spPr>
          <a:xfrm>
            <a:off x="777240" y="1828800"/>
            <a:ext cx="2194560" cy="1051560"/>
          </a:xfrm>
          <a:prstGeom prst="rect">
            <a:avLst/>
          </a:prstGeom>
          <a:noFill/>
          <a:ln/>
        </p:spPr>
        <p:txBody>
          <a:bodyPr wrap="square"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Portfolio Alignment</a:t>
            </a:r>
            <a:endParaRPr lang="en-US" sz="1250" dirty="0"/>
          </a:p>
        </p:txBody>
      </p:sp>
      <p:sp>
        <p:nvSpPr>
          <p:cNvPr id="9" name="Text 7"/>
          <p:cNvSpPr/>
          <p:nvPr/>
        </p:nvSpPr>
        <p:spPr>
          <a:xfrm>
            <a:off x="3063240" y="1828800"/>
            <a:ext cx="3931920" cy="1051560"/>
          </a:xfrm>
          <a:prstGeom prst="rect">
            <a:avLst/>
          </a:prstGeom>
          <a:noFill/>
          <a:ln/>
        </p:spPr>
        <p:txBody>
          <a:bodyPr wrap="square" rtlCol="0" anchor="ctr"/>
          <a:lstStyle/>
          <a:p>
            <a:pPr indent="0" marL="0">
              <a:lnSpc>
                <a:spcPts val="1400"/>
              </a:lnSpc>
              <a:buNone/>
            </a:pPr>
            <a:r>
              <a:rPr lang="en-US" sz="1100" dirty="0">
                <a:solidFill>
                  <a:srgbClr val="7C8AA6"/>
                </a:solidFill>
                <a:latin typeface="Calibri" pitchFamily="34" charset="0"/>
                <a:ea typeface="Calibri" pitchFamily="34" charset="-122"/>
                <a:cs typeface="Calibri" pitchFamily="34" charset="-120"/>
              </a:rPr>
              <a:t>Keyword-scans summaries against pillars</a:t>
            </a:r>
            <a:endParaRPr lang="en-US" sz="1100" dirty="0"/>
          </a:p>
        </p:txBody>
      </p:sp>
      <p:sp>
        <p:nvSpPr>
          <p:cNvPr id="10" name="Text 8"/>
          <p:cNvSpPr/>
          <p:nvPr/>
        </p:nvSpPr>
        <p:spPr>
          <a:xfrm>
            <a:off x="7269480" y="1828800"/>
            <a:ext cx="4206240" cy="1051560"/>
          </a:xfrm>
          <a:prstGeom prst="rect">
            <a:avLst/>
          </a:prstGeom>
          <a:noFill/>
          <a:ln/>
        </p:spPr>
        <p:txBody>
          <a:bodyPr wrap="square" rtlCol="0" anchor="ctr"/>
          <a:lstStyle/>
          <a:p>
            <a:pPr indent="0" marL="0">
              <a:lnSpc>
                <a:spcPts val="1400"/>
              </a:lnSpc>
              <a:buNone/>
            </a:pPr>
            <a:r>
              <a:rPr lang="en-US" sz="1100" dirty="0">
                <a:solidFill>
                  <a:srgbClr val="5A6C8F"/>
                </a:solidFill>
                <a:latin typeface="Calibri" pitchFamily="34" charset="0"/>
                <a:ea typeface="Calibri" pitchFamily="34" charset="-122"/>
                <a:cs typeface="Calibri" pitchFamily="34" charset="-120"/>
              </a:rPr>
              <a:t>Cluster &amp; factor analysis on hidden concentrations</a:t>
            </a:r>
            <a:endParaRPr lang="en-US" sz="1100" dirty="0"/>
          </a:p>
        </p:txBody>
      </p:sp>
      <p:sp>
        <p:nvSpPr>
          <p:cNvPr id="11" name="Text 9"/>
          <p:cNvSpPr/>
          <p:nvPr/>
        </p:nvSpPr>
        <p:spPr>
          <a:xfrm>
            <a:off x="777240" y="2907792"/>
            <a:ext cx="2194560" cy="1051560"/>
          </a:xfrm>
          <a:prstGeom prst="rect">
            <a:avLst/>
          </a:prstGeom>
          <a:noFill/>
          <a:ln/>
        </p:spPr>
        <p:txBody>
          <a:bodyPr wrap="square"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Delivery Risk</a:t>
            </a:r>
            <a:endParaRPr lang="en-US" sz="1250" dirty="0"/>
          </a:p>
        </p:txBody>
      </p:sp>
      <p:sp>
        <p:nvSpPr>
          <p:cNvPr id="12" name="Text 10"/>
          <p:cNvSpPr/>
          <p:nvPr/>
        </p:nvSpPr>
        <p:spPr>
          <a:xfrm>
            <a:off x="3063240" y="2907792"/>
            <a:ext cx="3931920" cy="1051560"/>
          </a:xfrm>
          <a:prstGeom prst="rect">
            <a:avLst/>
          </a:prstGeom>
          <a:noFill/>
          <a:ln/>
        </p:spPr>
        <p:txBody>
          <a:bodyPr wrap="square" rtlCol="0" anchor="ctr"/>
          <a:lstStyle/>
          <a:p>
            <a:pPr indent="0" marL="0">
              <a:lnSpc>
                <a:spcPts val="1400"/>
              </a:lnSpc>
              <a:buNone/>
            </a:pPr>
            <a:r>
              <a:rPr lang="en-US" sz="1100" dirty="0">
                <a:solidFill>
                  <a:srgbClr val="7C8AA6"/>
                </a:solidFill>
                <a:latin typeface="Calibri" pitchFamily="34" charset="0"/>
                <a:ea typeface="Calibri" pitchFamily="34" charset="-122"/>
                <a:cs typeface="Calibri" pitchFamily="34" charset="-120"/>
              </a:rPr>
              <a:t>Aggregates subjective RAG / Jira counts</a:t>
            </a:r>
            <a:endParaRPr lang="en-US" sz="1100" dirty="0"/>
          </a:p>
        </p:txBody>
      </p:sp>
      <p:sp>
        <p:nvSpPr>
          <p:cNvPr id="13" name="Text 11"/>
          <p:cNvSpPr/>
          <p:nvPr/>
        </p:nvSpPr>
        <p:spPr>
          <a:xfrm>
            <a:off x="7269480" y="2907792"/>
            <a:ext cx="4206240" cy="1051560"/>
          </a:xfrm>
          <a:prstGeom prst="rect">
            <a:avLst/>
          </a:prstGeom>
          <a:noFill/>
          <a:ln/>
        </p:spPr>
        <p:txBody>
          <a:bodyPr wrap="square" rtlCol="0" anchor="ctr"/>
          <a:lstStyle/>
          <a:p>
            <a:pPr indent="0" marL="0">
              <a:lnSpc>
                <a:spcPts val="1400"/>
              </a:lnSpc>
              <a:buNone/>
            </a:pPr>
            <a:r>
              <a:rPr lang="en-US" sz="1100" dirty="0">
                <a:solidFill>
                  <a:srgbClr val="5A6C8F"/>
                </a:solidFill>
                <a:latin typeface="Calibri" pitchFamily="34" charset="0"/>
                <a:ea typeface="Calibri" pitchFamily="34" charset="-122"/>
                <a:cs typeface="Calibri" pitchFamily="34" charset="-120"/>
              </a:rPr>
              <a:t>Daily Monte Carlo confidence-interval simulations</a:t>
            </a:r>
            <a:endParaRPr lang="en-US" sz="1100" dirty="0"/>
          </a:p>
        </p:txBody>
      </p:sp>
      <p:sp>
        <p:nvSpPr>
          <p:cNvPr id="14" name="Shape 12"/>
          <p:cNvSpPr/>
          <p:nvPr/>
        </p:nvSpPr>
        <p:spPr>
          <a:xfrm>
            <a:off x="548640" y="3986784"/>
            <a:ext cx="11064240" cy="1051560"/>
          </a:xfrm>
          <a:prstGeom prst="rect">
            <a:avLst/>
          </a:prstGeom>
          <a:solidFill>
            <a:srgbClr val="EDF1F7"/>
          </a:solidFill>
          <a:ln/>
        </p:spPr>
        <p:txBody>
          <a:bodyPr/>
          <a:p/>
        </p:txBody>
      </p:sp>
      <p:sp>
        <p:nvSpPr>
          <p:cNvPr id="15" name="Text 13"/>
          <p:cNvSpPr/>
          <p:nvPr/>
        </p:nvSpPr>
        <p:spPr>
          <a:xfrm>
            <a:off x="777240" y="3986784"/>
            <a:ext cx="2194560" cy="1051560"/>
          </a:xfrm>
          <a:prstGeom prst="rect">
            <a:avLst/>
          </a:prstGeom>
          <a:noFill/>
          <a:ln/>
        </p:spPr>
        <p:txBody>
          <a:bodyPr wrap="square"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Process Control</a:t>
            </a:r>
            <a:endParaRPr lang="en-US" sz="1250" dirty="0"/>
          </a:p>
        </p:txBody>
      </p:sp>
      <p:sp>
        <p:nvSpPr>
          <p:cNvPr id="16" name="Text 14"/>
          <p:cNvSpPr/>
          <p:nvPr/>
        </p:nvSpPr>
        <p:spPr>
          <a:xfrm>
            <a:off x="3063240" y="3986784"/>
            <a:ext cx="3931920" cy="1051560"/>
          </a:xfrm>
          <a:prstGeom prst="rect">
            <a:avLst/>
          </a:prstGeom>
          <a:noFill/>
          <a:ln/>
        </p:spPr>
        <p:txBody>
          <a:bodyPr wrap="square" rtlCol="0" anchor="ctr"/>
          <a:lstStyle/>
          <a:p>
            <a:pPr indent="0" marL="0">
              <a:lnSpc>
                <a:spcPts val="1400"/>
              </a:lnSpc>
              <a:buNone/>
            </a:pPr>
            <a:r>
              <a:rPr lang="en-US" sz="1100" dirty="0">
                <a:solidFill>
                  <a:srgbClr val="7C8AA6"/>
                </a:solidFill>
                <a:latin typeface="Calibri" pitchFamily="34" charset="0"/>
                <a:ea typeface="Calibri" pitchFamily="34" charset="-122"/>
                <a:cs typeface="Calibri" pitchFamily="34" charset="-120"/>
              </a:rPr>
              <a:t>Tracks averages, prompts micromanagement</a:t>
            </a:r>
            <a:endParaRPr lang="en-US" sz="1100" dirty="0"/>
          </a:p>
        </p:txBody>
      </p:sp>
      <p:sp>
        <p:nvSpPr>
          <p:cNvPr id="17" name="Text 15"/>
          <p:cNvSpPr/>
          <p:nvPr/>
        </p:nvSpPr>
        <p:spPr>
          <a:xfrm>
            <a:off x="7269480" y="3986784"/>
            <a:ext cx="4206240" cy="1051560"/>
          </a:xfrm>
          <a:prstGeom prst="rect">
            <a:avLst/>
          </a:prstGeom>
          <a:noFill/>
          <a:ln/>
        </p:spPr>
        <p:txBody>
          <a:bodyPr wrap="square" rtlCol="0" anchor="ctr"/>
          <a:lstStyle/>
          <a:p>
            <a:pPr indent="0" marL="0">
              <a:lnSpc>
                <a:spcPts val="1400"/>
              </a:lnSpc>
              <a:buNone/>
            </a:pPr>
            <a:r>
              <a:rPr lang="en-US" sz="1100" dirty="0">
                <a:solidFill>
                  <a:srgbClr val="5A6C8F"/>
                </a:solidFill>
                <a:latin typeface="Calibri" pitchFamily="34" charset="0"/>
                <a:ea typeface="Calibri" pitchFamily="34" charset="-122"/>
                <a:cs typeface="Calibri" pitchFamily="34" charset="-120"/>
              </a:rPr>
              <a:t>SPC separates common-cause noise from real signal</a:t>
            </a:r>
            <a:endParaRPr lang="en-US" sz="1100" dirty="0"/>
          </a:p>
        </p:txBody>
      </p:sp>
      <p:sp>
        <p:nvSpPr>
          <p:cNvPr id="18" name="Text 16"/>
          <p:cNvSpPr/>
          <p:nvPr/>
        </p:nvSpPr>
        <p:spPr>
          <a:xfrm>
            <a:off x="777240" y="5065776"/>
            <a:ext cx="2194560" cy="1051560"/>
          </a:xfrm>
          <a:prstGeom prst="rect">
            <a:avLst/>
          </a:prstGeom>
          <a:noFill/>
          <a:ln/>
        </p:spPr>
        <p:txBody>
          <a:bodyPr wrap="square" rtlCol="0" anchor="ctr"/>
          <a:lstStyle/>
          <a:p>
            <a:pPr indent="0" marL="0">
              <a:buNone/>
            </a:pPr>
            <a:r>
              <a:rPr lang="en-US" sz="1250" b="1" dirty="0">
                <a:solidFill>
                  <a:srgbClr val="1A2233"/>
                </a:solidFill>
                <a:latin typeface="Calibri" pitchFamily="34" charset="0"/>
                <a:ea typeface="Calibri" pitchFamily="34" charset="-122"/>
                <a:cs typeface="Calibri" pitchFamily="34" charset="-120"/>
              </a:rPr>
              <a:t>Financial Precision</a:t>
            </a:r>
            <a:endParaRPr lang="en-US" sz="1250" dirty="0"/>
          </a:p>
        </p:txBody>
      </p:sp>
      <p:sp>
        <p:nvSpPr>
          <p:cNvPr id="19" name="Text 17"/>
          <p:cNvSpPr/>
          <p:nvPr/>
        </p:nvSpPr>
        <p:spPr>
          <a:xfrm>
            <a:off x="3063240" y="5065776"/>
            <a:ext cx="3931920" cy="1051560"/>
          </a:xfrm>
          <a:prstGeom prst="rect">
            <a:avLst/>
          </a:prstGeom>
          <a:noFill/>
          <a:ln/>
        </p:spPr>
        <p:txBody>
          <a:bodyPr wrap="square" rtlCol="0" anchor="ctr"/>
          <a:lstStyle/>
          <a:p>
            <a:pPr indent="0" marL="0">
              <a:lnSpc>
                <a:spcPts val="1400"/>
              </a:lnSpc>
              <a:buNone/>
            </a:pPr>
            <a:r>
              <a:rPr lang="en-US" sz="1100" dirty="0">
                <a:solidFill>
                  <a:srgbClr val="7C8AA6"/>
                </a:solidFill>
                <a:latin typeface="Calibri" pitchFamily="34" charset="0"/>
                <a:ea typeface="Calibri" pitchFamily="34" charset="-122"/>
                <a:cs typeface="Calibri" pitchFamily="34" charset="-120"/>
              </a:rPr>
              <a:t>Re-calculates static formulas on manual entry</a:t>
            </a:r>
            <a:endParaRPr lang="en-US" sz="1100" dirty="0"/>
          </a:p>
        </p:txBody>
      </p:sp>
      <p:sp>
        <p:nvSpPr>
          <p:cNvPr id="20" name="Text 18"/>
          <p:cNvSpPr/>
          <p:nvPr/>
        </p:nvSpPr>
        <p:spPr>
          <a:xfrm>
            <a:off x="7269480" y="5065776"/>
            <a:ext cx="4206240" cy="1051560"/>
          </a:xfrm>
          <a:prstGeom prst="rect">
            <a:avLst/>
          </a:prstGeom>
          <a:noFill/>
          <a:ln/>
        </p:spPr>
        <p:txBody>
          <a:bodyPr wrap="square" rtlCol="0" anchor="ctr"/>
          <a:lstStyle/>
          <a:p>
            <a:pPr indent="0" marL="0">
              <a:lnSpc>
                <a:spcPts val="1400"/>
              </a:lnSpc>
              <a:buNone/>
            </a:pPr>
            <a:r>
              <a:rPr lang="en-US" sz="1100" dirty="0">
                <a:solidFill>
                  <a:srgbClr val="5A6C8F"/>
                </a:solidFill>
                <a:latin typeface="Calibri" pitchFamily="34" charset="0"/>
                <a:ea typeface="Calibri" pitchFamily="34" charset="-122"/>
                <a:cs typeface="Calibri" pitchFamily="34" charset="-120"/>
              </a:rPr>
              <a:t>ARIMA/Prophet + Bayesian continuous EAC curves</a:t>
            </a:r>
            <a:endParaRPr lang="en-US" sz="1100" dirty="0"/>
          </a:p>
        </p:txBody>
      </p:sp>
      <p:sp>
        <p:nvSpPr>
          <p:cNvPr id="21" name="Text 19"/>
          <p:cNvSpPr/>
          <p:nvPr/>
        </p:nvSpPr>
        <p:spPr>
          <a:xfrm>
            <a:off x="11365992" y="6355080"/>
            <a:ext cx="548640" cy="320040"/>
          </a:xfrm>
          <a:prstGeom prst="rect">
            <a:avLst/>
          </a:prstGeom>
          <a:noFill/>
          <a:ln/>
        </p:spPr>
        <p:txBody>
          <a:bodyPr wrap="square" rtlCol="0" anchor="ctr"/>
          <a:lstStyle/>
          <a:p>
            <a:pPr algn="r" indent="0" marL="0">
              <a:buNone/>
            </a:pPr>
            <a:r>
              <a:rPr lang="en-US" sz="900" dirty="0">
                <a:solidFill>
                  <a:srgbClr val="7C8AA6"/>
                </a:solidFill>
                <a:latin typeface="Consolas" pitchFamily="34" charset="0"/>
                <a:ea typeface="Consolas" pitchFamily="34" charset="-122"/>
                <a:cs typeface="Consolas" pitchFamily="34" charset="-120"/>
              </a:rPr>
              <a:t>04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graphicFrame>
        <p:nvGraphicFramePr>
          <p:cNvPr id="2" name="Chart 0" descr=""/>
          <p:cNvGraphicFramePr/>
          <p:nvPr/>
        </p:nvGraphicFramePr>
        <p:xfrm>
          <a:off x="0" y="4480560"/>
          <a:ext cx="12188952" cy="2103120"/>
        </p:xfrm>
        <a:graphic xmlns:a="http://schemas.openxmlformats.org/drawingml/2006/main">
          <a:graphicData uri="http://schemas.openxmlformats.org/drawingml/2006/chart">
            <c:chart xmlns:c="http://schemas.openxmlformats.org/drawingml/2006/chart" r:id="rId1"/>
          </a:graphicData>
        </a:graphic>
      </p:graphicFrame>
      <p:sp>
        <p:nvSpPr>
          <p:cNvPr id="3" name="Text 0"/>
          <p:cNvSpPr/>
          <p:nvPr/>
        </p:nvSpPr>
        <p:spPr>
          <a:xfrm>
            <a:off x="640080" y="1005840"/>
            <a:ext cx="3657600" cy="2011680"/>
          </a:xfrm>
          <a:prstGeom prst="rect">
            <a:avLst/>
          </a:prstGeom>
          <a:noFill/>
          <a:ln/>
        </p:spPr>
        <p:txBody>
          <a:bodyPr wrap="square" rtlCol="0" anchor="ctr"/>
          <a:lstStyle/>
          <a:p>
            <a:pPr indent="0" marL="0">
              <a:buNone/>
            </a:pPr>
            <a:r>
              <a:rPr lang="en-US" sz="13000" b="1" dirty="0">
                <a:solidFill>
                  <a:srgbClr val="F0F3F7"/>
                </a:solidFill>
                <a:latin typeface="Cambria" pitchFamily="34" charset="0"/>
                <a:ea typeface="Cambria" pitchFamily="34" charset="-122"/>
                <a:cs typeface="Cambria" pitchFamily="34" charset="-120"/>
              </a:rPr>
              <a:t>I</a:t>
            </a:r>
            <a:endParaRPr lang="en-US" sz="13000" dirty="0"/>
          </a:p>
        </p:txBody>
      </p:sp>
      <p:sp>
        <p:nvSpPr>
          <p:cNvPr id="4" name="Shape 1"/>
          <p:cNvSpPr/>
          <p:nvPr/>
        </p:nvSpPr>
        <p:spPr>
          <a:xfrm>
            <a:off x="1965960" y="1234440"/>
            <a:ext cx="0" cy="1554480"/>
          </a:xfrm>
          <a:prstGeom prst="line">
            <a:avLst/>
          </a:prstGeom>
          <a:noFill/>
          <a:ln w="38100">
            <a:solidFill>
              <a:srgbClr val="C13A3E"/>
            </a:solidFill>
            <a:prstDash val="solid"/>
          </a:ln>
        </p:spPr>
        <p:txBody>
          <a:bodyPr/>
          <a:p/>
        </p:txBody>
      </p:sp>
      <p:sp>
        <p:nvSpPr>
          <p:cNvPr id="5" name="Text 2"/>
          <p:cNvSpPr/>
          <p:nvPr/>
        </p:nvSpPr>
        <p:spPr>
          <a:xfrm>
            <a:off x="2286000" y="1280160"/>
            <a:ext cx="8686800" cy="914400"/>
          </a:xfrm>
          <a:prstGeom prst="rect">
            <a:avLst/>
          </a:prstGeom>
          <a:noFill/>
          <a:ln/>
        </p:spPr>
        <p:txBody>
          <a:bodyPr wrap="square" rtlCol="0" anchor="ctr"/>
          <a:lstStyle/>
          <a:p>
            <a:pPr indent="0" marL="0">
              <a:buNone/>
            </a:pPr>
            <a:r>
              <a:rPr lang="en-US" sz="3800" b="1" dirty="0">
                <a:solidFill>
                  <a:srgbClr val="1A2233"/>
                </a:solidFill>
                <a:latin typeface="Cambria" pitchFamily="34" charset="0"/>
                <a:ea typeface="Cambria" pitchFamily="34" charset="-122"/>
                <a:cs typeface="Cambria" pitchFamily="34" charset="-120"/>
              </a:rPr>
              <a:t>The Leader's Anxiety</a:t>
            </a:r>
            <a:endParaRPr lang="en-US" sz="3800" dirty="0"/>
          </a:p>
        </p:txBody>
      </p:sp>
      <p:sp>
        <p:nvSpPr>
          <p:cNvPr id="6" name="Text 3"/>
          <p:cNvSpPr/>
          <p:nvPr/>
        </p:nvSpPr>
        <p:spPr>
          <a:xfrm>
            <a:off x="2286000" y="2148840"/>
            <a:ext cx="8412480" cy="548640"/>
          </a:xfrm>
          <a:prstGeom prst="rect">
            <a:avLst/>
          </a:prstGeom>
          <a:noFill/>
          <a:ln/>
        </p:spPr>
        <p:txBody>
          <a:bodyPr wrap="square" rtlCol="0" anchor="t"/>
          <a:lstStyle/>
          <a:p>
            <a:pPr indent="0" marL="0">
              <a:buNone/>
            </a:pPr>
            <a:r>
              <a:rPr lang="en-US" sz="1450" dirty="0">
                <a:solidFill>
                  <a:srgbClr val="5A6C8F"/>
                </a:solidFill>
                <a:latin typeface="Calibri" pitchFamily="34" charset="0"/>
                <a:ea typeface="Calibri" pitchFamily="34" charset="-122"/>
                <a:cs typeface="Calibri" pitchFamily="34" charset="-120"/>
              </a:rPr>
              <a:t>Every SPM initiative begins with uncertainty.</a:t>
            </a:r>
            <a:endParaRPr lang="en-US" sz="1450" dirty="0"/>
          </a:p>
        </p:txBody>
      </p:sp>
      <p:sp>
        <p:nvSpPr>
          <p:cNvPr id="7" name="Text 4"/>
          <p:cNvSpPr/>
          <p:nvPr/>
        </p:nvSpPr>
        <p:spPr>
          <a:xfrm>
            <a:off x="2286000" y="2880360"/>
            <a:ext cx="7863840" cy="822960"/>
          </a:xfrm>
          <a:prstGeom prst="rect">
            <a:avLst/>
          </a:prstGeom>
          <a:noFill/>
          <a:ln/>
        </p:spPr>
        <p:txBody>
          <a:bodyPr wrap="square" rtlCol="0" anchor="ctr"/>
          <a:lstStyle/>
          <a:p>
            <a:pPr indent="0" marL="0">
              <a:lnSpc>
                <a:spcPts val="1800"/>
              </a:lnSpc>
              <a:buNone/>
            </a:pPr>
            <a:r>
              <a:rPr lang="en-US" sz="1300" i="1" dirty="0">
                <a:solidFill>
                  <a:srgbClr val="C13A3E"/>
                </a:solidFill>
                <a:latin typeface="Calibri" pitchFamily="34" charset="0"/>
                <a:ea typeface="Calibri" pitchFamily="34" charset="-122"/>
                <a:cs typeface="Calibri" pitchFamily="34" charset="-120"/>
              </a:rPr>
              <a:t>“Is this number from Tuesday or from three weeks ago?”</a:t>
            </a:r>
            <a:endParaRPr lang="en-US" sz="1300" dirty="0"/>
          </a:p>
        </p:txBody>
      </p:sp>
      <p:sp>
        <p:nvSpPr>
          <p:cNvPr id="8" name="Text 5"/>
          <p:cNvSpPr/>
          <p:nvPr/>
        </p:nvSpPr>
        <p:spPr>
          <a:xfrm>
            <a:off x="11365992" y="6355080"/>
            <a:ext cx="548640" cy="320040"/>
          </a:xfrm>
          <a:prstGeom prst="rect">
            <a:avLst/>
          </a:prstGeom>
          <a:noFill/>
          <a:ln/>
        </p:spPr>
        <p:txBody>
          <a:bodyPr wrap="square" rtlCol="0" anchor="ctr"/>
          <a:lstStyle/>
          <a:p>
            <a:pPr algn="r" indent="0" marL="0">
              <a:buNone/>
            </a:pPr>
            <a:r>
              <a:rPr lang="en-US" sz="900" dirty="0">
                <a:solidFill>
                  <a:srgbClr val="7C8AA6"/>
                </a:solidFill>
                <a:latin typeface="Consolas" pitchFamily="34" charset="0"/>
                <a:ea typeface="Consolas" pitchFamily="34" charset="-122"/>
                <a:cs typeface="Consolas" pitchFamily="34" charset="-120"/>
              </a:rPr>
              <a:t>05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7315200" cy="274320"/>
          </a:xfrm>
          <a:prstGeom prst="rect">
            <a:avLst/>
          </a:prstGeom>
          <a:noFill/>
          <a:ln/>
        </p:spPr>
        <p:txBody>
          <a:bodyPr wrap="square" rtlCol="0" anchor="ctr"/>
          <a:lstStyle/>
          <a:p>
            <a:pPr indent="0" marL="0">
              <a:buNone/>
            </a:pPr>
            <a:r>
              <a:rPr lang="en-US" sz="1100" b="1" spc="200" kern="0" dirty="0">
                <a:solidFill>
                  <a:srgbClr val="C13A3E"/>
                </a:solidFill>
                <a:latin typeface="Consolas" pitchFamily="34" charset="0"/>
                <a:ea typeface="Consolas" pitchFamily="34" charset="-122"/>
                <a:cs typeface="Consolas" pitchFamily="34" charset="-120"/>
              </a:rPr>
              <a:t>ACT I · CURRENT STATE</a:t>
            </a:r>
            <a:endParaRPr lang="en-US" sz="1100" dirty="0"/>
          </a:p>
        </p:txBody>
      </p:sp>
      <p:sp>
        <p:nvSpPr>
          <p:cNvPr id="3" name="Text 1"/>
          <p:cNvSpPr/>
          <p:nvPr/>
        </p:nvSpPr>
        <p:spPr>
          <a:xfrm>
            <a:off x="548640" y="731520"/>
            <a:ext cx="9144000" cy="548640"/>
          </a:xfrm>
          <a:prstGeom prst="rect">
            <a:avLst/>
          </a:prstGeom>
          <a:noFill/>
          <a:ln/>
        </p:spPr>
        <p:txBody>
          <a:bodyPr wrap="square" rtlCol="0" anchor="ctr"/>
          <a:lstStyle/>
          <a:p>
            <a:pPr indent="0" marL="0">
              <a:buNone/>
            </a:pPr>
            <a:r>
              <a:rPr lang="en-US" sz="2600" b="1" dirty="0">
                <a:solidFill>
                  <a:srgbClr val="1A2233"/>
                </a:solidFill>
                <a:latin typeface="Cambria" pitchFamily="34" charset="0"/>
                <a:ea typeface="Cambria" pitchFamily="34" charset="-122"/>
                <a:cs typeface="Cambria" pitchFamily="34" charset="-120"/>
              </a:rPr>
              <a:t>A portfolio nobody fully trusts</a:t>
            </a:r>
            <a:endParaRPr lang="en-US" sz="2600" dirty="0"/>
          </a:p>
        </p:txBody>
      </p:sp>
      <p:sp>
        <p:nvSpPr>
          <p:cNvPr id="4" name="Text 2"/>
          <p:cNvSpPr/>
          <p:nvPr/>
        </p:nvSpPr>
        <p:spPr>
          <a:xfrm>
            <a:off x="548640" y="1234440"/>
            <a:ext cx="8686800" cy="548640"/>
          </a:xfrm>
          <a:prstGeom prst="rect">
            <a:avLst/>
          </a:prstGeom>
          <a:noFill/>
          <a:ln/>
        </p:spPr>
        <p:txBody>
          <a:bodyPr wrap="square" rtlCol="0" anchor="ctr"/>
          <a:lstStyle/>
          <a:p>
            <a:pPr indent="0" marL="0">
              <a:lnSpc>
                <a:spcPts val="1800"/>
              </a:lnSpc>
              <a:buNone/>
            </a:pPr>
            <a:r>
              <a:rPr lang="en-US" sz="1300" dirty="0">
                <a:solidFill>
                  <a:srgbClr val="5A6C8F"/>
                </a:solidFill>
                <a:latin typeface="Calibri" pitchFamily="34" charset="0"/>
                <a:ea typeface="Calibri" pitchFamily="34" charset="-122"/>
                <a:cs typeface="Calibri" pitchFamily="34" charset="-120"/>
              </a:rPr>
              <a:t>Leaders lack clarity on whether strategy is translating into execution, whether the data can be trusted, and whether progress is real.</a:t>
            </a:r>
            <a:endParaRPr lang="en-US" sz="1300" dirty="0"/>
          </a:p>
        </p:txBody>
      </p:sp>
      <p:sp>
        <p:nvSpPr>
          <p:cNvPr id="5" name="Shape 3"/>
          <p:cNvSpPr/>
          <p:nvPr/>
        </p:nvSpPr>
        <p:spPr>
          <a:xfrm>
            <a:off x="548640" y="1965960"/>
            <a:ext cx="3520440" cy="1463040"/>
          </a:xfrm>
          <a:prstGeom prst="roundRect">
            <a:avLst>
              <a:gd name="adj" fmla="val 5000"/>
            </a:avLst>
          </a:prstGeom>
          <a:solidFill>
            <a:srgbClr val="F5F7FA"/>
          </a:solidFill>
          <a:ln w="12700">
            <a:solidFill>
              <a:srgbClr val="E1E6EF"/>
            </a:solidFill>
            <a:prstDash val="solid"/>
          </a:ln>
        </p:spPr>
        <p:txBody>
          <a:bodyPr/>
          <a:p/>
        </p:txBody>
      </p:sp>
      <p:sp>
        <p:nvSpPr>
          <p:cNvPr id="6" name="Text 4"/>
          <p:cNvSpPr/>
          <p:nvPr/>
        </p:nvSpPr>
        <p:spPr>
          <a:xfrm>
            <a:off x="777240" y="2103120"/>
            <a:ext cx="3063240" cy="804672"/>
          </a:xfrm>
          <a:prstGeom prst="rect">
            <a:avLst/>
          </a:prstGeom>
          <a:noFill/>
          <a:ln/>
        </p:spPr>
        <p:txBody>
          <a:bodyPr wrap="square" rtlCol="0" anchor="b"/>
          <a:lstStyle/>
          <a:p>
            <a:pPr algn="l" indent="0" marL="0">
              <a:buNone/>
            </a:pPr>
            <a:r>
              <a:rPr lang="en-US" sz="3000" b="1" dirty="0">
                <a:solidFill>
                  <a:srgbClr val="C13A3E"/>
                </a:solidFill>
                <a:latin typeface="Consolas" pitchFamily="34" charset="0"/>
                <a:ea typeface="Consolas" pitchFamily="34" charset="-122"/>
                <a:cs typeface="Consolas" pitchFamily="34" charset="-120"/>
              </a:rPr>
              <a:t>62%</a:t>
            </a:r>
            <a:endParaRPr lang="en-US" sz="3000" dirty="0"/>
          </a:p>
        </p:txBody>
      </p:sp>
      <p:sp>
        <p:nvSpPr>
          <p:cNvPr id="7" name="Text 5"/>
          <p:cNvSpPr/>
          <p:nvPr/>
        </p:nvSpPr>
        <p:spPr>
          <a:xfrm>
            <a:off x="777240" y="2843784"/>
            <a:ext cx="3063240" cy="512064"/>
          </a:xfrm>
          <a:prstGeom prst="rect">
            <a:avLst/>
          </a:prstGeom>
          <a:noFill/>
          <a:ln/>
        </p:spPr>
        <p:txBody>
          <a:bodyPr wrap="square" rtlCol="0" anchor="t"/>
          <a:lstStyle/>
          <a:p>
            <a:pPr algn="l" indent="0" marL="0">
              <a:buNone/>
            </a:pPr>
            <a:r>
              <a:rPr lang="en-US" sz="1100" dirty="0">
                <a:solidFill>
                  <a:srgbClr val="5A6C8F"/>
                </a:solidFill>
                <a:latin typeface="Calibri" pitchFamily="34" charset="0"/>
                <a:ea typeface="Calibri" pitchFamily="34" charset="-122"/>
                <a:cs typeface="Calibri" pitchFamily="34" charset="-120"/>
              </a:rPr>
              <a:t>Initiatives with a manually-set RAG status (no underlying data model)</a:t>
            </a:r>
            <a:endParaRPr lang="en-US" sz="1100" dirty="0"/>
          </a:p>
        </p:txBody>
      </p:sp>
      <p:sp>
        <p:nvSpPr>
          <p:cNvPr id="8" name="Shape 6"/>
          <p:cNvSpPr/>
          <p:nvPr/>
        </p:nvSpPr>
        <p:spPr>
          <a:xfrm>
            <a:off x="4206240" y="1965960"/>
            <a:ext cx="3520440" cy="1463040"/>
          </a:xfrm>
          <a:prstGeom prst="roundRect">
            <a:avLst>
              <a:gd name="adj" fmla="val 5000"/>
            </a:avLst>
          </a:prstGeom>
          <a:solidFill>
            <a:srgbClr val="F5F7FA"/>
          </a:solidFill>
          <a:ln w="12700">
            <a:solidFill>
              <a:srgbClr val="E1E6EF"/>
            </a:solidFill>
            <a:prstDash val="solid"/>
          </a:ln>
        </p:spPr>
        <p:txBody>
          <a:bodyPr/>
          <a:p/>
        </p:txBody>
      </p:sp>
      <p:sp>
        <p:nvSpPr>
          <p:cNvPr id="9" name="Text 7"/>
          <p:cNvSpPr/>
          <p:nvPr/>
        </p:nvSpPr>
        <p:spPr>
          <a:xfrm>
            <a:off x="4434840" y="2103120"/>
            <a:ext cx="3063240" cy="804672"/>
          </a:xfrm>
          <a:prstGeom prst="rect">
            <a:avLst/>
          </a:prstGeom>
          <a:noFill/>
          <a:ln/>
        </p:spPr>
        <p:txBody>
          <a:bodyPr wrap="square" rtlCol="0" anchor="b"/>
          <a:lstStyle/>
          <a:p>
            <a:pPr algn="l" indent="0" marL="0">
              <a:buNone/>
            </a:pPr>
            <a:r>
              <a:rPr lang="en-US" sz="3000" b="1" dirty="0">
                <a:solidFill>
                  <a:srgbClr val="B8720C"/>
                </a:solidFill>
                <a:latin typeface="Consolas" pitchFamily="34" charset="0"/>
                <a:ea typeface="Consolas" pitchFamily="34" charset="-122"/>
                <a:cs typeface="Consolas" pitchFamily="34" charset="-120"/>
              </a:rPr>
              <a:t>11 days</a:t>
            </a:r>
            <a:endParaRPr lang="en-US" sz="3000" dirty="0"/>
          </a:p>
        </p:txBody>
      </p:sp>
      <p:sp>
        <p:nvSpPr>
          <p:cNvPr id="10" name="Text 8"/>
          <p:cNvSpPr/>
          <p:nvPr/>
        </p:nvSpPr>
        <p:spPr>
          <a:xfrm>
            <a:off x="4434840" y="2843784"/>
            <a:ext cx="3063240" cy="512064"/>
          </a:xfrm>
          <a:prstGeom prst="rect">
            <a:avLst/>
          </a:prstGeom>
          <a:noFill/>
          <a:ln/>
        </p:spPr>
        <p:txBody>
          <a:bodyPr wrap="square" rtlCol="0" anchor="t"/>
          <a:lstStyle/>
          <a:p>
            <a:pPr algn="l" indent="0" marL="0">
              <a:buNone/>
            </a:pPr>
            <a:r>
              <a:rPr lang="en-US" sz="1100" dirty="0">
                <a:solidFill>
                  <a:srgbClr val="5A6C8F"/>
                </a:solidFill>
                <a:latin typeface="Calibri" pitchFamily="34" charset="0"/>
                <a:ea typeface="Calibri" pitchFamily="34" charset="-122"/>
                <a:cs typeface="Calibri" pitchFamily="34" charset="-120"/>
              </a:rPr>
              <a:t>Average staleness of the "current" portfolio report</a:t>
            </a:r>
            <a:endParaRPr lang="en-US" sz="1100" dirty="0"/>
          </a:p>
        </p:txBody>
      </p:sp>
      <p:sp>
        <p:nvSpPr>
          <p:cNvPr id="11" name="Shape 9"/>
          <p:cNvSpPr/>
          <p:nvPr/>
        </p:nvSpPr>
        <p:spPr>
          <a:xfrm>
            <a:off x="7863840" y="1965960"/>
            <a:ext cx="3520440" cy="1463040"/>
          </a:xfrm>
          <a:prstGeom prst="roundRect">
            <a:avLst>
              <a:gd name="adj" fmla="val 5000"/>
            </a:avLst>
          </a:prstGeom>
          <a:solidFill>
            <a:srgbClr val="F5F7FA"/>
          </a:solidFill>
          <a:ln w="12700">
            <a:solidFill>
              <a:srgbClr val="E1E6EF"/>
            </a:solidFill>
            <a:prstDash val="solid"/>
          </a:ln>
        </p:spPr>
        <p:txBody>
          <a:bodyPr/>
          <a:p/>
        </p:txBody>
      </p:sp>
      <p:sp>
        <p:nvSpPr>
          <p:cNvPr id="12" name="Text 10"/>
          <p:cNvSpPr/>
          <p:nvPr/>
        </p:nvSpPr>
        <p:spPr>
          <a:xfrm>
            <a:off x="8092440" y="2103120"/>
            <a:ext cx="3063240" cy="804672"/>
          </a:xfrm>
          <a:prstGeom prst="rect">
            <a:avLst/>
          </a:prstGeom>
          <a:noFill/>
          <a:ln/>
        </p:spPr>
        <p:txBody>
          <a:bodyPr wrap="square" rtlCol="0" anchor="b"/>
          <a:lstStyle/>
          <a:p>
            <a:pPr algn="l" indent="0" marL="0">
              <a:buNone/>
            </a:pPr>
            <a:r>
              <a:rPr lang="en-US" sz="3000" b="1" dirty="0">
                <a:solidFill>
                  <a:srgbClr val="C13A3E"/>
                </a:solidFill>
                <a:latin typeface="Consolas" pitchFamily="34" charset="0"/>
                <a:ea typeface="Consolas" pitchFamily="34" charset="-122"/>
                <a:cs typeface="Consolas" pitchFamily="34" charset="-120"/>
              </a:rPr>
              <a:t>3</a:t>
            </a:r>
            <a:endParaRPr lang="en-US" sz="3000" dirty="0"/>
          </a:p>
        </p:txBody>
      </p:sp>
      <p:sp>
        <p:nvSpPr>
          <p:cNvPr id="13" name="Text 11"/>
          <p:cNvSpPr/>
          <p:nvPr/>
        </p:nvSpPr>
        <p:spPr>
          <a:xfrm>
            <a:off x="8092440" y="2843784"/>
            <a:ext cx="3063240" cy="512064"/>
          </a:xfrm>
          <a:prstGeom prst="rect">
            <a:avLst/>
          </a:prstGeom>
          <a:noFill/>
          <a:ln/>
        </p:spPr>
        <p:txBody>
          <a:bodyPr wrap="square" rtlCol="0" anchor="t"/>
          <a:lstStyle/>
          <a:p>
            <a:pPr algn="l" indent="0" marL="0">
              <a:buNone/>
            </a:pPr>
            <a:r>
              <a:rPr lang="en-US" sz="1100" dirty="0">
                <a:solidFill>
                  <a:srgbClr val="5A6C8F"/>
                </a:solidFill>
                <a:latin typeface="Calibri" pitchFamily="34" charset="0"/>
                <a:ea typeface="Calibri" pitchFamily="34" charset="-122"/>
                <a:cs typeface="Calibri" pitchFamily="34" charset="-120"/>
              </a:rPr>
              <a:t>Conflicting versions of "the numbers" in this week's steering deck</a:t>
            </a:r>
            <a:endParaRPr lang="en-US" sz="1100" dirty="0"/>
          </a:p>
        </p:txBody>
      </p:sp>
      <p:sp>
        <p:nvSpPr>
          <p:cNvPr id="14" name="Shape 12"/>
          <p:cNvSpPr/>
          <p:nvPr/>
        </p:nvSpPr>
        <p:spPr>
          <a:xfrm>
            <a:off x="548640" y="3703320"/>
            <a:ext cx="10835640" cy="2468880"/>
          </a:xfrm>
          <a:prstGeom prst="roundRect">
            <a:avLst>
              <a:gd name="adj" fmla="val 2222"/>
            </a:avLst>
          </a:prstGeom>
          <a:solidFill>
            <a:srgbClr val="EDF1F7"/>
          </a:solidFill>
          <a:ln w="12700">
            <a:solidFill>
              <a:srgbClr val="E1E6EF"/>
            </a:solidFill>
            <a:prstDash val="solid"/>
          </a:ln>
        </p:spPr>
        <p:txBody>
          <a:bodyPr/>
          <a:p/>
        </p:txBody>
      </p:sp>
      <p:sp>
        <p:nvSpPr>
          <p:cNvPr id="15" name="Text 13"/>
          <p:cNvSpPr/>
          <p:nvPr/>
        </p:nvSpPr>
        <p:spPr>
          <a:xfrm>
            <a:off x="868680" y="3886200"/>
            <a:ext cx="5486400" cy="365760"/>
          </a:xfrm>
          <a:prstGeom prst="rect">
            <a:avLst/>
          </a:prstGeom>
          <a:noFill/>
          <a:ln/>
        </p:spPr>
        <p:txBody>
          <a:bodyPr wrap="square" rtlCol="0" anchor="ctr"/>
          <a:lstStyle/>
          <a:p>
            <a:pPr indent="0" marL="0">
              <a:buNone/>
            </a:pPr>
            <a:r>
              <a:rPr lang="en-US" sz="1200" b="1" dirty="0">
                <a:solidFill>
                  <a:srgbClr val="1A2233"/>
                </a:solidFill>
                <a:latin typeface="Consolas" pitchFamily="34" charset="0"/>
                <a:ea typeface="Consolas" pitchFamily="34" charset="-122"/>
                <a:cs typeface="Consolas" pitchFamily="34" charset="-120"/>
              </a:rPr>
              <a:t>Q3 Portfolio Status — Master Tracker.xlsx</a:t>
            </a:r>
            <a:endParaRPr lang="en-US" sz="1200" dirty="0"/>
          </a:p>
        </p:txBody>
      </p:sp>
      <p:sp>
        <p:nvSpPr>
          <p:cNvPr id="16" name="Text 14"/>
          <p:cNvSpPr/>
          <p:nvPr/>
        </p:nvSpPr>
        <p:spPr>
          <a:xfrm>
            <a:off x="868680" y="4206240"/>
            <a:ext cx="5486400" cy="274320"/>
          </a:xfrm>
          <a:prstGeom prst="rect">
            <a:avLst/>
          </a:prstGeom>
          <a:noFill/>
          <a:ln/>
        </p:spPr>
        <p:txBody>
          <a:bodyPr wrap="square" rtlCol="0" anchor="ctr"/>
          <a:lstStyle/>
          <a:p>
            <a:pPr indent="0" marL="0">
              <a:buNone/>
            </a:pPr>
            <a:r>
              <a:rPr lang="en-US" sz="1000" i="1" dirty="0">
                <a:solidFill>
                  <a:srgbClr val="7C8AA6"/>
                </a:solidFill>
                <a:latin typeface="Calibri" pitchFamily="34" charset="0"/>
                <a:ea typeface="Calibri" pitchFamily="34" charset="-122"/>
                <a:cs typeface="Calibri" pitchFamily="34" charset="-120"/>
              </a:rPr>
              <a:t>Manually maintained · last saved 11 days ago</a:t>
            </a:r>
            <a:endParaRPr lang="en-US" sz="1000" dirty="0"/>
          </a:p>
        </p:txBody>
      </p:sp>
      <p:sp>
        <p:nvSpPr>
          <p:cNvPr id="17" name="Shape 15"/>
          <p:cNvSpPr/>
          <p:nvPr/>
        </p:nvSpPr>
        <p:spPr>
          <a:xfrm>
            <a:off x="868680" y="4690872"/>
            <a:ext cx="109728" cy="109728"/>
          </a:xfrm>
          <a:prstGeom prst="ellipse">
            <a:avLst/>
          </a:prstGeom>
          <a:solidFill>
            <a:srgbClr val="0F8577"/>
          </a:solidFill>
          <a:ln/>
        </p:spPr>
        <p:txBody>
          <a:bodyPr/>
          <a:p/>
        </p:txBody>
      </p:sp>
      <p:sp>
        <p:nvSpPr>
          <p:cNvPr id="18" name="Text 16"/>
          <p:cNvSpPr/>
          <p:nvPr/>
        </p:nvSpPr>
        <p:spPr>
          <a:xfrm>
            <a:off x="1097280" y="4617720"/>
            <a:ext cx="3291840" cy="274320"/>
          </a:xfrm>
          <a:prstGeom prst="rect">
            <a:avLst/>
          </a:prstGeom>
          <a:noFill/>
          <a:ln/>
        </p:spPr>
        <p:txBody>
          <a:bodyPr wrap="square" rtlCol="0" anchor="ctr"/>
          <a:lstStyle/>
          <a:p>
            <a:pPr indent="0" marL="0">
              <a:buNone/>
            </a:pPr>
            <a:r>
              <a:rPr lang="en-US" sz="1100" dirty="0">
                <a:solidFill>
                  <a:srgbClr val="1A2233"/>
                </a:solidFill>
                <a:latin typeface="Calibri" pitchFamily="34" charset="0"/>
                <a:ea typeface="Calibri" pitchFamily="34" charset="-122"/>
                <a:cs typeface="Calibri" pitchFamily="34" charset="-120"/>
              </a:rPr>
              <a:t>Core Billing Re-platform</a:t>
            </a:r>
            <a:endParaRPr lang="en-US" sz="1100" dirty="0"/>
          </a:p>
        </p:txBody>
      </p:sp>
      <p:sp>
        <p:nvSpPr>
          <p:cNvPr id="19" name="Text 17"/>
          <p:cNvSpPr/>
          <p:nvPr/>
        </p:nvSpPr>
        <p:spPr>
          <a:xfrm>
            <a:off x="4480560" y="4617720"/>
            <a:ext cx="1005840" cy="274320"/>
          </a:xfrm>
          <a:prstGeom prst="rect">
            <a:avLst/>
          </a:prstGeom>
          <a:noFill/>
          <a:ln/>
        </p:spPr>
        <p:txBody>
          <a:bodyPr wrap="square" rtlCol="0" anchor="ctr"/>
          <a:lstStyle/>
          <a:p>
            <a:pPr indent="0" marL="0">
              <a:buNone/>
            </a:pPr>
            <a:r>
              <a:rPr lang="en-US" sz="1000" dirty="0">
                <a:solidFill>
                  <a:srgbClr val="0F8577"/>
                </a:solidFill>
                <a:latin typeface="Consolas" pitchFamily="34" charset="0"/>
                <a:ea typeface="Consolas" pitchFamily="34" charset="-122"/>
                <a:cs typeface="Consolas" pitchFamily="34" charset="-120"/>
              </a:rPr>
              <a:t>Green</a:t>
            </a:r>
            <a:endParaRPr lang="en-US" sz="1000" dirty="0"/>
          </a:p>
        </p:txBody>
      </p:sp>
      <p:sp>
        <p:nvSpPr>
          <p:cNvPr id="20" name="Text 18"/>
          <p:cNvSpPr/>
          <p:nvPr/>
        </p:nvSpPr>
        <p:spPr>
          <a:xfrm>
            <a:off x="5577840" y="4617720"/>
            <a:ext cx="822960" cy="274320"/>
          </a:xfrm>
          <a:prstGeom prst="rect">
            <a:avLst/>
          </a:prstGeom>
          <a:noFill/>
          <a:ln/>
        </p:spPr>
        <p:txBody>
          <a:bodyPr wrap="square" rtlCol="0" anchor="ctr"/>
          <a:lstStyle/>
          <a:p>
            <a:pPr indent="0" marL="0">
              <a:buNone/>
            </a:pPr>
            <a:r>
              <a:rPr lang="en-US" sz="1000" dirty="0">
                <a:solidFill>
                  <a:srgbClr val="5A6C8F"/>
                </a:solidFill>
                <a:latin typeface="Consolas" pitchFamily="34" charset="0"/>
                <a:ea typeface="Consolas" pitchFamily="34" charset="-122"/>
                <a:cs typeface="Consolas" pitchFamily="34" charset="-120"/>
              </a:rPr>
              <a:t>61%</a:t>
            </a:r>
            <a:endParaRPr lang="en-US" sz="1000" dirty="0"/>
          </a:p>
        </p:txBody>
      </p:sp>
      <p:sp>
        <p:nvSpPr>
          <p:cNvPr id="21" name="Text 19"/>
          <p:cNvSpPr/>
          <p:nvPr/>
        </p:nvSpPr>
        <p:spPr>
          <a:xfrm>
            <a:off x="6492240" y="4617720"/>
            <a:ext cx="4572000" cy="274320"/>
          </a:xfrm>
          <a:prstGeom prst="rect">
            <a:avLst/>
          </a:prstGeom>
          <a:noFill/>
          <a:ln/>
        </p:spPr>
        <p:txBody>
          <a:bodyPr wrap="square" rtlCol="0" anchor="ctr"/>
          <a:lstStyle/>
          <a:p>
            <a:pPr indent="0" marL="0">
              <a:buNone/>
            </a:pPr>
            <a:r>
              <a:rPr lang="en-US" sz="1050" i="1" dirty="0">
                <a:solidFill>
                  <a:srgbClr val="7C8AA6"/>
                </a:solidFill>
                <a:latin typeface="Calibri" pitchFamily="34" charset="0"/>
                <a:ea typeface="Calibri" pitchFamily="34" charset="-122"/>
                <a:cs typeface="Calibri" pitchFamily="34" charset="-120"/>
              </a:rPr>
              <a:t>“on track” (as of 2 wks ago)</a:t>
            </a:r>
            <a:endParaRPr lang="en-US" sz="1050" dirty="0"/>
          </a:p>
        </p:txBody>
      </p:sp>
      <p:sp>
        <p:nvSpPr>
          <p:cNvPr id="22" name="Shape 20"/>
          <p:cNvSpPr/>
          <p:nvPr/>
        </p:nvSpPr>
        <p:spPr>
          <a:xfrm>
            <a:off x="868680" y="5074920"/>
            <a:ext cx="109728" cy="109728"/>
          </a:xfrm>
          <a:prstGeom prst="ellipse">
            <a:avLst/>
          </a:prstGeom>
          <a:solidFill>
            <a:srgbClr val="B8720C"/>
          </a:solidFill>
          <a:ln/>
        </p:spPr>
        <p:txBody>
          <a:bodyPr/>
          <a:p/>
        </p:txBody>
      </p:sp>
      <p:sp>
        <p:nvSpPr>
          <p:cNvPr id="23" name="Text 21"/>
          <p:cNvSpPr/>
          <p:nvPr/>
        </p:nvSpPr>
        <p:spPr>
          <a:xfrm>
            <a:off x="1097280" y="5001768"/>
            <a:ext cx="3291840" cy="274320"/>
          </a:xfrm>
          <a:prstGeom prst="rect">
            <a:avLst/>
          </a:prstGeom>
          <a:noFill/>
          <a:ln/>
        </p:spPr>
        <p:txBody>
          <a:bodyPr wrap="square" rtlCol="0" anchor="ctr"/>
          <a:lstStyle/>
          <a:p>
            <a:pPr indent="0" marL="0">
              <a:buNone/>
            </a:pPr>
            <a:r>
              <a:rPr lang="en-US" sz="1100" dirty="0">
                <a:solidFill>
                  <a:srgbClr val="1A2233"/>
                </a:solidFill>
                <a:latin typeface="Calibri" pitchFamily="34" charset="0"/>
                <a:ea typeface="Calibri" pitchFamily="34" charset="-122"/>
                <a:cs typeface="Calibri" pitchFamily="34" charset="-120"/>
              </a:rPr>
              <a:t>Customer Data Unification</a:t>
            </a:r>
            <a:endParaRPr lang="en-US" sz="1100" dirty="0"/>
          </a:p>
        </p:txBody>
      </p:sp>
      <p:sp>
        <p:nvSpPr>
          <p:cNvPr id="24" name="Text 22"/>
          <p:cNvSpPr/>
          <p:nvPr/>
        </p:nvSpPr>
        <p:spPr>
          <a:xfrm>
            <a:off x="4480560" y="5001768"/>
            <a:ext cx="1005840" cy="274320"/>
          </a:xfrm>
          <a:prstGeom prst="rect">
            <a:avLst/>
          </a:prstGeom>
          <a:noFill/>
          <a:ln/>
        </p:spPr>
        <p:txBody>
          <a:bodyPr wrap="square" rtlCol="0" anchor="ctr"/>
          <a:lstStyle/>
          <a:p>
            <a:pPr indent="0" marL="0">
              <a:buNone/>
            </a:pPr>
            <a:r>
              <a:rPr lang="en-US" sz="1000" dirty="0">
                <a:solidFill>
                  <a:srgbClr val="B8720C"/>
                </a:solidFill>
                <a:latin typeface="Consolas" pitchFamily="34" charset="0"/>
                <a:ea typeface="Consolas" pitchFamily="34" charset="-122"/>
                <a:cs typeface="Consolas" pitchFamily="34" charset="-120"/>
              </a:rPr>
              <a:t>Yellow</a:t>
            </a:r>
            <a:endParaRPr lang="en-US" sz="1000" dirty="0"/>
          </a:p>
        </p:txBody>
      </p:sp>
      <p:sp>
        <p:nvSpPr>
          <p:cNvPr id="25" name="Text 23"/>
          <p:cNvSpPr/>
          <p:nvPr/>
        </p:nvSpPr>
        <p:spPr>
          <a:xfrm>
            <a:off x="5577840" y="5001768"/>
            <a:ext cx="822960" cy="274320"/>
          </a:xfrm>
          <a:prstGeom prst="rect">
            <a:avLst/>
          </a:prstGeom>
          <a:noFill/>
          <a:ln/>
        </p:spPr>
        <p:txBody>
          <a:bodyPr wrap="square" rtlCol="0" anchor="ctr"/>
          <a:lstStyle/>
          <a:p>
            <a:pPr indent="0" marL="0">
              <a:buNone/>
            </a:pPr>
            <a:r>
              <a:rPr lang="en-US" sz="1000" dirty="0">
                <a:solidFill>
                  <a:srgbClr val="5A6C8F"/>
                </a:solidFill>
                <a:latin typeface="Consolas" pitchFamily="34" charset="0"/>
                <a:ea typeface="Consolas" pitchFamily="34" charset="-122"/>
                <a:cs typeface="Consolas" pitchFamily="34" charset="-120"/>
              </a:rPr>
              <a:t>44%</a:t>
            </a:r>
            <a:endParaRPr lang="en-US" sz="1000" dirty="0"/>
          </a:p>
        </p:txBody>
      </p:sp>
      <p:sp>
        <p:nvSpPr>
          <p:cNvPr id="26" name="Text 24"/>
          <p:cNvSpPr/>
          <p:nvPr/>
        </p:nvSpPr>
        <p:spPr>
          <a:xfrm>
            <a:off x="6492240" y="5001768"/>
            <a:ext cx="4572000" cy="274320"/>
          </a:xfrm>
          <a:prstGeom prst="rect">
            <a:avLst/>
          </a:prstGeom>
          <a:noFill/>
          <a:ln/>
        </p:spPr>
        <p:txBody>
          <a:bodyPr wrap="square" rtlCol="0" anchor="ctr"/>
          <a:lstStyle/>
          <a:p>
            <a:pPr indent="0" marL="0">
              <a:buNone/>
            </a:pPr>
            <a:r>
              <a:rPr lang="en-US" sz="1050" i="1" dirty="0">
                <a:solidFill>
                  <a:srgbClr val="7C8AA6"/>
                </a:solidFill>
                <a:latin typeface="Calibri" pitchFamily="34" charset="0"/>
                <a:ea typeface="Calibri" pitchFamily="34" charset="-122"/>
                <a:cs typeface="Calibri" pitchFamily="34" charset="-120"/>
              </a:rPr>
              <a:t>Waiting on infra team?</a:t>
            </a:r>
            <a:endParaRPr lang="en-US" sz="1050" dirty="0"/>
          </a:p>
        </p:txBody>
      </p:sp>
      <p:sp>
        <p:nvSpPr>
          <p:cNvPr id="27" name="Shape 25"/>
          <p:cNvSpPr/>
          <p:nvPr/>
        </p:nvSpPr>
        <p:spPr>
          <a:xfrm>
            <a:off x="868680" y="5458968"/>
            <a:ext cx="109728" cy="109728"/>
          </a:xfrm>
          <a:prstGeom prst="ellipse">
            <a:avLst/>
          </a:prstGeom>
          <a:solidFill>
            <a:srgbClr val="C13A3E"/>
          </a:solidFill>
          <a:ln/>
        </p:spPr>
        <p:txBody>
          <a:bodyPr/>
          <a:p/>
        </p:txBody>
      </p:sp>
      <p:sp>
        <p:nvSpPr>
          <p:cNvPr id="28" name="Text 26"/>
          <p:cNvSpPr/>
          <p:nvPr/>
        </p:nvSpPr>
        <p:spPr>
          <a:xfrm>
            <a:off x="1097280" y="5385816"/>
            <a:ext cx="3291840" cy="274320"/>
          </a:xfrm>
          <a:prstGeom prst="rect">
            <a:avLst/>
          </a:prstGeom>
          <a:noFill/>
          <a:ln/>
        </p:spPr>
        <p:txBody>
          <a:bodyPr wrap="square" rtlCol="0" anchor="ctr"/>
          <a:lstStyle/>
          <a:p>
            <a:pPr indent="0" marL="0">
              <a:buNone/>
            </a:pPr>
            <a:r>
              <a:rPr lang="en-US" sz="1100" dirty="0">
                <a:solidFill>
                  <a:srgbClr val="1A2233"/>
                </a:solidFill>
                <a:latin typeface="Calibri" pitchFamily="34" charset="0"/>
                <a:ea typeface="Calibri" pitchFamily="34" charset="-122"/>
                <a:cs typeface="Calibri" pitchFamily="34" charset="-120"/>
              </a:rPr>
              <a:t>Fraud Detection ML Pipeline</a:t>
            </a:r>
            <a:endParaRPr lang="en-US" sz="1100" dirty="0"/>
          </a:p>
        </p:txBody>
      </p:sp>
      <p:sp>
        <p:nvSpPr>
          <p:cNvPr id="29" name="Text 27"/>
          <p:cNvSpPr/>
          <p:nvPr/>
        </p:nvSpPr>
        <p:spPr>
          <a:xfrm>
            <a:off x="4480560" y="5385816"/>
            <a:ext cx="1005840" cy="274320"/>
          </a:xfrm>
          <a:prstGeom prst="rect">
            <a:avLst/>
          </a:prstGeom>
          <a:noFill/>
          <a:ln/>
        </p:spPr>
        <p:txBody>
          <a:bodyPr wrap="square" rtlCol="0" anchor="ctr"/>
          <a:lstStyle/>
          <a:p>
            <a:pPr indent="0" marL="0">
              <a:buNone/>
            </a:pPr>
            <a:r>
              <a:rPr lang="en-US" sz="1000" dirty="0">
                <a:solidFill>
                  <a:srgbClr val="C13A3E"/>
                </a:solidFill>
                <a:latin typeface="Consolas" pitchFamily="34" charset="0"/>
                <a:ea typeface="Consolas" pitchFamily="34" charset="-122"/>
                <a:cs typeface="Consolas" pitchFamily="34" charset="-120"/>
              </a:rPr>
              <a:t>Red</a:t>
            </a:r>
            <a:endParaRPr lang="en-US" sz="1000" dirty="0"/>
          </a:p>
        </p:txBody>
      </p:sp>
      <p:sp>
        <p:nvSpPr>
          <p:cNvPr id="30" name="Text 28"/>
          <p:cNvSpPr/>
          <p:nvPr/>
        </p:nvSpPr>
        <p:spPr>
          <a:xfrm>
            <a:off x="5577840" y="5385816"/>
            <a:ext cx="822960" cy="274320"/>
          </a:xfrm>
          <a:prstGeom prst="rect">
            <a:avLst/>
          </a:prstGeom>
          <a:noFill/>
          <a:ln/>
        </p:spPr>
        <p:txBody>
          <a:bodyPr wrap="square" rtlCol="0" anchor="ctr"/>
          <a:lstStyle/>
          <a:p>
            <a:pPr indent="0" marL="0">
              <a:buNone/>
            </a:pPr>
            <a:r>
              <a:rPr lang="en-US" sz="1000" dirty="0">
                <a:solidFill>
                  <a:srgbClr val="5A6C8F"/>
                </a:solidFill>
                <a:latin typeface="Consolas" pitchFamily="34" charset="0"/>
                <a:ea typeface="Consolas" pitchFamily="34" charset="-122"/>
                <a:cs typeface="Consolas" pitchFamily="34" charset="-120"/>
              </a:rPr>
              <a:t>29%</a:t>
            </a:r>
            <a:endParaRPr lang="en-US" sz="1000" dirty="0"/>
          </a:p>
        </p:txBody>
      </p:sp>
      <p:sp>
        <p:nvSpPr>
          <p:cNvPr id="31" name="Text 29"/>
          <p:cNvSpPr/>
          <p:nvPr/>
        </p:nvSpPr>
        <p:spPr>
          <a:xfrm>
            <a:off x="6492240" y="5385816"/>
            <a:ext cx="4572000" cy="274320"/>
          </a:xfrm>
          <a:prstGeom prst="rect">
            <a:avLst/>
          </a:prstGeom>
          <a:noFill/>
          <a:ln/>
        </p:spPr>
        <p:txBody>
          <a:bodyPr wrap="square" rtlCol="0" anchor="ctr"/>
          <a:lstStyle/>
          <a:p>
            <a:pPr indent="0" marL="0">
              <a:buNone/>
            </a:pPr>
            <a:r>
              <a:rPr lang="en-US" sz="1050" i="1" dirty="0">
                <a:solidFill>
                  <a:srgbClr val="7C8AA6"/>
                </a:solidFill>
                <a:latin typeface="Calibri" pitchFamily="34" charset="0"/>
                <a:ea typeface="Calibri" pitchFamily="34" charset="-122"/>
                <a:cs typeface="Calibri" pitchFamily="34" charset="-120"/>
              </a:rPr>
              <a:t>Escalated in email, not here</a:t>
            </a:r>
            <a:endParaRPr lang="en-US" sz="1050" dirty="0"/>
          </a:p>
        </p:txBody>
      </p:sp>
      <p:sp>
        <p:nvSpPr>
          <p:cNvPr id="32" name="Shape 30"/>
          <p:cNvSpPr/>
          <p:nvPr/>
        </p:nvSpPr>
        <p:spPr>
          <a:xfrm>
            <a:off x="868680" y="5843016"/>
            <a:ext cx="109728" cy="109728"/>
          </a:xfrm>
          <a:prstGeom prst="ellipse">
            <a:avLst/>
          </a:prstGeom>
          <a:solidFill>
            <a:srgbClr val="B8720C"/>
          </a:solidFill>
          <a:ln/>
        </p:spPr>
        <p:txBody>
          <a:bodyPr/>
          <a:p/>
        </p:txBody>
      </p:sp>
      <p:sp>
        <p:nvSpPr>
          <p:cNvPr id="33" name="Text 31"/>
          <p:cNvSpPr/>
          <p:nvPr/>
        </p:nvSpPr>
        <p:spPr>
          <a:xfrm>
            <a:off x="1097280" y="5769864"/>
            <a:ext cx="3291840" cy="274320"/>
          </a:xfrm>
          <a:prstGeom prst="rect">
            <a:avLst/>
          </a:prstGeom>
          <a:noFill/>
          <a:ln/>
        </p:spPr>
        <p:txBody>
          <a:bodyPr wrap="square" rtlCol="0" anchor="ctr"/>
          <a:lstStyle/>
          <a:p>
            <a:pPr indent="0" marL="0">
              <a:buNone/>
            </a:pPr>
            <a:r>
              <a:rPr lang="en-US" sz="1100" dirty="0">
                <a:solidFill>
                  <a:srgbClr val="1A2233"/>
                </a:solidFill>
                <a:latin typeface="Calibri" pitchFamily="34" charset="0"/>
                <a:ea typeface="Calibri" pitchFamily="34" charset="-122"/>
                <a:cs typeface="Calibri" pitchFamily="34" charset="-120"/>
              </a:rPr>
              <a:t>Legacy CRM Sunset</a:t>
            </a:r>
            <a:endParaRPr lang="en-US" sz="1100" dirty="0"/>
          </a:p>
        </p:txBody>
      </p:sp>
      <p:sp>
        <p:nvSpPr>
          <p:cNvPr id="34" name="Text 32"/>
          <p:cNvSpPr/>
          <p:nvPr/>
        </p:nvSpPr>
        <p:spPr>
          <a:xfrm>
            <a:off x="4480560" y="5769864"/>
            <a:ext cx="1005840" cy="274320"/>
          </a:xfrm>
          <a:prstGeom prst="rect">
            <a:avLst/>
          </a:prstGeom>
          <a:noFill/>
          <a:ln/>
        </p:spPr>
        <p:txBody>
          <a:bodyPr wrap="square" rtlCol="0" anchor="ctr"/>
          <a:lstStyle/>
          <a:p>
            <a:pPr indent="0" marL="0">
              <a:buNone/>
            </a:pPr>
            <a:r>
              <a:rPr lang="en-US" sz="1000" dirty="0">
                <a:solidFill>
                  <a:srgbClr val="B8720C"/>
                </a:solidFill>
                <a:latin typeface="Consolas" pitchFamily="34" charset="0"/>
                <a:ea typeface="Consolas" pitchFamily="34" charset="-122"/>
                <a:cs typeface="Consolas" pitchFamily="34" charset="-120"/>
              </a:rPr>
              <a:t>Yellow</a:t>
            </a:r>
            <a:endParaRPr lang="en-US" sz="1000" dirty="0"/>
          </a:p>
        </p:txBody>
      </p:sp>
      <p:sp>
        <p:nvSpPr>
          <p:cNvPr id="35" name="Text 33"/>
          <p:cNvSpPr/>
          <p:nvPr/>
        </p:nvSpPr>
        <p:spPr>
          <a:xfrm>
            <a:off x="5577840" y="5769864"/>
            <a:ext cx="822960" cy="274320"/>
          </a:xfrm>
          <a:prstGeom prst="rect">
            <a:avLst/>
          </a:prstGeom>
          <a:noFill/>
          <a:ln/>
        </p:spPr>
        <p:txBody>
          <a:bodyPr wrap="square" rtlCol="0" anchor="ctr"/>
          <a:lstStyle/>
          <a:p>
            <a:pPr indent="0" marL="0">
              <a:buNone/>
            </a:pPr>
            <a:r>
              <a:rPr lang="en-US" sz="1000" dirty="0">
                <a:solidFill>
                  <a:srgbClr val="5A6C8F"/>
                </a:solidFill>
                <a:latin typeface="Consolas" pitchFamily="34" charset="0"/>
                <a:ea typeface="Consolas" pitchFamily="34" charset="-122"/>
                <a:cs typeface="Consolas" pitchFamily="34" charset="-120"/>
              </a:rPr>
              <a:t>52%</a:t>
            </a:r>
            <a:endParaRPr lang="en-US" sz="1000" dirty="0"/>
          </a:p>
        </p:txBody>
      </p:sp>
      <p:sp>
        <p:nvSpPr>
          <p:cNvPr id="36" name="Text 34"/>
          <p:cNvSpPr/>
          <p:nvPr/>
        </p:nvSpPr>
        <p:spPr>
          <a:xfrm>
            <a:off x="6492240" y="5769864"/>
            <a:ext cx="4572000" cy="274320"/>
          </a:xfrm>
          <a:prstGeom prst="rect">
            <a:avLst/>
          </a:prstGeom>
          <a:noFill/>
          <a:ln/>
        </p:spPr>
        <p:txBody>
          <a:bodyPr wrap="square" rtlCol="0" anchor="ctr"/>
          <a:lstStyle/>
          <a:p>
            <a:pPr indent="0" marL="0">
              <a:buNone/>
            </a:pPr>
            <a:r>
              <a:rPr lang="en-US" sz="1050" i="1" dirty="0">
                <a:solidFill>
                  <a:srgbClr val="7C8AA6"/>
                </a:solidFill>
                <a:latin typeface="Calibri" pitchFamily="34" charset="0"/>
                <a:ea typeface="Calibri" pitchFamily="34" charset="-122"/>
                <a:cs typeface="Calibri" pitchFamily="34" charset="-120"/>
              </a:rPr>
              <a:t>No update this cycle</a:t>
            </a:r>
            <a:endParaRPr lang="en-US" sz="1050" dirty="0"/>
          </a:p>
        </p:txBody>
      </p:sp>
      <p:sp>
        <p:nvSpPr>
          <p:cNvPr id="37" name="Text 35"/>
          <p:cNvSpPr/>
          <p:nvPr/>
        </p:nvSpPr>
        <p:spPr>
          <a:xfrm>
            <a:off x="11365992" y="6355080"/>
            <a:ext cx="548640" cy="320040"/>
          </a:xfrm>
          <a:prstGeom prst="rect">
            <a:avLst/>
          </a:prstGeom>
          <a:noFill/>
          <a:ln/>
        </p:spPr>
        <p:txBody>
          <a:bodyPr wrap="square" rtlCol="0" anchor="ctr"/>
          <a:lstStyle/>
          <a:p>
            <a:pPr algn="r" indent="0" marL="0">
              <a:buNone/>
            </a:pPr>
            <a:r>
              <a:rPr lang="en-US" sz="900" dirty="0">
                <a:solidFill>
                  <a:srgbClr val="7C8AA6"/>
                </a:solidFill>
                <a:latin typeface="Consolas" pitchFamily="34" charset="0"/>
                <a:ea typeface="Consolas" pitchFamily="34" charset="-122"/>
                <a:cs typeface="Consolas" pitchFamily="34" charset="-120"/>
              </a:rPr>
              <a:t>06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graphicFrame>
        <p:nvGraphicFramePr>
          <p:cNvPr id="2" name="Chart 0" descr=""/>
          <p:cNvGraphicFramePr/>
          <p:nvPr/>
        </p:nvGraphicFramePr>
        <p:xfrm>
          <a:off x="0" y="4480560"/>
          <a:ext cx="12188952" cy="2103120"/>
        </p:xfrm>
        <a:graphic xmlns:a="http://schemas.openxmlformats.org/drawingml/2006/main">
          <a:graphicData uri="http://schemas.openxmlformats.org/drawingml/2006/chart">
            <c:chart xmlns:c="http://schemas.openxmlformats.org/drawingml/2006/chart" r:id="rId1"/>
          </a:graphicData>
        </a:graphic>
      </p:graphicFrame>
      <p:sp>
        <p:nvSpPr>
          <p:cNvPr id="3" name="Text 0"/>
          <p:cNvSpPr/>
          <p:nvPr/>
        </p:nvSpPr>
        <p:spPr>
          <a:xfrm>
            <a:off x="640080" y="1005840"/>
            <a:ext cx="3657600" cy="2011680"/>
          </a:xfrm>
          <a:prstGeom prst="rect">
            <a:avLst/>
          </a:prstGeom>
          <a:noFill/>
          <a:ln/>
        </p:spPr>
        <p:txBody>
          <a:bodyPr wrap="square" rtlCol="0" anchor="ctr"/>
          <a:lstStyle/>
          <a:p>
            <a:pPr indent="0" marL="0">
              <a:buNone/>
            </a:pPr>
            <a:r>
              <a:rPr lang="en-US" sz="13000" b="1" dirty="0">
                <a:solidFill>
                  <a:srgbClr val="F0F3F7"/>
                </a:solidFill>
                <a:latin typeface="Cambria" pitchFamily="34" charset="0"/>
                <a:ea typeface="Cambria" pitchFamily="34" charset="-122"/>
                <a:cs typeface="Cambria" pitchFamily="34" charset="-120"/>
              </a:rPr>
              <a:t>II</a:t>
            </a:r>
            <a:endParaRPr lang="en-US" sz="13000" dirty="0"/>
          </a:p>
        </p:txBody>
      </p:sp>
      <p:sp>
        <p:nvSpPr>
          <p:cNvPr id="4" name="Shape 1"/>
          <p:cNvSpPr/>
          <p:nvPr/>
        </p:nvSpPr>
        <p:spPr>
          <a:xfrm>
            <a:off x="1965960" y="1234440"/>
            <a:ext cx="0" cy="1554480"/>
          </a:xfrm>
          <a:prstGeom prst="line">
            <a:avLst/>
          </a:prstGeom>
          <a:noFill/>
          <a:ln w="38100">
            <a:solidFill>
              <a:srgbClr val="B8720C"/>
            </a:solidFill>
            <a:prstDash val="solid"/>
          </a:ln>
        </p:spPr>
        <p:txBody>
          <a:bodyPr/>
          <a:p/>
        </p:txBody>
      </p:sp>
      <p:sp>
        <p:nvSpPr>
          <p:cNvPr id="5" name="Text 2"/>
          <p:cNvSpPr/>
          <p:nvPr/>
        </p:nvSpPr>
        <p:spPr>
          <a:xfrm>
            <a:off x="2286000" y="1280160"/>
            <a:ext cx="8686800" cy="914400"/>
          </a:xfrm>
          <a:prstGeom prst="rect">
            <a:avLst/>
          </a:prstGeom>
          <a:noFill/>
          <a:ln/>
        </p:spPr>
        <p:txBody>
          <a:bodyPr wrap="square" rtlCol="0" anchor="ctr"/>
          <a:lstStyle/>
          <a:p>
            <a:pPr indent="0" marL="0">
              <a:buNone/>
            </a:pPr>
            <a:r>
              <a:rPr lang="en-US" sz="3800" b="1" dirty="0">
                <a:solidFill>
                  <a:srgbClr val="1A2233"/>
                </a:solidFill>
                <a:latin typeface="Cambria" pitchFamily="34" charset="0"/>
                <a:ea typeface="Cambria" pitchFamily="34" charset="-122"/>
                <a:cs typeface="Cambria" pitchFamily="34" charset="-120"/>
              </a:rPr>
              <a:t>The Operator's Grind</a:t>
            </a:r>
            <a:endParaRPr lang="en-US" sz="3800" dirty="0"/>
          </a:p>
        </p:txBody>
      </p:sp>
      <p:sp>
        <p:nvSpPr>
          <p:cNvPr id="6" name="Text 3"/>
          <p:cNvSpPr/>
          <p:nvPr/>
        </p:nvSpPr>
        <p:spPr>
          <a:xfrm>
            <a:off x="2286000" y="2148840"/>
            <a:ext cx="8412480" cy="548640"/>
          </a:xfrm>
          <a:prstGeom prst="rect">
            <a:avLst/>
          </a:prstGeom>
          <a:noFill/>
          <a:ln/>
        </p:spPr>
        <p:txBody>
          <a:bodyPr wrap="square" rtlCol="0" anchor="t"/>
          <a:lstStyle/>
          <a:p>
            <a:pPr indent="0" marL="0">
              <a:buNone/>
            </a:pPr>
            <a:r>
              <a:rPr lang="en-US" sz="1450" dirty="0">
                <a:solidFill>
                  <a:srgbClr val="5A6C8F"/>
                </a:solidFill>
                <a:latin typeface="Calibri" pitchFamily="34" charset="0"/>
                <a:ea typeface="Calibri" pitchFamily="34" charset="-122"/>
                <a:cs typeface="Calibri" pitchFamily="34" charset="-120"/>
              </a:rPr>
              <a:t>Operators carry the burden of delivering clarity through manual work.</a:t>
            </a:r>
            <a:endParaRPr lang="en-US" sz="1450" dirty="0"/>
          </a:p>
        </p:txBody>
      </p:sp>
      <p:sp>
        <p:nvSpPr>
          <p:cNvPr id="7" name="Text 4"/>
          <p:cNvSpPr/>
          <p:nvPr/>
        </p:nvSpPr>
        <p:spPr>
          <a:xfrm>
            <a:off x="2286000" y="2880360"/>
            <a:ext cx="7863840" cy="822960"/>
          </a:xfrm>
          <a:prstGeom prst="rect">
            <a:avLst/>
          </a:prstGeom>
          <a:noFill/>
          <a:ln/>
        </p:spPr>
        <p:txBody>
          <a:bodyPr wrap="square" rtlCol="0" anchor="ctr"/>
          <a:lstStyle/>
          <a:p>
            <a:pPr indent="0" marL="0">
              <a:lnSpc>
                <a:spcPts val="1800"/>
              </a:lnSpc>
              <a:buNone/>
            </a:pPr>
            <a:r>
              <a:rPr lang="en-US" sz="1300" i="1" dirty="0">
                <a:solidFill>
                  <a:srgbClr val="B8720C"/>
                </a:solidFill>
                <a:latin typeface="Calibri" pitchFamily="34" charset="0"/>
                <a:ea typeface="Calibri" pitchFamily="34" charset="-122"/>
                <a:cs typeface="Calibri" pitchFamily="34" charset="-120"/>
              </a:rPr>
              <a:t>“I don't have time to think about the portfolio. I'm too busy building the slide that describes it.”</a:t>
            </a:r>
            <a:endParaRPr lang="en-US" sz="1300" dirty="0"/>
          </a:p>
        </p:txBody>
      </p:sp>
      <p:sp>
        <p:nvSpPr>
          <p:cNvPr id="8" name="Text 5"/>
          <p:cNvSpPr/>
          <p:nvPr/>
        </p:nvSpPr>
        <p:spPr>
          <a:xfrm>
            <a:off x="11365992" y="6355080"/>
            <a:ext cx="548640" cy="320040"/>
          </a:xfrm>
          <a:prstGeom prst="rect">
            <a:avLst/>
          </a:prstGeom>
          <a:noFill/>
          <a:ln/>
        </p:spPr>
        <p:txBody>
          <a:bodyPr wrap="square" rtlCol="0" anchor="ctr"/>
          <a:lstStyle/>
          <a:p>
            <a:pPr algn="r" indent="0" marL="0">
              <a:buNone/>
            </a:pPr>
            <a:r>
              <a:rPr lang="en-US" sz="900" dirty="0">
                <a:solidFill>
                  <a:srgbClr val="7C8AA6"/>
                </a:solidFill>
                <a:latin typeface="Consolas" pitchFamily="34" charset="0"/>
                <a:ea typeface="Consolas" pitchFamily="34" charset="-122"/>
                <a:cs typeface="Consolas" pitchFamily="34" charset="-120"/>
              </a:rPr>
              <a:t>07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57200"/>
            <a:ext cx="7315200" cy="274320"/>
          </a:xfrm>
          <a:prstGeom prst="rect">
            <a:avLst/>
          </a:prstGeom>
          <a:noFill/>
          <a:ln/>
        </p:spPr>
        <p:txBody>
          <a:bodyPr wrap="square" rtlCol="0" anchor="ctr"/>
          <a:lstStyle/>
          <a:p>
            <a:pPr indent="0" marL="0">
              <a:buNone/>
            </a:pPr>
            <a:r>
              <a:rPr lang="en-US" sz="1100" b="1" spc="200" kern="0" dirty="0">
                <a:solidFill>
                  <a:srgbClr val="B8720C"/>
                </a:solidFill>
                <a:latin typeface="Consolas" pitchFamily="34" charset="0"/>
                <a:ea typeface="Consolas" pitchFamily="34" charset="-122"/>
                <a:cs typeface="Consolas" pitchFamily="34" charset="-120"/>
              </a:rPr>
              <a:t>ACT II · THE HIDDEN COST</a:t>
            </a:r>
            <a:endParaRPr lang="en-US" sz="1100" dirty="0"/>
          </a:p>
        </p:txBody>
      </p:sp>
      <p:sp>
        <p:nvSpPr>
          <p:cNvPr id="3" name="Text 1"/>
          <p:cNvSpPr/>
          <p:nvPr/>
        </p:nvSpPr>
        <p:spPr>
          <a:xfrm>
            <a:off x="548640" y="731520"/>
            <a:ext cx="9144000" cy="548640"/>
          </a:xfrm>
          <a:prstGeom prst="rect">
            <a:avLst/>
          </a:prstGeom>
          <a:noFill/>
          <a:ln/>
        </p:spPr>
        <p:txBody>
          <a:bodyPr wrap="square" rtlCol="0" anchor="ctr"/>
          <a:lstStyle/>
          <a:p>
            <a:pPr indent="0" marL="0">
              <a:buNone/>
            </a:pPr>
            <a:r>
              <a:rPr lang="en-US" sz="2600" b="1" dirty="0">
                <a:solidFill>
                  <a:srgbClr val="1A2233"/>
                </a:solidFill>
                <a:latin typeface="Cambria" pitchFamily="34" charset="0"/>
                <a:ea typeface="Cambria" pitchFamily="34" charset="-122"/>
                <a:cs typeface="Cambria" pitchFamily="34" charset="-120"/>
              </a:rPr>
              <a:t>Where a 40-hour week actually goes</a:t>
            </a:r>
            <a:endParaRPr lang="en-US" sz="2600" dirty="0"/>
          </a:p>
        </p:txBody>
      </p:sp>
      <p:sp>
        <p:nvSpPr>
          <p:cNvPr id="4" name="Shape 2"/>
          <p:cNvSpPr/>
          <p:nvPr/>
        </p:nvSpPr>
        <p:spPr>
          <a:xfrm>
            <a:off x="548640" y="1463040"/>
            <a:ext cx="6492240" cy="4663440"/>
          </a:xfrm>
          <a:prstGeom prst="roundRect">
            <a:avLst>
              <a:gd name="adj" fmla="val 1176"/>
            </a:avLst>
          </a:prstGeom>
          <a:solidFill>
            <a:srgbClr val="F5F7FA"/>
          </a:solidFill>
          <a:ln w="12700">
            <a:solidFill>
              <a:srgbClr val="E1E6EF"/>
            </a:solidFill>
            <a:prstDash val="solid"/>
          </a:ln>
        </p:spPr>
        <p:txBody>
          <a:bodyPr/>
          <a:p/>
        </p:txBody>
      </p:sp>
      <p:sp>
        <p:nvSpPr>
          <p:cNvPr id="5" name="Text 3"/>
          <p:cNvSpPr/>
          <p:nvPr/>
        </p:nvSpPr>
        <p:spPr>
          <a:xfrm>
            <a:off x="868680" y="1645920"/>
            <a:ext cx="5486400" cy="365760"/>
          </a:xfrm>
          <a:prstGeom prst="rect">
            <a:avLst/>
          </a:prstGeom>
          <a:noFill/>
          <a:ln/>
        </p:spPr>
        <p:txBody>
          <a:bodyPr wrap="square" rtlCol="0" anchor="ctr"/>
          <a:lstStyle/>
          <a:p>
            <a:pPr indent="0" marL="0">
              <a:buNone/>
            </a:pPr>
            <a:r>
              <a:rPr lang="en-US" sz="1300" b="1" dirty="0">
                <a:solidFill>
                  <a:srgbClr val="1A2233"/>
                </a:solidFill>
                <a:latin typeface="Calibri" pitchFamily="34" charset="0"/>
                <a:ea typeface="Calibri" pitchFamily="34" charset="-122"/>
                <a:cs typeface="Calibri" pitchFamily="34" charset="-120"/>
              </a:rPr>
              <a:t>This week's manual task queue</a:t>
            </a:r>
            <a:endParaRPr lang="en-US" sz="1300" dirty="0"/>
          </a:p>
        </p:txBody>
      </p:sp>
      <p:sp>
        <p:nvSpPr>
          <p:cNvPr id="6" name="Text 4"/>
          <p:cNvSpPr/>
          <p:nvPr/>
        </p:nvSpPr>
        <p:spPr>
          <a:xfrm>
            <a:off x="868680" y="2148840"/>
            <a:ext cx="4480560" cy="457200"/>
          </a:xfrm>
          <a:prstGeom prst="rect">
            <a:avLst/>
          </a:prstGeom>
          <a:noFill/>
          <a:ln/>
        </p:spPr>
        <p:txBody>
          <a:bodyPr wrap="square" rtlCol="0" anchor="ctr"/>
          <a:lstStyle/>
          <a:p>
            <a:pPr indent="0" marL="0">
              <a:buNone/>
            </a:pPr>
            <a:r>
              <a:rPr lang="en-US" sz="1150" dirty="0">
                <a:solidFill>
                  <a:srgbClr val="5A6C8F"/>
                </a:solidFill>
                <a:latin typeface="Calibri" pitchFamily="34" charset="0"/>
                <a:ea typeface="Calibri" pitchFamily="34" charset="-122"/>
                <a:cs typeface="Calibri" pitchFamily="34" charset="-120"/>
              </a:rPr>
              <a:t>Chase 14 project owners for status updates</a:t>
            </a:r>
            <a:endParaRPr lang="en-US" sz="1150" dirty="0"/>
          </a:p>
        </p:txBody>
      </p:sp>
      <p:sp>
        <p:nvSpPr>
          <p:cNvPr id="7" name="Text 5"/>
          <p:cNvSpPr/>
          <p:nvPr/>
        </p:nvSpPr>
        <p:spPr>
          <a:xfrm>
            <a:off x="5394960" y="2148840"/>
            <a:ext cx="1417320" cy="457200"/>
          </a:xfrm>
          <a:prstGeom prst="rect">
            <a:avLst/>
          </a:prstGeom>
          <a:noFill/>
          <a:ln/>
        </p:spPr>
        <p:txBody>
          <a:bodyPr wrap="square" rtlCol="0" anchor="ctr"/>
          <a:lstStyle/>
          <a:p>
            <a:pPr algn="r" indent="0" marL="0">
              <a:buNone/>
            </a:pPr>
            <a:r>
              <a:rPr lang="en-US" sz="1200" dirty="0">
                <a:solidFill>
                  <a:srgbClr val="B8720C"/>
                </a:solidFill>
                <a:latin typeface="Consolas" pitchFamily="34" charset="0"/>
                <a:ea typeface="Consolas" pitchFamily="34" charset="-122"/>
                <a:cs typeface="Consolas" pitchFamily="34" charset="-120"/>
              </a:rPr>
              <a:t>6.5 hrs</a:t>
            </a:r>
            <a:endParaRPr lang="en-US" sz="1200" dirty="0"/>
          </a:p>
        </p:txBody>
      </p:sp>
      <p:sp>
        <p:nvSpPr>
          <p:cNvPr id="8" name="Shape 6"/>
          <p:cNvSpPr/>
          <p:nvPr/>
        </p:nvSpPr>
        <p:spPr>
          <a:xfrm>
            <a:off x="868680" y="2606040"/>
            <a:ext cx="5943600" cy="0"/>
          </a:xfrm>
          <a:prstGeom prst="line">
            <a:avLst/>
          </a:prstGeom>
          <a:noFill/>
          <a:ln w="9525">
            <a:solidFill>
              <a:srgbClr val="E1E6EF"/>
            </a:solidFill>
            <a:prstDash val="dash"/>
          </a:ln>
        </p:spPr>
        <p:txBody>
          <a:bodyPr/>
          <a:p/>
        </p:txBody>
      </p:sp>
      <p:sp>
        <p:nvSpPr>
          <p:cNvPr id="9" name="Text 7"/>
          <p:cNvSpPr/>
          <p:nvPr/>
        </p:nvSpPr>
        <p:spPr>
          <a:xfrm>
            <a:off x="868680" y="2697480"/>
            <a:ext cx="4480560" cy="457200"/>
          </a:xfrm>
          <a:prstGeom prst="rect">
            <a:avLst/>
          </a:prstGeom>
          <a:noFill/>
          <a:ln/>
        </p:spPr>
        <p:txBody>
          <a:bodyPr wrap="square" rtlCol="0" anchor="ctr"/>
          <a:lstStyle/>
          <a:p>
            <a:pPr indent="0" marL="0">
              <a:buNone/>
            </a:pPr>
            <a:r>
              <a:rPr lang="en-US" sz="1150" dirty="0">
                <a:solidFill>
                  <a:srgbClr val="5A6C8F"/>
                </a:solidFill>
                <a:latin typeface="Calibri" pitchFamily="34" charset="0"/>
                <a:ea typeface="Calibri" pitchFamily="34" charset="-122"/>
                <a:cs typeface="Calibri" pitchFamily="34" charset="-120"/>
              </a:rPr>
              <a:t>Reconcile 3 conflicting budget spreadsheets</a:t>
            </a:r>
            <a:endParaRPr lang="en-US" sz="1150" dirty="0"/>
          </a:p>
        </p:txBody>
      </p:sp>
      <p:sp>
        <p:nvSpPr>
          <p:cNvPr id="10" name="Text 8"/>
          <p:cNvSpPr/>
          <p:nvPr/>
        </p:nvSpPr>
        <p:spPr>
          <a:xfrm>
            <a:off x="5394960" y="2697480"/>
            <a:ext cx="1417320" cy="457200"/>
          </a:xfrm>
          <a:prstGeom prst="rect">
            <a:avLst/>
          </a:prstGeom>
          <a:noFill/>
          <a:ln/>
        </p:spPr>
        <p:txBody>
          <a:bodyPr wrap="square" rtlCol="0" anchor="ctr"/>
          <a:lstStyle/>
          <a:p>
            <a:pPr algn="r" indent="0" marL="0">
              <a:buNone/>
            </a:pPr>
            <a:r>
              <a:rPr lang="en-US" sz="1200" dirty="0">
                <a:solidFill>
                  <a:srgbClr val="B8720C"/>
                </a:solidFill>
                <a:latin typeface="Consolas" pitchFamily="34" charset="0"/>
                <a:ea typeface="Consolas" pitchFamily="34" charset="-122"/>
                <a:cs typeface="Consolas" pitchFamily="34" charset="-120"/>
              </a:rPr>
              <a:t>4.0 hrs</a:t>
            </a:r>
            <a:endParaRPr lang="en-US" sz="1200" dirty="0"/>
          </a:p>
        </p:txBody>
      </p:sp>
      <p:sp>
        <p:nvSpPr>
          <p:cNvPr id="11" name="Shape 9"/>
          <p:cNvSpPr/>
          <p:nvPr/>
        </p:nvSpPr>
        <p:spPr>
          <a:xfrm>
            <a:off x="868680" y="3154680"/>
            <a:ext cx="5943600" cy="0"/>
          </a:xfrm>
          <a:prstGeom prst="line">
            <a:avLst/>
          </a:prstGeom>
          <a:noFill/>
          <a:ln w="9525">
            <a:solidFill>
              <a:srgbClr val="E1E6EF"/>
            </a:solidFill>
            <a:prstDash val="dash"/>
          </a:ln>
        </p:spPr>
        <p:txBody>
          <a:bodyPr/>
          <a:p/>
        </p:txBody>
      </p:sp>
      <p:sp>
        <p:nvSpPr>
          <p:cNvPr id="12" name="Text 10"/>
          <p:cNvSpPr/>
          <p:nvPr/>
        </p:nvSpPr>
        <p:spPr>
          <a:xfrm>
            <a:off x="868680" y="3246120"/>
            <a:ext cx="4480560" cy="457200"/>
          </a:xfrm>
          <a:prstGeom prst="rect">
            <a:avLst/>
          </a:prstGeom>
          <a:noFill/>
          <a:ln/>
        </p:spPr>
        <p:txBody>
          <a:bodyPr wrap="square" rtlCol="0" anchor="ctr"/>
          <a:lstStyle/>
          <a:p>
            <a:pPr indent="0" marL="0">
              <a:buNone/>
            </a:pPr>
            <a:r>
              <a:rPr lang="en-US" sz="1150" dirty="0">
                <a:solidFill>
                  <a:srgbClr val="5A6C8F"/>
                </a:solidFill>
                <a:latin typeface="Calibri" pitchFamily="34" charset="0"/>
                <a:ea typeface="Calibri" pitchFamily="34" charset="-122"/>
                <a:cs typeface="Calibri" pitchFamily="34" charset="-120"/>
              </a:rPr>
              <a:t>Rebuild steering committee deck from scratch</a:t>
            </a:r>
            <a:endParaRPr lang="en-US" sz="1150" dirty="0"/>
          </a:p>
        </p:txBody>
      </p:sp>
      <p:sp>
        <p:nvSpPr>
          <p:cNvPr id="13" name="Text 11"/>
          <p:cNvSpPr/>
          <p:nvPr/>
        </p:nvSpPr>
        <p:spPr>
          <a:xfrm>
            <a:off x="5394960" y="3246120"/>
            <a:ext cx="1417320" cy="457200"/>
          </a:xfrm>
          <a:prstGeom prst="rect">
            <a:avLst/>
          </a:prstGeom>
          <a:noFill/>
          <a:ln/>
        </p:spPr>
        <p:txBody>
          <a:bodyPr wrap="square" rtlCol="0" anchor="ctr"/>
          <a:lstStyle/>
          <a:p>
            <a:pPr algn="r" indent="0" marL="0">
              <a:buNone/>
            </a:pPr>
            <a:r>
              <a:rPr lang="en-US" sz="1200" dirty="0">
                <a:solidFill>
                  <a:srgbClr val="B8720C"/>
                </a:solidFill>
                <a:latin typeface="Consolas" pitchFamily="34" charset="0"/>
                <a:ea typeface="Consolas" pitchFamily="34" charset="-122"/>
                <a:cs typeface="Consolas" pitchFamily="34" charset="-120"/>
              </a:rPr>
              <a:t>7.0 hrs</a:t>
            </a:r>
            <a:endParaRPr lang="en-US" sz="1200" dirty="0"/>
          </a:p>
        </p:txBody>
      </p:sp>
      <p:sp>
        <p:nvSpPr>
          <p:cNvPr id="14" name="Shape 12"/>
          <p:cNvSpPr/>
          <p:nvPr/>
        </p:nvSpPr>
        <p:spPr>
          <a:xfrm>
            <a:off x="868680" y="3703320"/>
            <a:ext cx="5943600" cy="0"/>
          </a:xfrm>
          <a:prstGeom prst="line">
            <a:avLst/>
          </a:prstGeom>
          <a:noFill/>
          <a:ln w="9525">
            <a:solidFill>
              <a:srgbClr val="E1E6EF"/>
            </a:solidFill>
            <a:prstDash val="dash"/>
          </a:ln>
        </p:spPr>
        <p:txBody>
          <a:bodyPr/>
          <a:p/>
        </p:txBody>
      </p:sp>
      <p:sp>
        <p:nvSpPr>
          <p:cNvPr id="15" name="Text 13"/>
          <p:cNvSpPr/>
          <p:nvPr/>
        </p:nvSpPr>
        <p:spPr>
          <a:xfrm>
            <a:off x="868680" y="3794760"/>
            <a:ext cx="4480560" cy="457200"/>
          </a:xfrm>
          <a:prstGeom prst="rect">
            <a:avLst/>
          </a:prstGeom>
          <a:noFill/>
          <a:ln/>
        </p:spPr>
        <p:txBody>
          <a:bodyPr wrap="square" rtlCol="0" anchor="ctr"/>
          <a:lstStyle/>
          <a:p>
            <a:pPr indent="0" marL="0">
              <a:buNone/>
            </a:pPr>
            <a:r>
              <a:rPr lang="en-US" sz="1150" dirty="0">
                <a:solidFill>
                  <a:srgbClr val="5A6C8F"/>
                </a:solidFill>
                <a:latin typeface="Calibri" pitchFamily="34" charset="0"/>
                <a:ea typeface="Calibri" pitchFamily="34" charset="-122"/>
                <a:cs typeface="Calibri" pitchFamily="34" charset="-120"/>
              </a:rPr>
              <a:t>Manually recolor RAG statuses per opinion</a:t>
            </a:r>
            <a:endParaRPr lang="en-US" sz="1150" dirty="0"/>
          </a:p>
        </p:txBody>
      </p:sp>
      <p:sp>
        <p:nvSpPr>
          <p:cNvPr id="16" name="Text 14"/>
          <p:cNvSpPr/>
          <p:nvPr/>
        </p:nvSpPr>
        <p:spPr>
          <a:xfrm>
            <a:off x="5394960" y="3794760"/>
            <a:ext cx="1417320" cy="457200"/>
          </a:xfrm>
          <a:prstGeom prst="rect">
            <a:avLst/>
          </a:prstGeom>
          <a:noFill/>
          <a:ln/>
        </p:spPr>
        <p:txBody>
          <a:bodyPr wrap="square" rtlCol="0" anchor="ctr"/>
          <a:lstStyle/>
          <a:p>
            <a:pPr algn="r" indent="0" marL="0">
              <a:buNone/>
            </a:pPr>
            <a:r>
              <a:rPr lang="en-US" sz="1200" dirty="0">
                <a:solidFill>
                  <a:srgbClr val="B8720C"/>
                </a:solidFill>
                <a:latin typeface="Consolas" pitchFamily="34" charset="0"/>
                <a:ea typeface="Consolas" pitchFamily="34" charset="-122"/>
                <a:cs typeface="Consolas" pitchFamily="34" charset="-120"/>
              </a:rPr>
              <a:t>2.5 hrs</a:t>
            </a:r>
            <a:endParaRPr lang="en-US" sz="1200" dirty="0"/>
          </a:p>
        </p:txBody>
      </p:sp>
      <p:sp>
        <p:nvSpPr>
          <p:cNvPr id="17" name="Shape 15"/>
          <p:cNvSpPr/>
          <p:nvPr/>
        </p:nvSpPr>
        <p:spPr>
          <a:xfrm>
            <a:off x="868680" y="4251960"/>
            <a:ext cx="5943600" cy="0"/>
          </a:xfrm>
          <a:prstGeom prst="line">
            <a:avLst/>
          </a:prstGeom>
          <a:noFill/>
          <a:ln w="9525">
            <a:solidFill>
              <a:srgbClr val="E1E6EF"/>
            </a:solidFill>
            <a:prstDash val="dash"/>
          </a:ln>
        </p:spPr>
        <p:txBody>
          <a:bodyPr/>
          <a:p/>
        </p:txBody>
      </p:sp>
      <p:sp>
        <p:nvSpPr>
          <p:cNvPr id="18" name="Text 16"/>
          <p:cNvSpPr/>
          <p:nvPr/>
        </p:nvSpPr>
        <p:spPr>
          <a:xfrm>
            <a:off x="868680" y="4343400"/>
            <a:ext cx="4480560" cy="457200"/>
          </a:xfrm>
          <a:prstGeom prst="rect">
            <a:avLst/>
          </a:prstGeom>
          <a:noFill/>
          <a:ln/>
        </p:spPr>
        <p:txBody>
          <a:bodyPr wrap="square" rtlCol="0" anchor="ctr"/>
          <a:lstStyle/>
          <a:p>
            <a:pPr indent="0" marL="0">
              <a:buNone/>
            </a:pPr>
            <a:r>
              <a:rPr lang="en-US" sz="1150" dirty="0">
                <a:solidFill>
                  <a:srgbClr val="5A6C8F"/>
                </a:solidFill>
                <a:latin typeface="Calibri" pitchFamily="34" charset="0"/>
                <a:ea typeface="Calibri" pitchFamily="34" charset="-122"/>
                <a:cs typeface="Calibri" pitchFamily="34" charset="-120"/>
              </a:rPr>
              <a:t>Re-key resourcing data from 4 team calendars</a:t>
            </a:r>
            <a:endParaRPr lang="en-US" sz="1150" dirty="0"/>
          </a:p>
        </p:txBody>
      </p:sp>
      <p:sp>
        <p:nvSpPr>
          <p:cNvPr id="19" name="Text 17"/>
          <p:cNvSpPr/>
          <p:nvPr/>
        </p:nvSpPr>
        <p:spPr>
          <a:xfrm>
            <a:off x="5394960" y="4343400"/>
            <a:ext cx="1417320" cy="457200"/>
          </a:xfrm>
          <a:prstGeom prst="rect">
            <a:avLst/>
          </a:prstGeom>
          <a:noFill/>
          <a:ln/>
        </p:spPr>
        <p:txBody>
          <a:bodyPr wrap="square" rtlCol="0" anchor="ctr"/>
          <a:lstStyle/>
          <a:p>
            <a:pPr algn="r" indent="0" marL="0">
              <a:buNone/>
            </a:pPr>
            <a:r>
              <a:rPr lang="en-US" sz="1200" dirty="0">
                <a:solidFill>
                  <a:srgbClr val="B8720C"/>
                </a:solidFill>
                <a:latin typeface="Consolas" pitchFamily="34" charset="0"/>
                <a:ea typeface="Consolas" pitchFamily="34" charset="-122"/>
                <a:cs typeface="Consolas" pitchFamily="34" charset="-120"/>
              </a:rPr>
              <a:t>5.0 hrs</a:t>
            </a:r>
            <a:endParaRPr lang="en-US" sz="1200" dirty="0"/>
          </a:p>
        </p:txBody>
      </p:sp>
      <p:sp>
        <p:nvSpPr>
          <p:cNvPr id="20" name="Shape 18"/>
          <p:cNvSpPr/>
          <p:nvPr/>
        </p:nvSpPr>
        <p:spPr>
          <a:xfrm>
            <a:off x="868680" y="4800600"/>
            <a:ext cx="5943600" cy="0"/>
          </a:xfrm>
          <a:prstGeom prst="line">
            <a:avLst/>
          </a:prstGeom>
          <a:noFill/>
          <a:ln w="9525">
            <a:solidFill>
              <a:srgbClr val="E1E6EF"/>
            </a:solidFill>
            <a:prstDash val="dash"/>
          </a:ln>
        </p:spPr>
        <p:txBody>
          <a:bodyPr/>
          <a:p/>
        </p:txBody>
      </p:sp>
      <p:sp>
        <p:nvSpPr>
          <p:cNvPr id="21" name="Text 19"/>
          <p:cNvSpPr/>
          <p:nvPr/>
        </p:nvSpPr>
        <p:spPr>
          <a:xfrm>
            <a:off x="868680" y="4892040"/>
            <a:ext cx="4480560" cy="457200"/>
          </a:xfrm>
          <a:prstGeom prst="rect">
            <a:avLst/>
          </a:prstGeom>
          <a:noFill/>
          <a:ln/>
        </p:spPr>
        <p:txBody>
          <a:bodyPr wrap="square" rtlCol="0" anchor="ctr"/>
          <a:lstStyle/>
          <a:p>
            <a:pPr indent="0" marL="0">
              <a:buNone/>
            </a:pPr>
            <a:r>
              <a:rPr lang="en-US" sz="1150" dirty="0">
                <a:solidFill>
                  <a:srgbClr val="5A6C8F"/>
                </a:solidFill>
                <a:latin typeface="Calibri" pitchFamily="34" charset="0"/>
                <a:ea typeface="Calibri" pitchFamily="34" charset="-122"/>
                <a:cs typeface="Calibri" pitchFamily="34" charset="-120"/>
              </a:rPr>
              <a:t>Ad hoc requests, incl. "can you pull that number again?"</a:t>
            </a:r>
            <a:endParaRPr lang="en-US" sz="1150" dirty="0"/>
          </a:p>
        </p:txBody>
      </p:sp>
      <p:sp>
        <p:nvSpPr>
          <p:cNvPr id="22" name="Text 20"/>
          <p:cNvSpPr/>
          <p:nvPr/>
        </p:nvSpPr>
        <p:spPr>
          <a:xfrm>
            <a:off x="5394960" y="4892040"/>
            <a:ext cx="1417320" cy="457200"/>
          </a:xfrm>
          <a:prstGeom prst="rect">
            <a:avLst/>
          </a:prstGeom>
          <a:noFill/>
          <a:ln/>
        </p:spPr>
        <p:txBody>
          <a:bodyPr wrap="square" rtlCol="0" anchor="ctr"/>
          <a:lstStyle/>
          <a:p>
            <a:pPr algn="r" indent="0" marL="0">
              <a:buNone/>
            </a:pPr>
            <a:r>
              <a:rPr lang="en-US" sz="1200" dirty="0">
                <a:solidFill>
                  <a:srgbClr val="B8720C"/>
                </a:solidFill>
                <a:latin typeface="Consolas" pitchFamily="34" charset="0"/>
                <a:ea typeface="Consolas" pitchFamily="34" charset="-122"/>
                <a:cs typeface="Consolas" pitchFamily="34" charset="-120"/>
              </a:rPr>
              <a:t>11.5 hrs</a:t>
            </a:r>
            <a:endParaRPr lang="en-US" sz="1200" dirty="0"/>
          </a:p>
        </p:txBody>
      </p:sp>
      <p:sp>
        <p:nvSpPr>
          <p:cNvPr id="23" name="Shape 21"/>
          <p:cNvSpPr/>
          <p:nvPr/>
        </p:nvSpPr>
        <p:spPr>
          <a:xfrm>
            <a:off x="868680" y="5349240"/>
            <a:ext cx="5943600" cy="0"/>
          </a:xfrm>
          <a:prstGeom prst="line">
            <a:avLst/>
          </a:prstGeom>
          <a:noFill/>
          <a:ln w="9525">
            <a:solidFill>
              <a:srgbClr val="E1E6EF"/>
            </a:solidFill>
            <a:prstDash val="dash"/>
          </a:ln>
        </p:spPr>
        <p:txBody>
          <a:bodyPr/>
          <a:p/>
        </p:txBody>
      </p:sp>
      <p:sp>
        <p:nvSpPr>
          <p:cNvPr id="24" name="Text 22"/>
          <p:cNvSpPr/>
          <p:nvPr/>
        </p:nvSpPr>
        <p:spPr>
          <a:xfrm>
            <a:off x="868680" y="5486400"/>
            <a:ext cx="4480560" cy="457200"/>
          </a:xfrm>
          <a:prstGeom prst="rect">
            <a:avLst/>
          </a:prstGeom>
          <a:noFill/>
          <a:ln/>
        </p:spPr>
        <p:txBody>
          <a:bodyPr wrap="square" rtlCol="0" anchor="ctr"/>
          <a:lstStyle/>
          <a:p>
            <a:pPr indent="0" marL="0">
              <a:buNone/>
            </a:pPr>
            <a:r>
              <a:rPr lang="en-US" sz="1150" b="1" dirty="0">
                <a:solidFill>
                  <a:srgbClr val="1A2233"/>
                </a:solidFill>
                <a:latin typeface="Calibri" pitchFamily="34" charset="0"/>
                <a:ea typeface="Calibri" pitchFamily="34" charset="-122"/>
                <a:cs typeface="Calibri" pitchFamily="34" charset="-120"/>
              </a:rPr>
              <a:t>Time left for actual portfolio judgment</a:t>
            </a:r>
            <a:endParaRPr lang="en-US" sz="1150" dirty="0"/>
          </a:p>
        </p:txBody>
      </p:sp>
      <p:sp>
        <p:nvSpPr>
          <p:cNvPr id="25" name="Text 23"/>
          <p:cNvSpPr/>
          <p:nvPr/>
        </p:nvSpPr>
        <p:spPr>
          <a:xfrm>
            <a:off x="5394960" y="5486400"/>
            <a:ext cx="1417320" cy="457200"/>
          </a:xfrm>
          <a:prstGeom prst="rect">
            <a:avLst/>
          </a:prstGeom>
          <a:noFill/>
          <a:ln/>
        </p:spPr>
        <p:txBody>
          <a:bodyPr wrap="square" rtlCol="0" anchor="ctr"/>
          <a:lstStyle/>
          <a:p>
            <a:pPr algn="r" indent="0" marL="0">
              <a:buNone/>
            </a:pPr>
            <a:r>
              <a:rPr lang="en-US" sz="1300" b="1" dirty="0">
                <a:solidFill>
                  <a:srgbClr val="0F8577"/>
                </a:solidFill>
                <a:latin typeface="Consolas" pitchFamily="34" charset="0"/>
                <a:ea typeface="Consolas" pitchFamily="34" charset="-122"/>
                <a:cs typeface="Consolas" pitchFamily="34" charset="-120"/>
              </a:rPr>
              <a:t>3.5 hrs</a:t>
            </a:r>
            <a:endParaRPr lang="en-US" sz="1300" dirty="0"/>
          </a:p>
        </p:txBody>
      </p:sp>
      <p:sp>
        <p:nvSpPr>
          <p:cNvPr id="26" name="Shape 24"/>
          <p:cNvSpPr/>
          <p:nvPr/>
        </p:nvSpPr>
        <p:spPr>
          <a:xfrm>
            <a:off x="7269480" y="1463040"/>
            <a:ext cx="4114800" cy="4663440"/>
          </a:xfrm>
          <a:prstGeom prst="roundRect">
            <a:avLst>
              <a:gd name="adj" fmla="val 1333"/>
            </a:avLst>
          </a:prstGeom>
          <a:solidFill>
            <a:srgbClr val="EDF1F7"/>
          </a:solidFill>
          <a:ln w="12700">
            <a:solidFill>
              <a:srgbClr val="E1E6EF"/>
            </a:solidFill>
            <a:prstDash val="solid"/>
          </a:ln>
        </p:spPr>
        <p:txBody>
          <a:bodyPr/>
          <a:p/>
        </p:txBody>
      </p:sp>
      <p:sp>
        <p:nvSpPr>
          <p:cNvPr id="27" name="Text 25"/>
          <p:cNvSpPr/>
          <p:nvPr/>
        </p:nvSpPr>
        <p:spPr>
          <a:xfrm>
            <a:off x="7543800" y="1691640"/>
            <a:ext cx="3657600" cy="320040"/>
          </a:xfrm>
          <a:prstGeom prst="rect">
            <a:avLst/>
          </a:prstGeom>
          <a:noFill/>
          <a:ln/>
        </p:spPr>
        <p:txBody>
          <a:bodyPr wrap="square" rtlCol="0" anchor="ctr"/>
          <a:lstStyle/>
          <a:p>
            <a:pPr indent="0" marL="0">
              <a:buNone/>
            </a:pPr>
            <a:r>
              <a:rPr lang="en-US" sz="1200" b="1" dirty="0">
                <a:solidFill>
                  <a:srgbClr val="1A2233"/>
                </a:solidFill>
                <a:latin typeface="Calibri" pitchFamily="34" charset="0"/>
                <a:ea typeface="Calibri" pitchFamily="34" charset="-122"/>
                <a:cs typeface="Calibri" pitchFamily="34" charset="-120"/>
              </a:rPr>
              <a:t>Reporting &amp; rework</a:t>
            </a:r>
            <a:endParaRPr lang="en-US" sz="1200" dirty="0"/>
          </a:p>
        </p:txBody>
      </p:sp>
      <p:sp>
        <p:nvSpPr>
          <p:cNvPr id="28" name="Text 26"/>
          <p:cNvSpPr/>
          <p:nvPr/>
        </p:nvSpPr>
        <p:spPr>
          <a:xfrm>
            <a:off x="7543800" y="2103120"/>
            <a:ext cx="3657600" cy="914400"/>
          </a:xfrm>
          <a:prstGeom prst="rect">
            <a:avLst/>
          </a:prstGeom>
          <a:noFill/>
          <a:ln/>
        </p:spPr>
        <p:txBody>
          <a:bodyPr wrap="square" rtlCol="0" anchor="ctr"/>
          <a:lstStyle/>
          <a:p>
            <a:pPr indent="0" marL="0">
              <a:buNone/>
            </a:pPr>
            <a:r>
              <a:rPr lang="en-US" sz="4600" b="1" dirty="0">
                <a:solidFill>
                  <a:srgbClr val="B8720C"/>
                </a:solidFill>
                <a:latin typeface="Consolas" pitchFamily="34" charset="0"/>
                <a:ea typeface="Consolas" pitchFamily="34" charset="-122"/>
                <a:cs typeface="Consolas" pitchFamily="34" charset="-120"/>
              </a:rPr>
              <a:t>91%</a:t>
            </a:r>
            <a:endParaRPr lang="en-US" sz="4600" dirty="0"/>
          </a:p>
        </p:txBody>
      </p:sp>
      <p:sp>
        <p:nvSpPr>
          <p:cNvPr id="29" name="Text 27"/>
          <p:cNvSpPr/>
          <p:nvPr/>
        </p:nvSpPr>
        <p:spPr>
          <a:xfrm>
            <a:off x="7543800" y="3063240"/>
            <a:ext cx="3566160" cy="822960"/>
          </a:xfrm>
          <a:prstGeom prst="rect">
            <a:avLst/>
          </a:prstGeom>
          <a:noFill/>
          <a:ln/>
        </p:spPr>
        <p:txBody>
          <a:bodyPr wrap="square" rtlCol="0" anchor="ctr"/>
          <a:lstStyle/>
          <a:p>
            <a:pPr indent="0" marL="0">
              <a:lnSpc>
                <a:spcPts val="1600"/>
              </a:lnSpc>
              <a:buNone/>
            </a:pPr>
            <a:r>
              <a:rPr lang="en-US" sz="1150" dirty="0">
                <a:solidFill>
                  <a:srgbClr val="5A6C8F"/>
                </a:solidFill>
                <a:latin typeface="Calibri" pitchFamily="34" charset="0"/>
                <a:ea typeface="Calibri" pitchFamily="34" charset="-122"/>
                <a:cs typeface="Calibri" pitchFamily="34" charset="-120"/>
              </a:rPr>
              <a:t>of a 40-hour week spent chasing, reconciling, and rebuilding — not analyzing</a:t>
            </a:r>
            <a:endParaRPr lang="en-US" sz="1150" dirty="0"/>
          </a:p>
        </p:txBody>
      </p:sp>
      <p:sp>
        <p:nvSpPr>
          <p:cNvPr id="30" name="Shape 28"/>
          <p:cNvSpPr/>
          <p:nvPr/>
        </p:nvSpPr>
        <p:spPr>
          <a:xfrm>
            <a:off x="7543800" y="4023360"/>
            <a:ext cx="3566160" cy="0"/>
          </a:xfrm>
          <a:prstGeom prst="line">
            <a:avLst/>
          </a:prstGeom>
          <a:noFill/>
          <a:ln w="12700">
            <a:solidFill>
              <a:srgbClr val="E1E6EF"/>
            </a:solidFill>
            <a:prstDash val="solid"/>
          </a:ln>
        </p:spPr>
        <p:txBody>
          <a:bodyPr/>
          <a:p/>
        </p:txBody>
      </p:sp>
      <p:sp>
        <p:nvSpPr>
          <p:cNvPr id="31" name="Text 29"/>
          <p:cNvSpPr/>
          <p:nvPr/>
        </p:nvSpPr>
        <p:spPr>
          <a:xfrm>
            <a:off x="7543800" y="4206240"/>
            <a:ext cx="3657600" cy="640080"/>
          </a:xfrm>
          <a:prstGeom prst="rect">
            <a:avLst/>
          </a:prstGeom>
          <a:noFill/>
          <a:ln/>
        </p:spPr>
        <p:txBody>
          <a:bodyPr wrap="square" rtlCol="0" anchor="ctr"/>
          <a:lstStyle/>
          <a:p>
            <a:pPr indent="0" marL="0">
              <a:buNone/>
            </a:pPr>
            <a:r>
              <a:rPr lang="en-US" sz="3000" b="1" dirty="0">
                <a:solidFill>
                  <a:srgbClr val="0F8577"/>
                </a:solidFill>
                <a:latin typeface="Consolas" pitchFamily="34" charset="0"/>
                <a:ea typeface="Consolas" pitchFamily="34" charset="-122"/>
                <a:cs typeface="Consolas" pitchFamily="34" charset="-120"/>
              </a:rPr>
              <a:t>9%</a:t>
            </a:r>
            <a:endParaRPr lang="en-US" sz="3000" dirty="0"/>
          </a:p>
        </p:txBody>
      </p:sp>
      <p:sp>
        <p:nvSpPr>
          <p:cNvPr id="32" name="Text 30"/>
          <p:cNvSpPr/>
          <p:nvPr/>
        </p:nvSpPr>
        <p:spPr>
          <a:xfrm>
            <a:off x="7543800" y="4892040"/>
            <a:ext cx="3566160" cy="731520"/>
          </a:xfrm>
          <a:prstGeom prst="rect">
            <a:avLst/>
          </a:prstGeom>
          <a:noFill/>
          <a:ln/>
        </p:spPr>
        <p:txBody>
          <a:bodyPr wrap="square" rtlCol="0" anchor="ctr"/>
          <a:lstStyle/>
          <a:p>
            <a:pPr indent="0" marL="0">
              <a:lnSpc>
                <a:spcPts val="1600"/>
              </a:lnSpc>
              <a:buNone/>
            </a:pPr>
            <a:r>
              <a:rPr lang="en-US" sz="1150" dirty="0">
                <a:solidFill>
                  <a:srgbClr val="5A6C8F"/>
                </a:solidFill>
                <a:latin typeface="Calibri" pitchFamily="34" charset="0"/>
                <a:ea typeface="Calibri" pitchFamily="34" charset="-122"/>
                <a:cs typeface="Calibri" pitchFamily="34" charset="-120"/>
              </a:rPr>
              <a:t>remains for the judgment leaders are actually paying for</a:t>
            </a:r>
            <a:endParaRPr lang="en-US" sz="1150" dirty="0"/>
          </a:p>
        </p:txBody>
      </p:sp>
      <p:sp>
        <p:nvSpPr>
          <p:cNvPr id="33" name="Text 31"/>
          <p:cNvSpPr/>
          <p:nvPr/>
        </p:nvSpPr>
        <p:spPr>
          <a:xfrm>
            <a:off x="11365992" y="6355080"/>
            <a:ext cx="548640" cy="320040"/>
          </a:xfrm>
          <a:prstGeom prst="rect">
            <a:avLst/>
          </a:prstGeom>
          <a:noFill/>
          <a:ln/>
        </p:spPr>
        <p:txBody>
          <a:bodyPr wrap="square" rtlCol="0" anchor="ctr"/>
          <a:lstStyle/>
          <a:p>
            <a:pPr algn="r" indent="0" marL="0">
              <a:buNone/>
            </a:pPr>
            <a:r>
              <a:rPr lang="en-US" sz="900" dirty="0">
                <a:solidFill>
                  <a:srgbClr val="7C8AA6"/>
                </a:solidFill>
                <a:latin typeface="Consolas" pitchFamily="34" charset="0"/>
                <a:ea typeface="Consolas" pitchFamily="34" charset="-122"/>
                <a:cs typeface="Consolas" pitchFamily="34" charset="-120"/>
              </a:rPr>
              <a:t>08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graphicFrame>
        <p:nvGraphicFramePr>
          <p:cNvPr id="2" name="Chart 0" descr=""/>
          <p:cNvGraphicFramePr/>
          <p:nvPr/>
        </p:nvGraphicFramePr>
        <p:xfrm>
          <a:off x="0" y="4480560"/>
          <a:ext cx="12188952" cy="2103120"/>
        </p:xfrm>
        <a:graphic xmlns:a="http://schemas.openxmlformats.org/drawingml/2006/main">
          <a:graphicData uri="http://schemas.openxmlformats.org/drawingml/2006/chart">
            <c:chart xmlns:c="http://schemas.openxmlformats.org/drawingml/2006/chart" r:id="rId1"/>
          </a:graphicData>
        </a:graphic>
      </p:graphicFrame>
      <p:sp>
        <p:nvSpPr>
          <p:cNvPr id="3" name="Text 0"/>
          <p:cNvSpPr/>
          <p:nvPr/>
        </p:nvSpPr>
        <p:spPr>
          <a:xfrm>
            <a:off x="640080" y="1005840"/>
            <a:ext cx="3657600" cy="2011680"/>
          </a:xfrm>
          <a:prstGeom prst="rect">
            <a:avLst/>
          </a:prstGeom>
          <a:noFill/>
          <a:ln/>
        </p:spPr>
        <p:txBody>
          <a:bodyPr wrap="square" rtlCol="0" anchor="ctr"/>
          <a:lstStyle/>
          <a:p>
            <a:pPr indent="0" marL="0">
              <a:buNone/>
            </a:pPr>
            <a:r>
              <a:rPr lang="en-US" sz="13000" b="1" dirty="0">
                <a:solidFill>
                  <a:srgbClr val="F0F3F7"/>
                </a:solidFill>
                <a:latin typeface="Cambria" pitchFamily="34" charset="0"/>
                <a:ea typeface="Cambria" pitchFamily="34" charset="-122"/>
                <a:cs typeface="Cambria" pitchFamily="34" charset="-120"/>
              </a:rPr>
              <a:t>III</a:t>
            </a:r>
            <a:endParaRPr lang="en-US" sz="13000" dirty="0"/>
          </a:p>
        </p:txBody>
      </p:sp>
      <p:sp>
        <p:nvSpPr>
          <p:cNvPr id="4" name="Shape 1"/>
          <p:cNvSpPr/>
          <p:nvPr/>
        </p:nvSpPr>
        <p:spPr>
          <a:xfrm>
            <a:off x="1965960" y="1234440"/>
            <a:ext cx="0" cy="1554480"/>
          </a:xfrm>
          <a:prstGeom prst="line">
            <a:avLst/>
          </a:prstGeom>
          <a:noFill/>
          <a:ln w="38100">
            <a:solidFill>
              <a:srgbClr val="0F8577"/>
            </a:solidFill>
            <a:prstDash val="solid"/>
          </a:ln>
        </p:spPr>
        <p:txBody>
          <a:bodyPr/>
          <a:p/>
        </p:txBody>
      </p:sp>
      <p:sp>
        <p:nvSpPr>
          <p:cNvPr id="5" name="Text 2"/>
          <p:cNvSpPr/>
          <p:nvPr/>
        </p:nvSpPr>
        <p:spPr>
          <a:xfrm>
            <a:off x="2286000" y="1280160"/>
            <a:ext cx="8686800" cy="914400"/>
          </a:xfrm>
          <a:prstGeom prst="rect">
            <a:avLst/>
          </a:prstGeom>
          <a:noFill/>
          <a:ln/>
        </p:spPr>
        <p:txBody>
          <a:bodyPr wrap="square" rtlCol="0" anchor="ctr"/>
          <a:lstStyle/>
          <a:p>
            <a:pPr indent="0" marL="0">
              <a:buNone/>
            </a:pPr>
            <a:r>
              <a:rPr lang="en-US" sz="3800" b="1" dirty="0">
                <a:solidFill>
                  <a:srgbClr val="1A2233"/>
                </a:solidFill>
                <a:latin typeface="Cambria" pitchFamily="34" charset="0"/>
                <a:ea typeface="Cambria" pitchFamily="34" charset="-122"/>
                <a:cs typeface="Cambria" pitchFamily="34" charset="-120"/>
              </a:rPr>
              <a:t>The Hero Moment</a:t>
            </a:r>
            <a:endParaRPr lang="en-US" sz="3800" dirty="0"/>
          </a:p>
        </p:txBody>
      </p:sp>
      <p:sp>
        <p:nvSpPr>
          <p:cNvPr id="6" name="Text 3"/>
          <p:cNvSpPr/>
          <p:nvPr/>
        </p:nvSpPr>
        <p:spPr>
          <a:xfrm>
            <a:off x="2286000" y="2148840"/>
            <a:ext cx="8412480" cy="548640"/>
          </a:xfrm>
          <a:prstGeom prst="rect">
            <a:avLst/>
          </a:prstGeom>
          <a:noFill/>
          <a:ln/>
        </p:spPr>
        <p:txBody>
          <a:bodyPr wrap="square" rtlCol="0" anchor="t"/>
          <a:lstStyle/>
          <a:p>
            <a:pPr indent="0" marL="0">
              <a:buNone/>
            </a:pPr>
            <a:r>
              <a:rPr lang="en-US" sz="1450" dirty="0">
                <a:solidFill>
                  <a:srgbClr val="5A6C8F"/>
                </a:solidFill>
                <a:latin typeface="Calibri" pitchFamily="34" charset="0"/>
                <a:ea typeface="Calibri" pitchFamily="34" charset="-122"/>
                <a:cs typeface="Calibri" pitchFamily="34" charset="-120"/>
              </a:rPr>
              <a:t>The 7 Pillars you already saw — now live, on the same portfolio.</a:t>
            </a:r>
            <a:endParaRPr lang="en-US" sz="1450" dirty="0"/>
          </a:p>
        </p:txBody>
      </p:sp>
      <p:sp>
        <p:nvSpPr>
          <p:cNvPr id="7" name="Text 4"/>
          <p:cNvSpPr/>
          <p:nvPr/>
        </p:nvSpPr>
        <p:spPr>
          <a:xfrm>
            <a:off x="11365992" y="6355080"/>
            <a:ext cx="548640" cy="320040"/>
          </a:xfrm>
          <a:prstGeom prst="rect">
            <a:avLst/>
          </a:prstGeom>
          <a:noFill/>
          <a:ln/>
        </p:spPr>
        <p:txBody>
          <a:bodyPr wrap="square" rtlCol="0" anchor="ctr"/>
          <a:lstStyle/>
          <a:p>
            <a:pPr algn="r" indent="0" marL="0">
              <a:buNone/>
            </a:pPr>
            <a:r>
              <a:rPr lang="en-US" sz="900" dirty="0">
                <a:solidFill>
                  <a:srgbClr val="7C8AA6"/>
                </a:solidFill>
                <a:latin typeface="Consolas" pitchFamily="34" charset="0"/>
                <a:ea typeface="Consolas" pitchFamily="34" charset="-122"/>
                <a:cs typeface="Consolas" pitchFamily="34" charset="-120"/>
              </a:rPr>
              <a:t>09</a:t>
            </a:r>
            <a:endParaRPr lang="en-US" sz="900" dirty="0"/>
          </a:p>
        </p:txBody>
      </p:sp>
      <p:sp>
        <p:nvSpPr>
          <p:cNvPr id="8" name="Shape 5"/>
          <p:cNvSpPr/>
          <p:nvPr/>
        </p:nvSpPr>
        <p:spPr>
          <a:xfrm>
            <a:off x="2286000" y="2926080"/>
            <a:ext cx="8229600" cy="566928"/>
          </a:xfrm>
          <a:prstGeom prst="roundRect">
            <a:avLst>
              <a:gd name="adj" fmla="val 50000"/>
            </a:avLst>
          </a:prstGeom>
          <a:solidFill>
            <a:srgbClr val="E3F5F1"/>
          </a:solidFill>
          <a:ln w="12700">
            <a:solidFill>
              <a:srgbClr val="0F8577"/>
            </a:solidFill>
            <a:prstDash val="solid"/>
          </a:ln>
        </p:spPr>
        <p:txBody>
          <a:bodyPr/>
          <a:p/>
        </p:txBody>
      </p:sp>
      <p:sp>
        <p:nvSpPr>
          <p:cNvPr id="9" name="Text 6"/>
          <p:cNvSpPr/>
          <p:nvPr/>
        </p:nvSpPr>
        <p:spPr>
          <a:xfrm>
            <a:off x="2286000" y="2926080"/>
            <a:ext cx="8229600" cy="566928"/>
          </a:xfrm>
          <a:prstGeom prst="rect">
            <a:avLst/>
          </a:prstGeom>
          <a:noFill/>
          <a:ln/>
        </p:spPr>
        <p:txBody>
          <a:bodyPr wrap="square" rtlCol="0" anchor="ctr"/>
          <a:lstStyle/>
          <a:p>
            <a:pPr algn="ctr" indent="0" marL="0">
              <a:buNone/>
            </a:pPr>
            <a:r>
              <a:rPr lang="en-US" sz="1250" b="1" dirty="0">
                <a:solidFill>
                  <a:srgbClr val="0F8577"/>
                </a:solidFill>
                <a:latin typeface="Consolas" pitchFamily="34" charset="0"/>
                <a:ea typeface="Consolas" pitchFamily="34" charset="-122"/>
                <a:cs typeface="Consolas" pitchFamily="34" charset="-120"/>
              </a:rPr>
              <a:t>▸  LIVE DEMO — open demo.html — walk all 7 Pillars</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graphicFrame>
        <p:nvGraphicFramePr>
          <p:cNvPr id="2" name="Chart 0" descr=""/>
          <p:cNvGraphicFramePr/>
          <p:nvPr/>
        </p:nvGraphicFramePr>
        <p:xfrm>
          <a:off x="0" y="4846320"/>
          <a:ext cx="12188952" cy="1737360"/>
        </p:xfrm>
        <a:graphic xmlns:a="http://schemas.openxmlformats.org/drawingml/2006/main">
          <a:graphicData uri="http://schemas.openxmlformats.org/drawingml/2006/chart">
            <c:chart xmlns:c="http://schemas.openxmlformats.org/drawingml/2006/chart" r:id="rId1"/>
          </a:graphicData>
        </a:graphic>
      </p:graphicFrame>
      <p:sp>
        <p:nvSpPr>
          <p:cNvPr id="3" name="Text 0"/>
          <p:cNvSpPr/>
          <p:nvPr/>
        </p:nvSpPr>
        <p:spPr>
          <a:xfrm>
            <a:off x="548640" y="365760"/>
            <a:ext cx="7315200" cy="274320"/>
          </a:xfrm>
          <a:prstGeom prst="rect">
            <a:avLst/>
          </a:prstGeom>
          <a:noFill/>
          <a:ln/>
        </p:spPr>
        <p:txBody>
          <a:bodyPr wrap="square" rtlCol="0" anchor="ctr"/>
          <a:lstStyle/>
          <a:p>
            <a:pPr indent="0" marL="0">
              <a:buNone/>
            </a:pPr>
            <a:r>
              <a:rPr lang="en-US" sz="1100" b="1" spc="200" kern="0" dirty="0">
                <a:solidFill>
                  <a:srgbClr val="5B4FC4"/>
                </a:solidFill>
                <a:latin typeface="Consolas" pitchFamily="34" charset="0"/>
                <a:ea typeface="Consolas" pitchFamily="34" charset="-122"/>
                <a:cs typeface="Consolas" pitchFamily="34" charset="-120"/>
              </a:rPr>
              <a:t>ACT IV · THE VALUE HYPOTHESIS</a:t>
            </a:r>
            <a:endParaRPr lang="en-US" sz="1100" dirty="0"/>
          </a:p>
        </p:txBody>
      </p:sp>
      <p:sp>
        <p:nvSpPr>
          <p:cNvPr id="4" name="Text 1"/>
          <p:cNvSpPr/>
          <p:nvPr/>
        </p:nvSpPr>
        <p:spPr>
          <a:xfrm>
            <a:off x="548640" y="640080"/>
            <a:ext cx="8229600" cy="548640"/>
          </a:xfrm>
          <a:prstGeom prst="rect">
            <a:avLst/>
          </a:prstGeom>
          <a:noFill/>
          <a:ln/>
        </p:spPr>
        <p:txBody>
          <a:bodyPr wrap="square" rtlCol="0" anchor="ctr"/>
          <a:lstStyle/>
          <a:p>
            <a:pPr indent="0" marL="0">
              <a:buNone/>
            </a:pPr>
            <a:r>
              <a:rPr lang="en-US" sz="2600" b="1" dirty="0">
                <a:solidFill>
                  <a:srgbClr val="1A2233"/>
                </a:solidFill>
                <a:latin typeface="Cambria" pitchFamily="34" charset="0"/>
                <a:ea typeface="Cambria" pitchFamily="34" charset="-122"/>
                <a:cs typeface="Cambria" pitchFamily="34" charset="-120"/>
              </a:rPr>
              <a:t>Value becomes visible</a:t>
            </a:r>
            <a:endParaRPr lang="en-US" sz="2600" dirty="0"/>
          </a:p>
        </p:txBody>
      </p:sp>
      <p:sp>
        <p:nvSpPr>
          <p:cNvPr id="5" name="Text 2"/>
          <p:cNvSpPr/>
          <p:nvPr/>
        </p:nvSpPr>
        <p:spPr>
          <a:xfrm>
            <a:off x="548640" y="1188720"/>
            <a:ext cx="8686800" cy="548640"/>
          </a:xfrm>
          <a:prstGeom prst="rect">
            <a:avLst/>
          </a:prstGeom>
          <a:noFill/>
          <a:ln/>
        </p:spPr>
        <p:txBody>
          <a:bodyPr wrap="square" rtlCol="0" anchor="ctr"/>
          <a:lstStyle/>
          <a:p>
            <a:pPr indent="0" marL="0">
              <a:lnSpc>
                <a:spcPts val="1800"/>
              </a:lnSpc>
              <a:buNone/>
            </a:pPr>
            <a:r>
              <a:rPr lang="en-US" sz="1300" dirty="0">
                <a:solidFill>
                  <a:srgbClr val="5A6C8F"/>
                </a:solidFill>
                <a:latin typeface="Calibri" pitchFamily="34" charset="0"/>
                <a:ea typeface="Calibri" pitchFamily="34" charset="-122"/>
                <a:cs typeface="Calibri" pitchFamily="34" charset="-120"/>
              </a:rPr>
              <a:t>With the system working, decisions accelerate, data becomes trustworthy, and the connection between strategy and execution strengthens.</a:t>
            </a:r>
            <a:endParaRPr lang="en-US" sz="1300" dirty="0"/>
          </a:p>
        </p:txBody>
      </p:sp>
      <p:sp>
        <p:nvSpPr>
          <p:cNvPr id="6" name="Shape 3"/>
          <p:cNvSpPr/>
          <p:nvPr/>
        </p:nvSpPr>
        <p:spPr>
          <a:xfrm>
            <a:off x="548640" y="1965960"/>
            <a:ext cx="3520440" cy="1463040"/>
          </a:xfrm>
          <a:prstGeom prst="roundRect">
            <a:avLst>
              <a:gd name="adj" fmla="val 5000"/>
            </a:avLst>
          </a:prstGeom>
          <a:solidFill>
            <a:srgbClr val="F5F7FA"/>
          </a:solidFill>
          <a:ln w="12700">
            <a:solidFill>
              <a:srgbClr val="E1E6EF"/>
            </a:solidFill>
            <a:prstDash val="solid"/>
          </a:ln>
        </p:spPr>
        <p:txBody>
          <a:bodyPr/>
          <a:p/>
        </p:txBody>
      </p:sp>
      <p:sp>
        <p:nvSpPr>
          <p:cNvPr id="7" name="Text 4"/>
          <p:cNvSpPr/>
          <p:nvPr/>
        </p:nvSpPr>
        <p:spPr>
          <a:xfrm>
            <a:off x="777240" y="2103120"/>
            <a:ext cx="3063240" cy="804672"/>
          </a:xfrm>
          <a:prstGeom prst="rect">
            <a:avLst/>
          </a:prstGeom>
          <a:noFill/>
          <a:ln/>
        </p:spPr>
        <p:txBody>
          <a:bodyPr wrap="square" rtlCol="0" anchor="b"/>
          <a:lstStyle/>
          <a:p>
            <a:pPr algn="l" indent="0" marL="0">
              <a:buNone/>
            </a:pPr>
            <a:r>
              <a:rPr lang="en-US" sz="3000" b="1" dirty="0">
                <a:solidFill>
                  <a:srgbClr val="5B4FC4"/>
                </a:solidFill>
                <a:latin typeface="Consolas" pitchFamily="34" charset="0"/>
                <a:ea typeface="Consolas" pitchFamily="34" charset="-122"/>
                <a:cs typeface="Consolas" pitchFamily="34" charset="-120"/>
              </a:rPr>
              <a:t>6.2×</a:t>
            </a:r>
            <a:endParaRPr lang="en-US" sz="3000" dirty="0"/>
          </a:p>
        </p:txBody>
      </p:sp>
      <p:sp>
        <p:nvSpPr>
          <p:cNvPr id="8" name="Text 5"/>
          <p:cNvSpPr/>
          <p:nvPr/>
        </p:nvSpPr>
        <p:spPr>
          <a:xfrm>
            <a:off x="777240" y="2843784"/>
            <a:ext cx="3063240" cy="512064"/>
          </a:xfrm>
          <a:prstGeom prst="rect">
            <a:avLst/>
          </a:prstGeom>
          <a:noFill/>
          <a:ln/>
        </p:spPr>
        <p:txBody>
          <a:bodyPr wrap="square" rtlCol="0" anchor="t"/>
          <a:lstStyle/>
          <a:p>
            <a:pPr algn="l" indent="0" marL="0">
              <a:buNone/>
            </a:pPr>
            <a:r>
              <a:rPr lang="en-US" sz="1100" dirty="0">
                <a:solidFill>
                  <a:srgbClr val="5A6C8F"/>
                </a:solidFill>
                <a:latin typeface="Calibri" pitchFamily="34" charset="0"/>
                <a:ea typeface="Calibri" pitchFamily="34" charset="-122"/>
                <a:cs typeface="Calibri" pitchFamily="34" charset="-120"/>
              </a:rPr>
              <a:t>Faster steering-committee decision cycle</a:t>
            </a:r>
            <a:endParaRPr lang="en-US" sz="1100" dirty="0"/>
          </a:p>
        </p:txBody>
      </p:sp>
      <p:sp>
        <p:nvSpPr>
          <p:cNvPr id="9" name="Shape 6"/>
          <p:cNvSpPr/>
          <p:nvPr/>
        </p:nvSpPr>
        <p:spPr>
          <a:xfrm>
            <a:off x="4206240" y="1965960"/>
            <a:ext cx="3520440" cy="1463040"/>
          </a:xfrm>
          <a:prstGeom prst="roundRect">
            <a:avLst>
              <a:gd name="adj" fmla="val 5000"/>
            </a:avLst>
          </a:prstGeom>
          <a:solidFill>
            <a:srgbClr val="F5F7FA"/>
          </a:solidFill>
          <a:ln w="12700">
            <a:solidFill>
              <a:srgbClr val="E1E6EF"/>
            </a:solidFill>
            <a:prstDash val="solid"/>
          </a:ln>
        </p:spPr>
        <p:txBody>
          <a:bodyPr/>
          <a:p/>
        </p:txBody>
      </p:sp>
      <p:sp>
        <p:nvSpPr>
          <p:cNvPr id="10" name="Text 7"/>
          <p:cNvSpPr/>
          <p:nvPr/>
        </p:nvSpPr>
        <p:spPr>
          <a:xfrm>
            <a:off x="4434840" y="2103120"/>
            <a:ext cx="3063240" cy="804672"/>
          </a:xfrm>
          <a:prstGeom prst="rect">
            <a:avLst/>
          </a:prstGeom>
          <a:noFill/>
          <a:ln/>
        </p:spPr>
        <p:txBody>
          <a:bodyPr wrap="square" rtlCol="0" anchor="b"/>
          <a:lstStyle/>
          <a:p>
            <a:pPr algn="l" indent="0" marL="0">
              <a:buNone/>
            </a:pPr>
            <a:r>
              <a:rPr lang="en-US" sz="3000" b="1" dirty="0">
                <a:solidFill>
                  <a:srgbClr val="0F8577"/>
                </a:solidFill>
                <a:latin typeface="Consolas" pitchFamily="34" charset="0"/>
                <a:ea typeface="Consolas" pitchFamily="34" charset="-122"/>
                <a:cs typeface="Consolas" pitchFamily="34" charset="-120"/>
              </a:rPr>
              <a:t>91%</a:t>
            </a:r>
            <a:endParaRPr lang="en-US" sz="3000" dirty="0"/>
          </a:p>
        </p:txBody>
      </p:sp>
      <p:sp>
        <p:nvSpPr>
          <p:cNvPr id="11" name="Text 8"/>
          <p:cNvSpPr/>
          <p:nvPr/>
        </p:nvSpPr>
        <p:spPr>
          <a:xfrm>
            <a:off x="4434840" y="2843784"/>
            <a:ext cx="3063240" cy="512064"/>
          </a:xfrm>
          <a:prstGeom prst="rect">
            <a:avLst/>
          </a:prstGeom>
          <a:noFill/>
          <a:ln/>
        </p:spPr>
        <p:txBody>
          <a:bodyPr wrap="square" rtlCol="0" anchor="t"/>
          <a:lstStyle/>
          <a:p>
            <a:pPr algn="l" indent="0" marL="0">
              <a:buNone/>
            </a:pPr>
            <a:r>
              <a:rPr lang="en-US" sz="1100" dirty="0">
                <a:solidFill>
                  <a:srgbClr val="5A6C8F"/>
                </a:solidFill>
                <a:latin typeface="Calibri" pitchFamily="34" charset="0"/>
                <a:ea typeface="Calibri" pitchFamily="34" charset="-122"/>
                <a:cs typeface="Calibri" pitchFamily="34" charset="-120"/>
              </a:rPr>
              <a:t>Of RAG statuses now backed by a statistical model, not an opinion</a:t>
            </a:r>
            <a:endParaRPr lang="en-US" sz="1100" dirty="0"/>
          </a:p>
        </p:txBody>
      </p:sp>
      <p:sp>
        <p:nvSpPr>
          <p:cNvPr id="12" name="Shape 9"/>
          <p:cNvSpPr/>
          <p:nvPr/>
        </p:nvSpPr>
        <p:spPr>
          <a:xfrm>
            <a:off x="7863840" y="1965960"/>
            <a:ext cx="3520440" cy="1463040"/>
          </a:xfrm>
          <a:prstGeom prst="roundRect">
            <a:avLst>
              <a:gd name="adj" fmla="val 5000"/>
            </a:avLst>
          </a:prstGeom>
          <a:solidFill>
            <a:srgbClr val="F5F7FA"/>
          </a:solidFill>
          <a:ln w="12700">
            <a:solidFill>
              <a:srgbClr val="E1E6EF"/>
            </a:solidFill>
            <a:prstDash val="solid"/>
          </a:ln>
        </p:spPr>
        <p:txBody>
          <a:bodyPr/>
          <a:p/>
        </p:txBody>
      </p:sp>
      <p:sp>
        <p:nvSpPr>
          <p:cNvPr id="13" name="Text 10"/>
          <p:cNvSpPr/>
          <p:nvPr/>
        </p:nvSpPr>
        <p:spPr>
          <a:xfrm>
            <a:off x="8092440" y="2103120"/>
            <a:ext cx="3063240" cy="804672"/>
          </a:xfrm>
          <a:prstGeom prst="rect">
            <a:avLst/>
          </a:prstGeom>
          <a:noFill/>
          <a:ln/>
        </p:spPr>
        <p:txBody>
          <a:bodyPr wrap="square" rtlCol="0" anchor="b"/>
          <a:lstStyle/>
          <a:p>
            <a:pPr algn="l" indent="0" marL="0">
              <a:buNone/>
            </a:pPr>
            <a:r>
              <a:rPr lang="en-US" sz="3000" b="1" dirty="0">
                <a:solidFill>
                  <a:srgbClr val="0F8577"/>
                </a:solidFill>
                <a:latin typeface="Consolas" pitchFamily="34" charset="0"/>
                <a:ea typeface="Consolas" pitchFamily="34" charset="-122"/>
                <a:cs typeface="Consolas" pitchFamily="34" charset="-120"/>
              </a:rPr>
              <a:t>31.5 hrs</a:t>
            </a:r>
            <a:endParaRPr lang="en-US" sz="3000" dirty="0"/>
          </a:p>
        </p:txBody>
      </p:sp>
      <p:sp>
        <p:nvSpPr>
          <p:cNvPr id="14" name="Text 11"/>
          <p:cNvSpPr/>
          <p:nvPr/>
        </p:nvSpPr>
        <p:spPr>
          <a:xfrm>
            <a:off x="8092440" y="2843784"/>
            <a:ext cx="3063240" cy="512064"/>
          </a:xfrm>
          <a:prstGeom prst="rect">
            <a:avLst/>
          </a:prstGeom>
          <a:noFill/>
          <a:ln/>
        </p:spPr>
        <p:txBody>
          <a:bodyPr wrap="square" rtlCol="0" anchor="t"/>
          <a:lstStyle/>
          <a:p>
            <a:pPr algn="l" indent="0" marL="0">
              <a:buNone/>
            </a:pPr>
            <a:r>
              <a:rPr lang="en-US" sz="1100" dirty="0">
                <a:solidFill>
                  <a:srgbClr val="5A6C8F"/>
                </a:solidFill>
                <a:latin typeface="Calibri" pitchFamily="34" charset="0"/>
                <a:ea typeface="Calibri" pitchFamily="34" charset="-122"/>
                <a:cs typeface="Calibri" pitchFamily="34" charset="-120"/>
              </a:rPr>
              <a:t>Analyst hours per week returned to actual portfolio judgment</a:t>
            </a:r>
            <a:endParaRPr lang="en-US" sz="1100" dirty="0"/>
          </a:p>
        </p:txBody>
      </p:sp>
      <p:sp>
        <p:nvSpPr>
          <p:cNvPr id="15" name="Shape 12"/>
          <p:cNvSpPr/>
          <p:nvPr/>
        </p:nvSpPr>
        <p:spPr>
          <a:xfrm>
            <a:off x="548640" y="3703320"/>
            <a:ext cx="10835640" cy="1371600"/>
          </a:xfrm>
          <a:prstGeom prst="roundRect">
            <a:avLst>
              <a:gd name="adj" fmla="val 4000"/>
            </a:avLst>
          </a:prstGeom>
          <a:solidFill>
            <a:srgbClr val="F5F7FA"/>
          </a:solidFill>
          <a:ln w="12700">
            <a:solidFill>
              <a:srgbClr val="E1E6EF"/>
            </a:solidFill>
            <a:prstDash val="solid"/>
          </a:ln>
        </p:spPr>
        <p:txBody>
          <a:bodyPr/>
          <a:p/>
        </p:txBody>
      </p:sp>
      <p:sp>
        <p:nvSpPr>
          <p:cNvPr id="16" name="Text 13"/>
          <p:cNvSpPr/>
          <p:nvPr/>
        </p:nvSpPr>
        <p:spPr>
          <a:xfrm>
            <a:off x="822960" y="3886200"/>
            <a:ext cx="7315200" cy="320040"/>
          </a:xfrm>
          <a:prstGeom prst="rect">
            <a:avLst/>
          </a:prstGeom>
          <a:noFill/>
          <a:ln/>
        </p:spPr>
        <p:txBody>
          <a:bodyPr wrap="square" rtlCol="0" anchor="ctr"/>
          <a:lstStyle/>
          <a:p>
            <a:pPr indent="0" marL="0">
              <a:buNone/>
            </a:pPr>
            <a:r>
              <a:rPr lang="en-US" sz="1200" b="1" dirty="0">
                <a:solidFill>
                  <a:srgbClr val="1A2233"/>
                </a:solidFill>
                <a:latin typeface="Calibri" pitchFamily="34" charset="0"/>
                <a:ea typeface="Calibri" pitchFamily="34" charset="-122"/>
                <a:cs typeface="Calibri" pitchFamily="34" charset="-120"/>
              </a:rPr>
              <a:t>Decision velocity: risk emerges → leadership acts</a:t>
            </a:r>
            <a:endParaRPr lang="en-US" sz="1200" dirty="0"/>
          </a:p>
        </p:txBody>
      </p:sp>
      <p:sp>
        <p:nvSpPr>
          <p:cNvPr id="17" name="Text 14"/>
          <p:cNvSpPr/>
          <p:nvPr/>
        </p:nvSpPr>
        <p:spPr>
          <a:xfrm>
            <a:off x="822960" y="4251960"/>
            <a:ext cx="5029200" cy="365760"/>
          </a:xfrm>
          <a:prstGeom prst="rect">
            <a:avLst/>
          </a:prstGeom>
          <a:noFill/>
          <a:ln/>
        </p:spPr>
        <p:txBody>
          <a:bodyPr wrap="square" rtlCol="0" anchor="ctr"/>
          <a:lstStyle/>
          <a:p>
            <a:pPr indent="0" marL="0">
              <a:buNone/>
            </a:pPr>
            <a:r>
              <a:rPr lang="en-US" sz="1300" dirty="0">
                <a:solidFill>
                  <a:srgbClr val="7C8AA6"/>
                </a:solidFill>
                <a:latin typeface="Consolas" pitchFamily="34" charset="0"/>
                <a:ea typeface="Consolas" pitchFamily="34" charset="-122"/>
                <a:cs typeface="Consolas" pitchFamily="34" charset="-120"/>
              </a:rPr>
              <a:t>Before:  9 + 6 + 4  =  19 days</a:t>
            </a:r>
            <a:endParaRPr lang="en-US" sz="1300" dirty="0"/>
          </a:p>
        </p:txBody>
      </p:sp>
      <p:sp>
        <p:nvSpPr>
          <p:cNvPr id="18" name="Text 15"/>
          <p:cNvSpPr/>
          <p:nvPr/>
        </p:nvSpPr>
        <p:spPr>
          <a:xfrm>
            <a:off x="822960" y="4617720"/>
            <a:ext cx="5029200" cy="365760"/>
          </a:xfrm>
          <a:prstGeom prst="rect">
            <a:avLst/>
          </a:prstGeom>
          <a:noFill/>
          <a:ln/>
        </p:spPr>
        <p:txBody>
          <a:bodyPr wrap="square" rtlCol="0" anchor="ctr"/>
          <a:lstStyle/>
          <a:p>
            <a:pPr indent="0" marL="0">
              <a:buNone/>
            </a:pPr>
            <a:r>
              <a:rPr lang="en-US" sz="1300" b="1" dirty="0">
                <a:solidFill>
                  <a:srgbClr val="0F8577"/>
                </a:solidFill>
                <a:latin typeface="Consolas" pitchFamily="34" charset="0"/>
                <a:ea typeface="Consolas" pitchFamily="34" charset="-122"/>
                <a:cs typeface="Consolas" pitchFamily="34" charset="-120"/>
              </a:rPr>
              <a:t>After:  0.4 + 0.8 + 1.1  =  2.3 days</a:t>
            </a:r>
            <a:endParaRPr lang="en-US" sz="1300" dirty="0"/>
          </a:p>
        </p:txBody>
      </p:sp>
      <p:sp>
        <p:nvSpPr>
          <p:cNvPr id="19" name="Text 16"/>
          <p:cNvSpPr/>
          <p:nvPr/>
        </p:nvSpPr>
        <p:spPr>
          <a:xfrm>
            <a:off x="11365992" y="6355080"/>
            <a:ext cx="548640" cy="320040"/>
          </a:xfrm>
          <a:prstGeom prst="rect">
            <a:avLst/>
          </a:prstGeom>
          <a:noFill/>
          <a:ln/>
        </p:spPr>
        <p:txBody>
          <a:bodyPr wrap="square" rtlCol="0" anchor="ctr"/>
          <a:lstStyle/>
          <a:p>
            <a:pPr algn="r" indent="0" marL="0">
              <a:buNone/>
            </a:pPr>
            <a:r>
              <a:rPr lang="en-US" sz="900" dirty="0">
                <a:solidFill>
                  <a:srgbClr val="7C8AA6"/>
                </a:solidFill>
                <a:latin typeface="Consolas" pitchFamily="34" charset="0"/>
                <a:ea typeface="Consolas" pitchFamily="34" charset="-122"/>
                <a:cs typeface="Consolas"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65760"/>
            <a:ext cx="7315200" cy="274320"/>
          </a:xfrm>
          <a:prstGeom prst="rect">
            <a:avLst/>
          </a:prstGeom>
          <a:noFill/>
          <a:ln/>
        </p:spPr>
        <p:txBody>
          <a:bodyPr wrap="square" rtlCol="0" anchor="ctr"/>
          <a:lstStyle/>
          <a:p>
            <a:pPr indent="0" marL="0">
              <a:buNone/>
            </a:pPr>
            <a:r>
              <a:rPr lang="en-US" sz="1100" b="1" spc="200" kern="0" dirty="0">
                <a:solidFill>
                  <a:srgbClr val="0F8577"/>
                </a:solidFill>
                <a:latin typeface="Consolas" pitchFamily="34" charset="0"/>
                <a:ea typeface="Consolas" pitchFamily="34" charset="-122"/>
                <a:cs typeface="Consolas" pitchFamily="34" charset="-120"/>
              </a:rPr>
              <a:t>ACT V · THE OUTCOME REALIZED</a:t>
            </a:r>
            <a:endParaRPr lang="en-US" sz="1100" dirty="0"/>
          </a:p>
        </p:txBody>
      </p:sp>
      <p:sp>
        <p:nvSpPr>
          <p:cNvPr id="3" name="Text 1"/>
          <p:cNvSpPr/>
          <p:nvPr/>
        </p:nvSpPr>
        <p:spPr>
          <a:xfrm>
            <a:off x="548640" y="640080"/>
            <a:ext cx="8229600" cy="548640"/>
          </a:xfrm>
          <a:prstGeom prst="rect">
            <a:avLst/>
          </a:prstGeom>
          <a:noFill/>
          <a:ln/>
        </p:spPr>
        <p:txBody>
          <a:bodyPr wrap="square" rtlCol="0" anchor="ctr"/>
          <a:lstStyle/>
          <a:p>
            <a:pPr indent="0" marL="0">
              <a:buNone/>
            </a:pPr>
            <a:r>
              <a:rPr lang="en-US" sz="2600" b="1" dirty="0">
                <a:solidFill>
                  <a:srgbClr val="1A2233"/>
                </a:solidFill>
                <a:latin typeface="Cambria" pitchFamily="34" charset="0"/>
                <a:ea typeface="Cambria" pitchFamily="34" charset="-122"/>
                <a:cs typeface="Cambria" pitchFamily="34" charset="-120"/>
              </a:rPr>
              <a:t>Two quarters later</a:t>
            </a:r>
            <a:endParaRPr lang="en-US" sz="2600" dirty="0"/>
          </a:p>
        </p:txBody>
      </p:sp>
      <p:sp>
        <p:nvSpPr>
          <p:cNvPr id="4" name="Text 2"/>
          <p:cNvSpPr/>
          <p:nvPr/>
        </p:nvSpPr>
        <p:spPr>
          <a:xfrm>
            <a:off x="548640" y="1188720"/>
            <a:ext cx="8869680" cy="548640"/>
          </a:xfrm>
          <a:prstGeom prst="rect">
            <a:avLst/>
          </a:prstGeom>
          <a:noFill/>
          <a:ln/>
        </p:spPr>
        <p:txBody>
          <a:bodyPr wrap="square" rtlCol="0" anchor="ctr"/>
          <a:lstStyle/>
          <a:p>
            <a:pPr indent="0" marL="0">
              <a:lnSpc>
                <a:spcPts val="1800"/>
              </a:lnSpc>
              <a:buNone/>
            </a:pPr>
            <a:r>
              <a:rPr lang="en-US" sz="1300" dirty="0">
                <a:solidFill>
                  <a:srgbClr val="5A6C8F"/>
                </a:solidFill>
                <a:latin typeface="Calibri" pitchFamily="34" charset="0"/>
                <a:ea typeface="Calibri" pitchFamily="34" charset="-122"/>
                <a:cs typeface="Calibri" pitchFamily="34" charset="-120"/>
              </a:rPr>
              <a:t>Leadership regains confidence as measurable outcomes emerge. Adoption drives ROI, and the anxiety that opened this story has an answer.</a:t>
            </a:r>
            <a:endParaRPr lang="en-US" sz="1300" dirty="0"/>
          </a:p>
        </p:txBody>
      </p:sp>
      <p:sp>
        <p:nvSpPr>
          <p:cNvPr id="5" name="Shape 3"/>
          <p:cNvSpPr/>
          <p:nvPr/>
        </p:nvSpPr>
        <p:spPr>
          <a:xfrm>
            <a:off x="548640" y="1920240"/>
            <a:ext cx="2606040" cy="1463040"/>
          </a:xfrm>
          <a:prstGeom prst="roundRect">
            <a:avLst>
              <a:gd name="adj" fmla="val 5000"/>
            </a:avLst>
          </a:prstGeom>
          <a:solidFill>
            <a:srgbClr val="F5F7FA"/>
          </a:solidFill>
          <a:ln w="12700">
            <a:solidFill>
              <a:srgbClr val="E1E6EF"/>
            </a:solidFill>
            <a:prstDash val="solid"/>
          </a:ln>
        </p:spPr>
        <p:txBody>
          <a:bodyPr/>
          <a:p/>
        </p:txBody>
      </p:sp>
      <p:sp>
        <p:nvSpPr>
          <p:cNvPr id="6" name="Text 4"/>
          <p:cNvSpPr/>
          <p:nvPr/>
        </p:nvSpPr>
        <p:spPr>
          <a:xfrm>
            <a:off x="777240" y="2057400"/>
            <a:ext cx="2148840" cy="804672"/>
          </a:xfrm>
          <a:prstGeom prst="rect">
            <a:avLst/>
          </a:prstGeom>
          <a:noFill/>
          <a:ln/>
        </p:spPr>
        <p:txBody>
          <a:bodyPr wrap="square" rtlCol="0" anchor="b"/>
          <a:lstStyle/>
          <a:p>
            <a:pPr algn="l" indent="0" marL="0">
              <a:buNone/>
            </a:pPr>
            <a:r>
              <a:rPr lang="en-US" sz="3000" b="1" dirty="0">
                <a:solidFill>
                  <a:srgbClr val="0F8577"/>
                </a:solidFill>
                <a:latin typeface="Consolas" pitchFamily="34" charset="0"/>
                <a:ea typeface="Consolas" pitchFamily="34" charset="-122"/>
                <a:cs typeface="Consolas" pitchFamily="34" charset="-120"/>
              </a:rPr>
              <a:t>$5.8M</a:t>
            </a:r>
            <a:endParaRPr lang="en-US" sz="3000" dirty="0"/>
          </a:p>
        </p:txBody>
      </p:sp>
      <p:sp>
        <p:nvSpPr>
          <p:cNvPr id="7" name="Text 5"/>
          <p:cNvSpPr/>
          <p:nvPr/>
        </p:nvSpPr>
        <p:spPr>
          <a:xfrm>
            <a:off x="777240" y="2798064"/>
            <a:ext cx="2148840" cy="512064"/>
          </a:xfrm>
          <a:prstGeom prst="rect">
            <a:avLst/>
          </a:prstGeom>
          <a:noFill/>
          <a:ln/>
        </p:spPr>
        <p:txBody>
          <a:bodyPr wrap="square" rtlCol="0" anchor="t"/>
          <a:lstStyle/>
          <a:p>
            <a:pPr algn="l" indent="0" marL="0">
              <a:buNone/>
            </a:pPr>
            <a:r>
              <a:rPr lang="en-US" sz="1100" dirty="0">
                <a:solidFill>
                  <a:srgbClr val="5A6C8F"/>
                </a:solidFill>
                <a:latin typeface="Calibri" pitchFamily="34" charset="0"/>
                <a:ea typeface="Calibri" pitchFamily="34" charset="-122"/>
                <a:cs typeface="Calibri" pitchFamily="34" charset="-120"/>
              </a:rPr>
              <a:t>Documented portfolio ROI</a:t>
            </a:r>
            <a:endParaRPr lang="en-US" sz="1100" dirty="0"/>
          </a:p>
        </p:txBody>
      </p:sp>
      <p:sp>
        <p:nvSpPr>
          <p:cNvPr id="8" name="Shape 6"/>
          <p:cNvSpPr/>
          <p:nvPr/>
        </p:nvSpPr>
        <p:spPr>
          <a:xfrm>
            <a:off x="3291840" y="1920240"/>
            <a:ext cx="2606040" cy="1463040"/>
          </a:xfrm>
          <a:prstGeom prst="roundRect">
            <a:avLst>
              <a:gd name="adj" fmla="val 5000"/>
            </a:avLst>
          </a:prstGeom>
          <a:solidFill>
            <a:srgbClr val="F5F7FA"/>
          </a:solidFill>
          <a:ln w="12700">
            <a:solidFill>
              <a:srgbClr val="E1E6EF"/>
            </a:solidFill>
            <a:prstDash val="solid"/>
          </a:ln>
        </p:spPr>
        <p:txBody>
          <a:bodyPr/>
          <a:p/>
        </p:txBody>
      </p:sp>
      <p:sp>
        <p:nvSpPr>
          <p:cNvPr id="9" name="Text 7"/>
          <p:cNvSpPr/>
          <p:nvPr/>
        </p:nvSpPr>
        <p:spPr>
          <a:xfrm>
            <a:off x="3520440" y="2057400"/>
            <a:ext cx="2148840" cy="804672"/>
          </a:xfrm>
          <a:prstGeom prst="rect">
            <a:avLst/>
          </a:prstGeom>
          <a:noFill/>
          <a:ln/>
        </p:spPr>
        <p:txBody>
          <a:bodyPr wrap="square" rtlCol="0" anchor="b"/>
          <a:lstStyle/>
          <a:p>
            <a:pPr algn="l" indent="0" marL="0">
              <a:buNone/>
            </a:pPr>
            <a:r>
              <a:rPr lang="en-US" sz="3000" b="1" dirty="0">
                <a:solidFill>
                  <a:srgbClr val="0F8577"/>
                </a:solidFill>
                <a:latin typeface="Consolas" pitchFamily="34" charset="0"/>
                <a:ea typeface="Consolas" pitchFamily="34" charset="-122"/>
                <a:cs typeface="Consolas" pitchFamily="34" charset="-120"/>
              </a:rPr>
              <a:t>±4.2%</a:t>
            </a:r>
            <a:endParaRPr lang="en-US" sz="3000" dirty="0"/>
          </a:p>
        </p:txBody>
      </p:sp>
      <p:sp>
        <p:nvSpPr>
          <p:cNvPr id="10" name="Text 8"/>
          <p:cNvSpPr/>
          <p:nvPr/>
        </p:nvSpPr>
        <p:spPr>
          <a:xfrm>
            <a:off x="3520440" y="2798064"/>
            <a:ext cx="2148840" cy="512064"/>
          </a:xfrm>
          <a:prstGeom prst="rect">
            <a:avLst/>
          </a:prstGeom>
          <a:noFill/>
          <a:ln/>
        </p:spPr>
        <p:txBody>
          <a:bodyPr wrap="square" rtlCol="0" anchor="t"/>
          <a:lstStyle/>
          <a:p>
            <a:pPr algn="l" indent="0" marL="0">
              <a:buNone/>
            </a:pPr>
            <a:r>
              <a:rPr lang="en-US" sz="1100" dirty="0">
                <a:solidFill>
                  <a:srgbClr val="5A6C8F"/>
                </a:solidFill>
                <a:latin typeface="Calibri" pitchFamily="34" charset="0"/>
                <a:ea typeface="Calibri" pitchFamily="34" charset="-122"/>
                <a:cs typeface="Calibri" pitchFamily="34" charset="-120"/>
              </a:rPr>
              <a:t>Forecast accuracy — was ±22%</a:t>
            </a:r>
            <a:endParaRPr lang="en-US" sz="1100" dirty="0"/>
          </a:p>
        </p:txBody>
      </p:sp>
      <p:sp>
        <p:nvSpPr>
          <p:cNvPr id="11" name="Shape 9"/>
          <p:cNvSpPr/>
          <p:nvPr/>
        </p:nvSpPr>
        <p:spPr>
          <a:xfrm>
            <a:off x="6035040" y="1920240"/>
            <a:ext cx="2606040" cy="1463040"/>
          </a:xfrm>
          <a:prstGeom prst="roundRect">
            <a:avLst>
              <a:gd name="adj" fmla="val 5000"/>
            </a:avLst>
          </a:prstGeom>
          <a:solidFill>
            <a:srgbClr val="F5F7FA"/>
          </a:solidFill>
          <a:ln w="12700">
            <a:solidFill>
              <a:srgbClr val="E1E6EF"/>
            </a:solidFill>
            <a:prstDash val="solid"/>
          </a:ln>
        </p:spPr>
        <p:txBody>
          <a:bodyPr/>
          <a:p/>
        </p:txBody>
      </p:sp>
      <p:sp>
        <p:nvSpPr>
          <p:cNvPr id="12" name="Text 10"/>
          <p:cNvSpPr/>
          <p:nvPr/>
        </p:nvSpPr>
        <p:spPr>
          <a:xfrm>
            <a:off x="6263640" y="2057400"/>
            <a:ext cx="2148840" cy="804672"/>
          </a:xfrm>
          <a:prstGeom prst="rect">
            <a:avLst/>
          </a:prstGeom>
          <a:noFill/>
          <a:ln/>
        </p:spPr>
        <p:txBody>
          <a:bodyPr wrap="square" rtlCol="0" anchor="b"/>
          <a:lstStyle/>
          <a:p>
            <a:pPr algn="l" indent="0" marL="0">
              <a:buNone/>
            </a:pPr>
            <a:r>
              <a:rPr lang="en-US" sz="3000" b="1" dirty="0">
                <a:solidFill>
                  <a:srgbClr val="0F8577"/>
                </a:solidFill>
                <a:latin typeface="Consolas" pitchFamily="34" charset="0"/>
                <a:ea typeface="Consolas" pitchFamily="34" charset="-122"/>
                <a:cs typeface="Consolas" pitchFamily="34" charset="-120"/>
              </a:rPr>
              <a:t>9 of 11</a:t>
            </a:r>
            <a:endParaRPr lang="en-US" sz="3000" dirty="0"/>
          </a:p>
        </p:txBody>
      </p:sp>
      <p:sp>
        <p:nvSpPr>
          <p:cNvPr id="13" name="Text 11"/>
          <p:cNvSpPr/>
          <p:nvPr/>
        </p:nvSpPr>
        <p:spPr>
          <a:xfrm>
            <a:off x="6263640" y="2798064"/>
            <a:ext cx="2148840" cy="512064"/>
          </a:xfrm>
          <a:prstGeom prst="rect">
            <a:avLst/>
          </a:prstGeom>
          <a:noFill/>
          <a:ln/>
        </p:spPr>
        <p:txBody>
          <a:bodyPr wrap="square" rtlCol="0" anchor="t"/>
          <a:lstStyle/>
          <a:p>
            <a:pPr algn="l" indent="0" marL="0">
              <a:buNone/>
            </a:pPr>
            <a:r>
              <a:rPr lang="en-US" sz="1100" dirty="0">
                <a:solidFill>
                  <a:srgbClr val="5A6C8F"/>
                </a:solidFill>
                <a:latin typeface="Calibri" pitchFamily="34" charset="0"/>
                <a:ea typeface="Calibri" pitchFamily="34" charset="-122"/>
                <a:cs typeface="Calibri" pitchFamily="34" charset="-120"/>
              </a:rPr>
              <a:t>Red events caught before RAG flip</a:t>
            </a:r>
            <a:endParaRPr lang="en-US" sz="1100" dirty="0"/>
          </a:p>
        </p:txBody>
      </p:sp>
      <p:sp>
        <p:nvSpPr>
          <p:cNvPr id="14" name="Shape 12"/>
          <p:cNvSpPr/>
          <p:nvPr/>
        </p:nvSpPr>
        <p:spPr>
          <a:xfrm>
            <a:off x="8778240" y="1920240"/>
            <a:ext cx="2606040" cy="1463040"/>
          </a:xfrm>
          <a:prstGeom prst="roundRect">
            <a:avLst>
              <a:gd name="adj" fmla="val 5000"/>
            </a:avLst>
          </a:prstGeom>
          <a:solidFill>
            <a:srgbClr val="F5F7FA"/>
          </a:solidFill>
          <a:ln w="12700">
            <a:solidFill>
              <a:srgbClr val="E1E6EF"/>
            </a:solidFill>
            <a:prstDash val="solid"/>
          </a:ln>
        </p:spPr>
        <p:txBody>
          <a:bodyPr/>
          <a:p/>
        </p:txBody>
      </p:sp>
      <p:sp>
        <p:nvSpPr>
          <p:cNvPr id="15" name="Text 13"/>
          <p:cNvSpPr/>
          <p:nvPr/>
        </p:nvSpPr>
        <p:spPr>
          <a:xfrm>
            <a:off x="9006840" y="2057400"/>
            <a:ext cx="2148840" cy="804672"/>
          </a:xfrm>
          <a:prstGeom prst="rect">
            <a:avLst/>
          </a:prstGeom>
          <a:noFill/>
          <a:ln/>
        </p:spPr>
        <p:txBody>
          <a:bodyPr wrap="square" rtlCol="0" anchor="b"/>
          <a:lstStyle/>
          <a:p>
            <a:pPr algn="l" indent="0" marL="0">
              <a:buNone/>
            </a:pPr>
            <a:r>
              <a:rPr lang="en-US" sz="3000" b="1" dirty="0">
                <a:solidFill>
                  <a:srgbClr val="0F8577"/>
                </a:solidFill>
                <a:latin typeface="Consolas" pitchFamily="34" charset="0"/>
                <a:ea typeface="Consolas" pitchFamily="34" charset="-122"/>
                <a:cs typeface="Consolas" pitchFamily="34" charset="-120"/>
              </a:rPr>
              <a:t>8.7 / 10</a:t>
            </a:r>
            <a:endParaRPr lang="en-US" sz="3000" dirty="0"/>
          </a:p>
        </p:txBody>
      </p:sp>
      <p:sp>
        <p:nvSpPr>
          <p:cNvPr id="16" name="Text 14"/>
          <p:cNvSpPr/>
          <p:nvPr/>
        </p:nvSpPr>
        <p:spPr>
          <a:xfrm>
            <a:off x="9006840" y="2798064"/>
            <a:ext cx="2148840" cy="512064"/>
          </a:xfrm>
          <a:prstGeom prst="rect">
            <a:avLst/>
          </a:prstGeom>
          <a:noFill/>
          <a:ln/>
        </p:spPr>
        <p:txBody>
          <a:bodyPr wrap="square" rtlCol="0" anchor="t"/>
          <a:lstStyle/>
          <a:p>
            <a:pPr algn="l" indent="0" marL="0">
              <a:buNone/>
            </a:pPr>
            <a:r>
              <a:rPr lang="en-US" sz="1100" dirty="0">
                <a:solidFill>
                  <a:srgbClr val="5A6C8F"/>
                </a:solidFill>
                <a:latin typeface="Calibri" pitchFamily="34" charset="0"/>
                <a:ea typeface="Calibri" pitchFamily="34" charset="-122"/>
                <a:cs typeface="Calibri" pitchFamily="34" charset="-120"/>
              </a:rPr>
              <a:t>Executive trust score — was 4.1</a:t>
            </a:r>
            <a:endParaRPr lang="en-US" sz="1100" dirty="0"/>
          </a:p>
        </p:txBody>
      </p:sp>
      <p:sp>
        <p:nvSpPr>
          <p:cNvPr id="17" name="Shape 15"/>
          <p:cNvSpPr/>
          <p:nvPr/>
        </p:nvSpPr>
        <p:spPr>
          <a:xfrm>
            <a:off x="548640" y="3703320"/>
            <a:ext cx="10835640" cy="2377440"/>
          </a:xfrm>
          <a:prstGeom prst="roundRect">
            <a:avLst>
              <a:gd name="adj" fmla="val 2308"/>
            </a:avLst>
          </a:prstGeom>
          <a:solidFill>
            <a:srgbClr val="EDF1F7"/>
          </a:solidFill>
          <a:ln w="12700">
            <a:solidFill>
              <a:srgbClr val="E1E6EF"/>
            </a:solidFill>
            <a:prstDash val="solid"/>
          </a:ln>
        </p:spPr>
        <p:txBody>
          <a:bodyPr/>
          <a:p/>
        </p:txBody>
      </p:sp>
      <p:sp>
        <p:nvSpPr>
          <p:cNvPr id="18" name="Text 16"/>
          <p:cNvSpPr/>
          <p:nvPr/>
        </p:nvSpPr>
        <p:spPr>
          <a:xfrm>
            <a:off x="914400" y="4023360"/>
            <a:ext cx="9601200" cy="1280160"/>
          </a:xfrm>
          <a:prstGeom prst="rect">
            <a:avLst/>
          </a:prstGeom>
          <a:noFill/>
          <a:ln/>
        </p:spPr>
        <p:txBody>
          <a:bodyPr wrap="square" rtlCol="0" anchor="ctr"/>
          <a:lstStyle/>
          <a:p>
            <a:pPr indent="0" marL="0">
              <a:lnSpc>
                <a:spcPts val="2800"/>
              </a:lnSpc>
              <a:buNone/>
            </a:pPr>
            <a:r>
              <a:rPr lang="en-US" sz="2200" i="1" dirty="0">
                <a:solidFill>
                  <a:srgbClr val="1A2233"/>
                </a:solidFill>
                <a:latin typeface="Cambria" pitchFamily="34" charset="0"/>
                <a:ea typeface="Cambria" pitchFamily="34" charset="-122"/>
                <a:cs typeface="Cambria" pitchFamily="34" charset="-120"/>
              </a:rPr>
              <a:t>“I stopped asking whether the number was real.</a:t>
            </a:r>
            <a:endParaRPr lang="en-US" sz="2200" dirty="0"/>
          </a:p>
          <a:p>
            <a:pPr indent="0" marL="0">
              <a:lnSpc>
                <a:spcPts val="2800"/>
              </a:lnSpc>
              <a:buNone/>
            </a:pPr>
            <a:r>
              <a:rPr lang="en-US" sz="2200" i="1" dirty="0">
                <a:solidFill>
                  <a:srgbClr val="1A2233"/>
                </a:solidFill>
                <a:latin typeface="Cambria" pitchFamily="34" charset="0"/>
                <a:ea typeface="Cambria" pitchFamily="34" charset="-122"/>
                <a:cs typeface="Cambria" pitchFamily="34" charset="-120"/>
              </a:rPr>
              <a:t>Now I ask what we're going to do about it.”</a:t>
            </a:r>
            <a:endParaRPr lang="en-US" sz="2200" dirty="0"/>
          </a:p>
        </p:txBody>
      </p:sp>
      <p:sp>
        <p:nvSpPr>
          <p:cNvPr id="19" name="Text 17"/>
          <p:cNvSpPr/>
          <p:nvPr/>
        </p:nvSpPr>
        <p:spPr>
          <a:xfrm>
            <a:off x="914400" y="5349240"/>
            <a:ext cx="5486400" cy="365760"/>
          </a:xfrm>
          <a:prstGeom prst="rect">
            <a:avLst/>
          </a:prstGeom>
          <a:noFill/>
          <a:ln/>
        </p:spPr>
        <p:txBody>
          <a:bodyPr wrap="square" rtlCol="0" anchor="ctr"/>
          <a:lstStyle/>
          <a:p>
            <a:pPr indent="0" marL="0">
              <a:buNone/>
            </a:pPr>
            <a:r>
              <a:rPr lang="en-US" sz="1100" dirty="0">
                <a:solidFill>
                  <a:srgbClr val="7C8AA6"/>
                </a:solidFill>
                <a:latin typeface="Consolas" pitchFamily="34" charset="0"/>
                <a:ea typeface="Consolas" pitchFamily="34" charset="-122"/>
                <a:cs typeface="Consolas" pitchFamily="34" charset="-120"/>
              </a:rPr>
              <a:t>— the same leader from Act I</a:t>
            </a:r>
            <a:endParaRPr lang="en-US" sz="1100" dirty="0"/>
          </a:p>
        </p:txBody>
      </p:sp>
      <p:sp>
        <p:nvSpPr>
          <p:cNvPr id="20" name="Text 18"/>
          <p:cNvSpPr/>
          <p:nvPr/>
        </p:nvSpPr>
        <p:spPr>
          <a:xfrm>
            <a:off x="11365992" y="6355080"/>
            <a:ext cx="548640" cy="320040"/>
          </a:xfrm>
          <a:prstGeom prst="rect">
            <a:avLst/>
          </a:prstGeom>
          <a:noFill/>
          <a:ln/>
        </p:spPr>
        <p:txBody>
          <a:bodyPr wrap="square" rtlCol="0" anchor="ctr"/>
          <a:lstStyle/>
          <a:p>
            <a:pPr algn="r" indent="0" marL="0">
              <a:buNone/>
            </a:pPr>
            <a:r>
              <a:rPr lang="en-US" sz="900" dirty="0">
                <a:solidFill>
                  <a:srgbClr val="7C8AA6"/>
                </a:solidFill>
                <a:latin typeface="Consolas" pitchFamily="34" charset="0"/>
                <a:ea typeface="Consolas" pitchFamily="34" charset="-122"/>
                <a:cs typeface="Consolas"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graphicFrame>
        <p:nvGraphicFramePr>
          <p:cNvPr id="2" name="Chart 0" descr=""/>
          <p:cNvGraphicFramePr/>
          <p:nvPr/>
        </p:nvGraphicFramePr>
        <p:xfrm>
          <a:off x="0" y="4206240"/>
          <a:ext cx="12188952" cy="2377440"/>
        </p:xfrm>
        <a:graphic xmlns:a="http://schemas.openxmlformats.org/drawingml/2006/main">
          <a:graphicData uri="http://schemas.openxmlformats.org/drawingml/2006/chart">
            <c:chart xmlns:c="http://schemas.openxmlformats.org/drawingml/2006/chart" r:id="rId1"/>
          </a:graphicData>
        </a:graphic>
      </p:graphicFrame>
      <p:sp>
        <p:nvSpPr>
          <p:cNvPr id="3" name="Text 0"/>
          <p:cNvSpPr/>
          <p:nvPr/>
        </p:nvSpPr>
        <p:spPr>
          <a:xfrm>
            <a:off x="822960" y="1463040"/>
            <a:ext cx="5486400" cy="320040"/>
          </a:xfrm>
          <a:prstGeom prst="rect">
            <a:avLst/>
          </a:prstGeom>
          <a:noFill/>
          <a:ln/>
        </p:spPr>
        <p:txBody>
          <a:bodyPr wrap="square" rtlCol="0" anchor="ctr"/>
          <a:lstStyle/>
          <a:p>
            <a:pPr indent="0" marL="0">
              <a:buNone/>
            </a:pPr>
            <a:r>
              <a:rPr lang="en-US" sz="1200" b="1" spc="200" kern="0" dirty="0">
                <a:solidFill>
                  <a:srgbClr val="0F8577"/>
                </a:solidFill>
                <a:latin typeface="Consolas" pitchFamily="34" charset="0"/>
                <a:ea typeface="Consolas" pitchFamily="34" charset="-122"/>
                <a:cs typeface="Consolas" pitchFamily="34" charset="-120"/>
              </a:rPr>
              <a:t>NEXT STEPS</a:t>
            </a:r>
            <a:endParaRPr lang="en-US" sz="1200" dirty="0"/>
          </a:p>
        </p:txBody>
      </p:sp>
      <p:sp>
        <p:nvSpPr>
          <p:cNvPr id="4" name="Text 1"/>
          <p:cNvSpPr/>
          <p:nvPr/>
        </p:nvSpPr>
        <p:spPr>
          <a:xfrm>
            <a:off x="777240" y="1828800"/>
            <a:ext cx="9601200" cy="914400"/>
          </a:xfrm>
          <a:prstGeom prst="rect">
            <a:avLst/>
          </a:prstGeom>
          <a:noFill/>
          <a:ln/>
        </p:spPr>
        <p:txBody>
          <a:bodyPr wrap="square" rtlCol="0" anchor="ctr"/>
          <a:lstStyle/>
          <a:p>
            <a:pPr indent="0" marL="0">
              <a:buNone/>
            </a:pPr>
            <a:r>
              <a:rPr lang="en-US" sz="3400" b="1" dirty="0">
                <a:solidFill>
                  <a:srgbClr val="1A2233"/>
                </a:solidFill>
                <a:latin typeface="Cambria" pitchFamily="34" charset="0"/>
                <a:ea typeface="Cambria" pitchFamily="34" charset="-122"/>
                <a:cs typeface="Cambria" pitchFamily="34" charset="-120"/>
              </a:rPr>
              <a:t>From anxiety to statistical rigor</a:t>
            </a:r>
            <a:endParaRPr lang="en-US" sz="3400" dirty="0"/>
          </a:p>
        </p:txBody>
      </p:sp>
      <p:sp>
        <p:nvSpPr>
          <p:cNvPr id="5" name="Shape 2"/>
          <p:cNvSpPr/>
          <p:nvPr/>
        </p:nvSpPr>
        <p:spPr>
          <a:xfrm>
            <a:off x="822960" y="3017520"/>
            <a:ext cx="365760" cy="365760"/>
          </a:xfrm>
          <a:prstGeom prst="ellipse">
            <a:avLst/>
          </a:prstGeom>
          <a:solidFill>
            <a:srgbClr val="E3F5F1"/>
          </a:solidFill>
          <a:ln w="12700">
            <a:solidFill>
              <a:srgbClr val="0F8577"/>
            </a:solidFill>
            <a:prstDash val="solid"/>
          </a:ln>
        </p:spPr>
        <p:txBody>
          <a:bodyPr/>
          <a:p/>
        </p:txBody>
      </p:sp>
      <p:sp>
        <p:nvSpPr>
          <p:cNvPr id="6" name="Text 3"/>
          <p:cNvSpPr/>
          <p:nvPr/>
        </p:nvSpPr>
        <p:spPr>
          <a:xfrm>
            <a:off x="822960" y="3017520"/>
            <a:ext cx="365760" cy="365760"/>
          </a:xfrm>
          <a:prstGeom prst="rect">
            <a:avLst/>
          </a:prstGeom>
          <a:noFill/>
          <a:ln/>
        </p:spPr>
        <p:txBody>
          <a:bodyPr wrap="square" rtlCol="0" anchor="ctr"/>
          <a:lstStyle/>
          <a:p>
            <a:pPr algn="ctr" indent="0" marL="0">
              <a:buNone/>
            </a:pPr>
            <a:r>
              <a:rPr lang="en-US" sz="1300" b="1" dirty="0">
                <a:solidFill>
                  <a:srgbClr val="0F8577"/>
                </a:solidFill>
                <a:latin typeface="Consolas" pitchFamily="34" charset="0"/>
                <a:ea typeface="Consolas" pitchFamily="34" charset="-122"/>
                <a:cs typeface="Consolas" pitchFamily="34" charset="-120"/>
              </a:rPr>
              <a:t>1</a:t>
            </a:r>
            <a:endParaRPr lang="en-US" sz="1300" dirty="0"/>
          </a:p>
        </p:txBody>
      </p:sp>
      <p:sp>
        <p:nvSpPr>
          <p:cNvPr id="7" name="Text 4"/>
          <p:cNvSpPr/>
          <p:nvPr/>
        </p:nvSpPr>
        <p:spPr>
          <a:xfrm>
            <a:off x="1371600" y="2971800"/>
            <a:ext cx="8686800" cy="457200"/>
          </a:xfrm>
          <a:prstGeom prst="rect">
            <a:avLst/>
          </a:prstGeom>
          <a:noFill/>
          <a:ln/>
        </p:spPr>
        <p:txBody>
          <a:bodyPr wrap="square" rtlCol="0" anchor="ctr"/>
          <a:lstStyle/>
          <a:p>
            <a:pPr indent="0" marL="0">
              <a:buNone/>
            </a:pPr>
            <a:r>
              <a:rPr lang="en-US" sz="1400" dirty="0">
                <a:solidFill>
                  <a:srgbClr val="5A6C8F"/>
                </a:solidFill>
                <a:latin typeface="Calibri" pitchFamily="34" charset="0"/>
                <a:ea typeface="Calibri" pitchFamily="34" charset="-122"/>
                <a:cs typeface="Calibri" pitchFamily="34" charset="-120"/>
              </a:rPr>
              <a:t>Identify one initiative to run through Monte Carlo + SPC this quarter</a:t>
            </a:r>
            <a:endParaRPr lang="en-US" sz="1400" dirty="0"/>
          </a:p>
        </p:txBody>
      </p:sp>
      <p:sp>
        <p:nvSpPr>
          <p:cNvPr id="8" name="Shape 5"/>
          <p:cNvSpPr/>
          <p:nvPr/>
        </p:nvSpPr>
        <p:spPr>
          <a:xfrm>
            <a:off x="822960" y="3611880"/>
            <a:ext cx="365760" cy="365760"/>
          </a:xfrm>
          <a:prstGeom prst="ellipse">
            <a:avLst/>
          </a:prstGeom>
          <a:solidFill>
            <a:srgbClr val="E3F5F1"/>
          </a:solidFill>
          <a:ln w="12700">
            <a:solidFill>
              <a:srgbClr val="0F8577"/>
            </a:solidFill>
            <a:prstDash val="solid"/>
          </a:ln>
        </p:spPr>
        <p:txBody>
          <a:bodyPr/>
          <a:p/>
        </p:txBody>
      </p:sp>
      <p:sp>
        <p:nvSpPr>
          <p:cNvPr id="9" name="Text 6"/>
          <p:cNvSpPr/>
          <p:nvPr/>
        </p:nvSpPr>
        <p:spPr>
          <a:xfrm>
            <a:off x="822960" y="3611880"/>
            <a:ext cx="365760" cy="365760"/>
          </a:xfrm>
          <a:prstGeom prst="rect">
            <a:avLst/>
          </a:prstGeom>
          <a:noFill/>
          <a:ln/>
        </p:spPr>
        <p:txBody>
          <a:bodyPr wrap="square" rtlCol="0" anchor="ctr"/>
          <a:lstStyle/>
          <a:p>
            <a:pPr algn="ctr" indent="0" marL="0">
              <a:buNone/>
            </a:pPr>
            <a:r>
              <a:rPr lang="en-US" sz="1300" b="1" dirty="0">
                <a:solidFill>
                  <a:srgbClr val="0F8577"/>
                </a:solidFill>
                <a:latin typeface="Consolas" pitchFamily="34" charset="0"/>
                <a:ea typeface="Consolas" pitchFamily="34" charset="-122"/>
                <a:cs typeface="Consolas" pitchFamily="34" charset="-120"/>
              </a:rPr>
              <a:t>2</a:t>
            </a:r>
            <a:endParaRPr lang="en-US" sz="1300" dirty="0"/>
          </a:p>
        </p:txBody>
      </p:sp>
      <p:sp>
        <p:nvSpPr>
          <p:cNvPr id="10" name="Text 7"/>
          <p:cNvSpPr/>
          <p:nvPr/>
        </p:nvSpPr>
        <p:spPr>
          <a:xfrm>
            <a:off x="1371600" y="3566160"/>
            <a:ext cx="8686800" cy="457200"/>
          </a:xfrm>
          <a:prstGeom prst="rect">
            <a:avLst/>
          </a:prstGeom>
          <a:noFill/>
          <a:ln/>
        </p:spPr>
        <p:txBody>
          <a:bodyPr wrap="square" rtlCol="0" anchor="ctr"/>
          <a:lstStyle/>
          <a:p>
            <a:pPr indent="0" marL="0">
              <a:buNone/>
            </a:pPr>
            <a:r>
              <a:rPr lang="en-US" sz="1400" dirty="0">
                <a:solidFill>
                  <a:srgbClr val="5A6C8F"/>
                </a:solidFill>
                <a:latin typeface="Calibri" pitchFamily="34" charset="0"/>
                <a:ea typeface="Calibri" pitchFamily="34" charset="-122"/>
                <a:cs typeface="Calibri" pitchFamily="34" charset="-120"/>
              </a:rPr>
              <a:t>Connect charter &amp; backlog data sources for Strategic Drift Detection</a:t>
            </a:r>
            <a:endParaRPr lang="en-US" sz="1400" dirty="0"/>
          </a:p>
        </p:txBody>
      </p:sp>
      <p:sp>
        <p:nvSpPr>
          <p:cNvPr id="11" name="Shape 8"/>
          <p:cNvSpPr/>
          <p:nvPr/>
        </p:nvSpPr>
        <p:spPr>
          <a:xfrm>
            <a:off x="822960" y="4206240"/>
            <a:ext cx="365760" cy="365760"/>
          </a:xfrm>
          <a:prstGeom prst="ellipse">
            <a:avLst/>
          </a:prstGeom>
          <a:solidFill>
            <a:srgbClr val="E3F5F1"/>
          </a:solidFill>
          <a:ln w="12700">
            <a:solidFill>
              <a:srgbClr val="0F8577"/>
            </a:solidFill>
            <a:prstDash val="solid"/>
          </a:ln>
        </p:spPr>
        <p:txBody>
          <a:bodyPr/>
          <a:p/>
        </p:txBody>
      </p:sp>
      <p:sp>
        <p:nvSpPr>
          <p:cNvPr id="12" name="Text 9"/>
          <p:cNvSpPr/>
          <p:nvPr/>
        </p:nvSpPr>
        <p:spPr>
          <a:xfrm>
            <a:off x="822960" y="4206240"/>
            <a:ext cx="365760" cy="365760"/>
          </a:xfrm>
          <a:prstGeom prst="rect">
            <a:avLst/>
          </a:prstGeom>
          <a:noFill/>
          <a:ln/>
        </p:spPr>
        <p:txBody>
          <a:bodyPr wrap="square" rtlCol="0" anchor="ctr"/>
          <a:lstStyle/>
          <a:p>
            <a:pPr algn="ctr" indent="0" marL="0">
              <a:buNone/>
            </a:pPr>
            <a:r>
              <a:rPr lang="en-US" sz="1300" b="1" dirty="0">
                <a:solidFill>
                  <a:srgbClr val="0F8577"/>
                </a:solidFill>
                <a:latin typeface="Consolas" pitchFamily="34" charset="0"/>
                <a:ea typeface="Consolas" pitchFamily="34" charset="-122"/>
                <a:cs typeface="Consolas" pitchFamily="34" charset="-120"/>
              </a:rPr>
              <a:t>3</a:t>
            </a:r>
            <a:endParaRPr lang="en-US" sz="1300" dirty="0"/>
          </a:p>
        </p:txBody>
      </p:sp>
      <p:sp>
        <p:nvSpPr>
          <p:cNvPr id="13" name="Text 10"/>
          <p:cNvSpPr/>
          <p:nvPr/>
        </p:nvSpPr>
        <p:spPr>
          <a:xfrm>
            <a:off x="1371600" y="4160520"/>
            <a:ext cx="8686800" cy="457200"/>
          </a:xfrm>
          <a:prstGeom prst="rect">
            <a:avLst/>
          </a:prstGeom>
          <a:noFill/>
          <a:ln/>
        </p:spPr>
        <p:txBody>
          <a:bodyPr wrap="square" rtlCol="0" anchor="ctr"/>
          <a:lstStyle/>
          <a:p>
            <a:pPr indent="0" marL="0">
              <a:buNone/>
            </a:pPr>
            <a:r>
              <a:rPr lang="en-US" sz="1400" dirty="0">
                <a:solidFill>
                  <a:srgbClr val="5A6C8F"/>
                </a:solidFill>
                <a:latin typeface="Calibri" pitchFamily="34" charset="0"/>
                <a:ea typeface="Calibri" pitchFamily="34" charset="-122"/>
                <a:cs typeface="Calibri" pitchFamily="34" charset="-120"/>
              </a:rPr>
              <a:t>Baseline current decision velocity as the before-state benchmark</a:t>
            </a:r>
            <a:endParaRPr lang="en-US" sz="1400" dirty="0"/>
          </a:p>
        </p:txBody>
      </p:sp>
      <p:sp>
        <p:nvSpPr>
          <p:cNvPr id="14" name="Text 11"/>
          <p:cNvSpPr/>
          <p:nvPr/>
        </p:nvSpPr>
        <p:spPr>
          <a:xfrm>
            <a:off x="11365992" y="6355080"/>
            <a:ext cx="548640" cy="320040"/>
          </a:xfrm>
          <a:prstGeom prst="rect">
            <a:avLst/>
          </a:prstGeom>
          <a:noFill/>
          <a:ln/>
        </p:spPr>
        <p:txBody>
          <a:bodyPr wrap="square" rtlCol="0" anchor="ctr"/>
          <a:lstStyle/>
          <a:p>
            <a:pPr algn="r" indent="0" marL="0">
              <a:buNone/>
            </a:pPr>
            <a:r>
              <a:rPr lang="en-US" sz="900" dirty="0">
                <a:solidFill>
                  <a:srgbClr val="7C8AA6"/>
                </a:solidFill>
                <a:latin typeface="Consolas" pitchFamily="34" charset="0"/>
                <a:ea typeface="Consolas" pitchFamily="34" charset="-122"/>
                <a:cs typeface="Consolas" pitchFamily="34" charset="-120"/>
              </a:rPr>
              <a:t>12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Stochastic SPM — AI Portfolio Intelligence Demo</dc:title>
  <dc:subject>PptxGenJS Presentation</dc:subject>
  <dc:creator>Stochastic SPM</dc:creator>
  <cp:lastModifiedBy>Stochastic SPM</cp:lastModifiedBy>
  <cp:revision>1</cp:revision>
  <dcterms:created xsi:type="dcterms:W3CDTF">2026-07-01T22:34:27Z</dcterms:created>
  <dcterms:modified xsi:type="dcterms:W3CDTF">2026-07-01T22:34:27Z</dcterms:modified>
</cp:coreProperties>
</file>