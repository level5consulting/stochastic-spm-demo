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motif</c:v>
                </c:pt>
              </c:strCache>
            </c:strRef>
          </c:tx>
          <c:spPr>
            <a:solidFill>
              <a:srgbClr val="0F8577"/>
            </a:solidFill>
            <a:ln w="25400" cap="flat">
              <a:solidFill>
                <a:srgbClr val="0F85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F8577"/>
              </a:solidFill>
              <a:ln w="9525" cap="flat">
                <a:solidFill>
                  <a:srgbClr val="0F85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</c:lvl>
              </c:multiLvlStrCache>
            </c:multiLvl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0.0038659201394728076</c:v>
                </c:pt>
                <c:pt idx="1">
                  <c:v>0.006645011282741399</c:v>
                </c:pt>
                <c:pt idx="2">
                  <c:v>0.011108996538242306</c:v>
                </c:pt>
                <c:pt idx="3">
                  <c:v>0.018063013419781275</c:v>
                </c:pt>
                <c:pt idx="4">
                  <c:v>0.028565500784550377</c:v>
                </c:pt>
                <c:pt idx="5">
                  <c:v>0.04393693362340742</c:v>
                </c:pt>
                <c:pt idx="6">
                  <c:v>0.06572852861653047</c:v>
                </c:pt>
                <c:pt idx="7">
                  <c:v>0.0956344448325386</c:v>
                </c:pt>
                <c:pt idx="8">
                  <c:v>0.1353352832366127</c:v>
                </c:pt>
                <c:pt idx="9">
                  <c:v>0.1862704636977009</c:v>
                </c:pt>
                <c:pt idx="10">
                  <c:v>0.24935220877729622</c:v>
                </c:pt>
                <c:pt idx="11">
                  <c:v>0.32465246735834974</c:v>
                </c:pt>
                <c:pt idx="12">
                  <c:v>0.41111229050718745</c:v>
                </c:pt>
                <c:pt idx="13">
                  <c:v>0.5063356166481006</c:v>
                </c:pt>
                <c:pt idx="14">
                  <c:v>0.6065306597126334</c:v>
                </c:pt>
                <c:pt idx="15">
                  <c:v>0.7066482778577163</c:v>
                </c:pt>
                <c:pt idx="16">
                  <c:v>0.8007374029168081</c:v>
                </c:pt>
                <c:pt idx="17">
                  <c:v>0.8824969025845955</c:v>
                </c:pt>
                <c:pt idx="18">
                  <c:v>0.9459594689067654</c:v>
                </c:pt>
                <c:pt idx="19">
                  <c:v>0.9862071167439163</c:v>
                </c:pt>
                <c:pt idx="20">
                  <c:v>1</c:v>
                </c:pt>
                <c:pt idx="21">
                  <c:v>0.9862071167439163</c:v>
                </c:pt>
                <c:pt idx="22">
                  <c:v>0.9459594689067654</c:v>
                </c:pt>
                <c:pt idx="23">
                  <c:v>0.8824969025845955</c:v>
                </c:pt>
                <c:pt idx="24">
                  <c:v>0.8007374029168081</c:v>
                </c:pt>
                <c:pt idx="25">
                  <c:v>0.7066482778577163</c:v>
                </c:pt>
                <c:pt idx="26">
                  <c:v>0.6065306597126334</c:v>
                </c:pt>
                <c:pt idx="27">
                  <c:v>0.5063356166481006</c:v>
                </c:pt>
                <c:pt idx="28">
                  <c:v>0.41111229050718745</c:v>
                </c:pt>
                <c:pt idx="29">
                  <c:v>0.32465246735834974</c:v>
                </c:pt>
                <c:pt idx="30">
                  <c:v>0.24935220877729622</c:v>
                </c:pt>
                <c:pt idx="31">
                  <c:v>0.1862704636977009</c:v>
                </c:pt>
                <c:pt idx="32">
                  <c:v>0.1353352832366127</c:v>
                </c:pt>
                <c:pt idx="33">
                  <c:v>0.0956344448325386</c:v>
                </c:pt>
                <c:pt idx="34">
                  <c:v>0.06572852861653047</c:v>
                </c:pt>
                <c:pt idx="35">
                  <c:v>0.04393693362340742</c:v>
                </c:pt>
                <c:pt idx="36">
                  <c:v>0.028565500784550377</c:v>
                </c:pt>
                <c:pt idx="37">
                  <c:v>0.018063013419781275</c:v>
                </c:pt>
                <c:pt idx="38">
                  <c:v>0.011108996538242306</c:v>
                </c:pt>
                <c:pt idx="39">
                  <c:v>0.006645011282741399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motif</c:v>
                </c:pt>
              </c:strCache>
            </c:strRef>
          </c:tx>
          <c:spPr>
            <a:solidFill>
              <a:srgbClr val="C13A3E"/>
            </a:solidFill>
            <a:ln w="25400" cap="flat">
              <a:solidFill>
                <a:srgbClr val="C13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13A3E"/>
              </a:solidFill>
              <a:ln w="9525" cap="flat">
                <a:solidFill>
                  <a:srgbClr val="C13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</c:lvl>
              </c:multiLvlStrCache>
            </c:multiLvl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0.0038659201394728076</c:v>
                </c:pt>
                <c:pt idx="1">
                  <c:v>0.006645011282741399</c:v>
                </c:pt>
                <c:pt idx="2">
                  <c:v>0.011108996538242306</c:v>
                </c:pt>
                <c:pt idx="3">
                  <c:v>0.018063013419781275</c:v>
                </c:pt>
                <c:pt idx="4">
                  <c:v>0.028565500784550377</c:v>
                </c:pt>
                <c:pt idx="5">
                  <c:v>0.04393693362340742</c:v>
                </c:pt>
                <c:pt idx="6">
                  <c:v>0.06572852861653047</c:v>
                </c:pt>
                <c:pt idx="7">
                  <c:v>0.0956344448325386</c:v>
                </c:pt>
                <c:pt idx="8">
                  <c:v>0.1353352832366127</c:v>
                </c:pt>
                <c:pt idx="9">
                  <c:v>0.1862704636977009</c:v>
                </c:pt>
                <c:pt idx="10">
                  <c:v>0.24935220877729622</c:v>
                </c:pt>
                <c:pt idx="11">
                  <c:v>0.32465246735834974</c:v>
                </c:pt>
                <c:pt idx="12">
                  <c:v>0.41111229050718745</c:v>
                </c:pt>
                <c:pt idx="13">
                  <c:v>0.5063356166481006</c:v>
                </c:pt>
                <c:pt idx="14">
                  <c:v>0.6065306597126334</c:v>
                </c:pt>
                <c:pt idx="15">
                  <c:v>0.7066482778577163</c:v>
                </c:pt>
                <c:pt idx="16">
                  <c:v>0.8007374029168081</c:v>
                </c:pt>
                <c:pt idx="17">
                  <c:v>0.8824969025845955</c:v>
                </c:pt>
                <c:pt idx="18">
                  <c:v>0.9459594689067654</c:v>
                </c:pt>
                <c:pt idx="19">
                  <c:v>0.9862071167439163</c:v>
                </c:pt>
                <c:pt idx="20">
                  <c:v>1</c:v>
                </c:pt>
                <c:pt idx="21">
                  <c:v>0.9862071167439163</c:v>
                </c:pt>
                <c:pt idx="22">
                  <c:v>0.9459594689067654</c:v>
                </c:pt>
                <c:pt idx="23">
                  <c:v>0.8824969025845955</c:v>
                </c:pt>
                <c:pt idx="24">
                  <c:v>0.8007374029168081</c:v>
                </c:pt>
                <c:pt idx="25">
                  <c:v>0.7066482778577163</c:v>
                </c:pt>
                <c:pt idx="26">
                  <c:v>0.6065306597126334</c:v>
                </c:pt>
                <c:pt idx="27">
                  <c:v>0.5063356166481006</c:v>
                </c:pt>
                <c:pt idx="28">
                  <c:v>0.41111229050718745</c:v>
                </c:pt>
                <c:pt idx="29">
                  <c:v>0.32465246735834974</c:v>
                </c:pt>
                <c:pt idx="30">
                  <c:v>0.24935220877729622</c:v>
                </c:pt>
                <c:pt idx="31">
                  <c:v>0.1862704636977009</c:v>
                </c:pt>
                <c:pt idx="32">
                  <c:v>0.1353352832366127</c:v>
                </c:pt>
                <c:pt idx="33">
                  <c:v>0.0956344448325386</c:v>
                </c:pt>
                <c:pt idx="34">
                  <c:v>0.06572852861653047</c:v>
                </c:pt>
                <c:pt idx="35">
                  <c:v>0.04393693362340742</c:v>
                </c:pt>
                <c:pt idx="36">
                  <c:v>0.028565500784550377</c:v>
                </c:pt>
                <c:pt idx="37">
                  <c:v>0.018063013419781275</c:v>
                </c:pt>
                <c:pt idx="38">
                  <c:v>0.011108996538242306</c:v>
                </c:pt>
                <c:pt idx="39">
                  <c:v>0.006645011282741399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motif</c:v>
                </c:pt>
              </c:strCache>
            </c:strRef>
          </c:tx>
          <c:spPr>
            <a:solidFill>
              <a:srgbClr val="B8720C"/>
            </a:solidFill>
            <a:ln w="25400" cap="flat">
              <a:solidFill>
                <a:srgbClr val="B872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8720C"/>
              </a:solidFill>
              <a:ln w="9525" cap="flat">
                <a:solidFill>
                  <a:srgbClr val="B872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</c:lvl>
              </c:multiLvlStrCache>
            </c:multiLvl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0.0038659201394728076</c:v>
                </c:pt>
                <c:pt idx="1">
                  <c:v>0.006645011282741399</c:v>
                </c:pt>
                <c:pt idx="2">
                  <c:v>0.011108996538242306</c:v>
                </c:pt>
                <c:pt idx="3">
                  <c:v>0.018063013419781275</c:v>
                </c:pt>
                <c:pt idx="4">
                  <c:v>0.028565500784550377</c:v>
                </c:pt>
                <c:pt idx="5">
                  <c:v>0.04393693362340742</c:v>
                </c:pt>
                <c:pt idx="6">
                  <c:v>0.06572852861653047</c:v>
                </c:pt>
                <c:pt idx="7">
                  <c:v>0.0956344448325386</c:v>
                </c:pt>
                <c:pt idx="8">
                  <c:v>0.1353352832366127</c:v>
                </c:pt>
                <c:pt idx="9">
                  <c:v>0.1862704636977009</c:v>
                </c:pt>
                <c:pt idx="10">
                  <c:v>0.24935220877729622</c:v>
                </c:pt>
                <c:pt idx="11">
                  <c:v>0.32465246735834974</c:v>
                </c:pt>
                <c:pt idx="12">
                  <c:v>0.41111229050718745</c:v>
                </c:pt>
                <c:pt idx="13">
                  <c:v>0.5063356166481006</c:v>
                </c:pt>
                <c:pt idx="14">
                  <c:v>0.6065306597126334</c:v>
                </c:pt>
                <c:pt idx="15">
                  <c:v>0.7066482778577163</c:v>
                </c:pt>
                <c:pt idx="16">
                  <c:v>0.8007374029168081</c:v>
                </c:pt>
                <c:pt idx="17">
                  <c:v>0.8824969025845955</c:v>
                </c:pt>
                <c:pt idx="18">
                  <c:v>0.9459594689067654</c:v>
                </c:pt>
                <c:pt idx="19">
                  <c:v>0.9862071167439163</c:v>
                </c:pt>
                <c:pt idx="20">
                  <c:v>1</c:v>
                </c:pt>
                <c:pt idx="21">
                  <c:v>0.9862071167439163</c:v>
                </c:pt>
                <c:pt idx="22">
                  <c:v>0.9459594689067654</c:v>
                </c:pt>
                <c:pt idx="23">
                  <c:v>0.8824969025845955</c:v>
                </c:pt>
                <c:pt idx="24">
                  <c:v>0.8007374029168081</c:v>
                </c:pt>
                <c:pt idx="25">
                  <c:v>0.7066482778577163</c:v>
                </c:pt>
                <c:pt idx="26">
                  <c:v>0.6065306597126334</c:v>
                </c:pt>
                <c:pt idx="27">
                  <c:v>0.5063356166481006</c:v>
                </c:pt>
                <c:pt idx="28">
                  <c:v>0.41111229050718745</c:v>
                </c:pt>
                <c:pt idx="29">
                  <c:v>0.32465246735834974</c:v>
                </c:pt>
                <c:pt idx="30">
                  <c:v>0.24935220877729622</c:v>
                </c:pt>
                <c:pt idx="31">
                  <c:v>0.1862704636977009</c:v>
                </c:pt>
                <c:pt idx="32">
                  <c:v>0.1353352832366127</c:v>
                </c:pt>
                <c:pt idx="33">
                  <c:v>0.0956344448325386</c:v>
                </c:pt>
                <c:pt idx="34">
                  <c:v>0.06572852861653047</c:v>
                </c:pt>
                <c:pt idx="35">
                  <c:v>0.04393693362340742</c:v>
                </c:pt>
                <c:pt idx="36">
                  <c:v>0.028565500784550377</c:v>
                </c:pt>
                <c:pt idx="37">
                  <c:v>0.018063013419781275</c:v>
                </c:pt>
                <c:pt idx="38">
                  <c:v>0.011108996538242306</c:v>
                </c:pt>
                <c:pt idx="39">
                  <c:v>0.006645011282741399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motif</c:v>
                </c:pt>
              </c:strCache>
            </c:strRef>
          </c:tx>
          <c:spPr>
            <a:solidFill>
              <a:srgbClr val="0F8577"/>
            </a:solidFill>
            <a:ln w="25400" cap="flat">
              <a:solidFill>
                <a:srgbClr val="0F85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F8577"/>
              </a:solidFill>
              <a:ln w="9525" cap="flat">
                <a:solidFill>
                  <a:srgbClr val="0F85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</c:lvl>
              </c:multiLvlStrCache>
            </c:multiLvl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0.0038659201394728076</c:v>
                </c:pt>
                <c:pt idx="1">
                  <c:v>0.006645011282741399</c:v>
                </c:pt>
                <c:pt idx="2">
                  <c:v>0.011108996538242306</c:v>
                </c:pt>
                <c:pt idx="3">
                  <c:v>0.018063013419781275</c:v>
                </c:pt>
                <c:pt idx="4">
                  <c:v>0.028565500784550377</c:v>
                </c:pt>
                <c:pt idx="5">
                  <c:v>0.04393693362340742</c:v>
                </c:pt>
                <c:pt idx="6">
                  <c:v>0.06572852861653047</c:v>
                </c:pt>
                <c:pt idx="7">
                  <c:v>0.0956344448325386</c:v>
                </c:pt>
                <c:pt idx="8">
                  <c:v>0.1353352832366127</c:v>
                </c:pt>
                <c:pt idx="9">
                  <c:v>0.1862704636977009</c:v>
                </c:pt>
                <c:pt idx="10">
                  <c:v>0.24935220877729622</c:v>
                </c:pt>
                <c:pt idx="11">
                  <c:v>0.32465246735834974</c:v>
                </c:pt>
                <c:pt idx="12">
                  <c:v>0.41111229050718745</c:v>
                </c:pt>
                <c:pt idx="13">
                  <c:v>0.5063356166481006</c:v>
                </c:pt>
                <c:pt idx="14">
                  <c:v>0.6065306597126334</c:v>
                </c:pt>
                <c:pt idx="15">
                  <c:v>0.7066482778577163</c:v>
                </c:pt>
                <c:pt idx="16">
                  <c:v>0.8007374029168081</c:v>
                </c:pt>
                <c:pt idx="17">
                  <c:v>0.8824969025845955</c:v>
                </c:pt>
                <c:pt idx="18">
                  <c:v>0.9459594689067654</c:v>
                </c:pt>
                <c:pt idx="19">
                  <c:v>0.9862071167439163</c:v>
                </c:pt>
                <c:pt idx="20">
                  <c:v>1</c:v>
                </c:pt>
                <c:pt idx="21">
                  <c:v>0.9862071167439163</c:v>
                </c:pt>
                <c:pt idx="22">
                  <c:v>0.9459594689067654</c:v>
                </c:pt>
                <c:pt idx="23">
                  <c:v>0.8824969025845955</c:v>
                </c:pt>
                <c:pt idx="24">
                  <c:v>0.8007374029168081</c:v>
                </c:pt>
                <c:pt idx="25">
                  <c:v>0.7066482778577163</c:v>
                </c:pt>
                <c:pt idx="26">
                  <c:v>0.6065306597126334</c:v>
                </c:pt>
                <c:pt idx="27">
                  <c:v>0.5063356166481006</c:v>
                </c:pt>
                <c:pt idx="28">
                  <c:v>0.41111229050718745</c:v>
                </c:pt>
                <c:pt idx="29">
                  <c:v>0.32465246735834974</c:v>
                </c:pt>
                <c:pt idx="30">
                  <c:v>0.24935220877729622</c:v>
                </c:pt>
                <c:pt idx="31">
                  <c:v>0.1862704636977009</c:v>
                </c:pt>
                <c:pt idx="32">
                  <c:v>0.1353352832366127</c:v>
                </c:pt>
                <c:pt idx="33">
                  <c:v>0.0956344448325386</c:v>
                </c:pt>
                <c:pt idx="34">
                  <c:v>0.06572852861653047</c:v>
                </c:pt>
                <c:pt idx="35">
                  <c:v>0.04393693362340742</c:v>
                </c:pt>
                <c:pt idx="36">
                  <c:v>0.028565500784550377</c:v>
                </c:pt>
                <c:pt idx="37">
                  <c:v>0.018063013419781275</c:v>
                </c:pt>
                <c:pt idx="38">
                  <c:v>0.011108996538242306</c:v>
                </c:pt>
                <c:pt idx="39">
                  <c:v>0.006645011282741399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motif</c:v>
                </c:pt>
              </c:strCache>
            </c:strRef>
          </c:tx>
          <c:spPr>
            <a:solidFill>
              <a:srgbClr val="5B4FC4"/>
            </a:solidFill>
            <a:ln w="25400" cap="flat">
              <a:solidFill>
                <a:srgbClr val="5B4F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B4FC4"/>
              </a:solidFill>
              <a:ln w="9525" cap="flat">
                <a:solidFill>
                  <a:srgbClr val="5B4F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</c:lvl>
              </c:multiLvlStrCache>
            </c:multiLvl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0.0038659201394728076</c:v>
                </c:pt>
                <c:pt idx="1">
                  <c:v>0.006645011282741399</c:v>
                </c:pt>
                <c:pt idx="2">
                  <c:v>0.011108996538242306</c:v>
                </c:pt>
                <c:pt idx="3">
                  <c:v>0.018063013419781275</c:v>
                </c:pt>
                <c:pt idx="4">
                  <c:v>0.028565500784550377</c:v>
                </c:pt>
                <c:pt idx="5">
                  <c:v>0.04393693362340742</c:v>
                </c:pt>
                <c:pt idx="6">
                  <c:v>0.06572852861653047</c:v>
                </c:pt>
                <c:pt idx="7">
                  <c:v>0.0956344448325386</c:v>
                </c:pt>
                <c:pt idx="8">
                  <c:v>0.1353352832366127</c:v>
                </c:pt>
                <c:pt idx="9">
                  <c:v>0.1862704636977009</c:v>
                </c:pt>
                <c:pt idx="10">
                  <c:v>0.24935220877729622</c:v>
                </c:pt>
                <c:pt idx="11">
                  <c:v>0.32465246735834974</c:v>
                </c:pt>
                <c:pt idx="12">
                  <c:v>0.41111229050718745</c:v>
                </c:pt>
                <c:pt idx="13">
                  <c:v>0.5063356166481006</c:v>
                </c:pt>
                <c:pt idx="14">
                  <c:v>0.6065306597126334</c:v>
                </c:pt>
                <c:pt idx="15">
                  <c:v>0.7066482778577163</c:v>
                </c:pt>
                <c:pt idx="16">
                  <c:v>0.8007374029168081</c:v>
                </c:pt>
                <c:pt idx="17">
                  <c:v>0.8824969025845955</c:v>
                </c:pt>
                <c:pt idx="18">
                  <c:v>0.9459594689067654</c:v>
                </c:pt>
                <c:pt idx="19">
                  <c:v>0.9862071167439163</c:v>
                </c:pt>
                <c:pt idx="20">
                  <c:v>1</c:v>
                </c:pt>
                <c:pt idx="21">
                  <c:v>0.9862071167439163</c:v>
                </c:pt>
                <c:pt idx="22">
                  <c:v>0.9459594689067654</c:v>
                </c:pt>
                <c:pt idx="23">
                  <c:v>0.8824969025845955</c:v>
                </c:pt>
                <c:pt idx="24">
                  <c:v>0.8007374029168081</c:v>
                </c:pt>
                <c:pt idx="25">
                  <c:v>0.7066482778577163</c:v>
                </c:pt>
                <c:pt idx="26">
                  <c:v>0.6065306597126334</c:v>
                </c:pt>
                <c:pt idx="27">
                  <c:v>0.5063356166481006</c:v>
                </c:pt>
                <c:pt idx="28">
                  <c:v>0.41111229050718745</c:v>
                </c:pt>
                <c:pt idx="29">
                  <c:v>0.32465246735834974</c:v>
                </c:pt>
                <c:pt idx="30">
                  <c:v>0.24935220877729622</c:v>
                </c:pt>
                <c:pt idx="31">
                  <c:v>0.1862704636977009</c:v>
                </c:pt>
                <c:pt idx="32">
                  <c:v>0.1353352832366127</c:v>
                </c:pt>
                <c:pt idx="33">
                  <c:v>0.0956344448325386</c:v>
                </c:pt>
                <c:pt idx="34">
                  <c:v>0.06572852861653047</c:v>
                </c:pt>
                <c:pt idx="35">
                  <c:v>0.04393693362340742</c:v>
                </c:pt>
                <c:pt idx="36">
                  <c:v>0.028565500784550377</c:v>
                </c:pt>
                <c:pt idx="37">
                  <c:v>0.018063013419781275</c:v>
                </c:pt>
                <c:pt idx="38">
                  <c:v>0.011108996538242306</c:v>
                </c:pt>
                <c:pt idx="39">
                  <c:v>0.006645011282741399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motif</c:v>
                </c:pt>
              </c:strCache>
            </c:strRef>
          </c:tx>
          <c:spPr>
            <a:solidFill>
              <a:srgbClr val="0F8577"/>
            </a:solidFill>
            <a:ln w="25400" cap="flat">
              <a:solidFill>
                <a:srgbClr val="0F85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F8577"/>
              </a:solidFill>
              <a:ln w="9525" cap="flat">
                <a:solidFill>
                  <a:srgbClr val="0F85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  <c:pt idx="30">
                    <c:v>30</c:v>
                  </c:pt>
                  <c:pt idx="31">
                    <c:v>31</c:v>
                  </c:pt>
                  <c:pt idx="32">
                    <c:v>32</c:v>
                  </c:pt>
                  <c:pt idx="33">
                    <c:v>33</c:v>
                  </c:pt>
                  <c:pt idx="34">
                    <c:v>34</c:v>
                  </c:pt>
                  <c:pt idx="35">
                    <c:v>35</c:v>
                  </c:pt>
                  <c:pt idx="36">
                    <c:v>36</c:v>
                  </c:pt>
                  <c:pt idx="37">
                    <c:v>37</c:v>
                  </c:pt>
                  <c:pt idx="38">
                    <c:v>38</c:v>
                  </c:pt>
                  <c:pt idx="39">
                    <c:v>39</c:v>
                  </c:pt>
                </c:lvl>
              </c:multiLvlStrCache>
            </c:multiLvl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0.0038659201394728076</c:v>
                </c:pt>
                <c:pt idx="1">
                  <c:v>0.006645011282741399</c:v>
                </c:pt>
                <c:pt idx="2">
                  <c:v>0.011108996538242306</c:v>
                </c:pt>
                <c:pt idx="3">
                  <c:v>0.018063013419781275</c:v>
                </c:pt>
                <c:pt idx="4">
                  <c:v>0.028565500784550377</c:v>
                </c:pt>
                <c:pt idx="5">
                  <c:v>0.04393693362340742</c:v>
                </c:pt>
                <c:pt idx="6">
                  <c:v>0.06572852861653047</c:v>
                </c:pt>
                <c:pt idx="7">
                  <c:v>0.0956344448325386</c:v>
                </c:pt>
                <c:pt idx="8">
                  <c:v>0.1353352832366127</c:v>
                </c:pt>
                <c:pt idx="9">
                  <c:v>0.1862704636977009</c:v>
                </c:pt>
                <c:pt idx="10">
                  <c:v>0.24935220877729622</c:v>
                </c:pt>
                <c:pt idx="11">
                  <c:v>0.32465246735834974</c:v>
                </c:pt>
                <c:pt idx="12">
                  <c:v>0.41111229050718745</c:v>
                </c:pt>
                <c:pt idx="13">
                  <c:v>0.5063356166481006</c:v>
                </c:pt>
                <c:pt idx="14">
                  <c:v>0.6065306597126334</c:v>
                </c:pt>
                <c:pt idx="15">
                  <c:v>0.7066482778577163</c:v>
                </c:pt>
                <c:pt idx="16">
                  <c:v>0.8007374029168081</c:v>
                </c:pt>
                <c:pt idx="17">
                  <c:v>0.8824969025845955</c:v>
                </c:pt>
                <c:pt idx="18">
                  <c:v>0.9459594689067654</c:v>
                </c:pt>
                <c:pt idx="19">
                  <c:v>0.9862071167439163</c:v>
                </c:pt>
                <c:pt idx="20">
                  <c:v>1</c:v>
                </c:pt>
                <c:pt idx="21">
                  <c:v>0.9862071167439163</c:v>
                </c:pt>
                <c:pt idx="22">
                  <c:v>0.9459594689067654</c:v>
                </c:pt>
                <c:pt idx="23">
                  <c:v>0.8824969025845955</c:v>
                </c:pt>
                <c:pt idx="24">
                  <c:v>0.8007374029168081</c:v>
                </c:pt>
                <c:pt idx="25">
                  <c:v>0.7066482778577163</c:v>
                </c:pt>
                <c:pt idx="26">
                  <c:v>0.6065306597126334</c:v>
                </c:pt>
                <c:pt idx="27">
                  <c:v>0.5063356166481006</c:v>
                </c:pt>
                <c:pt idx="28">
                  <c:v>0.41111229050718745</c:v>
                </c:pt>
                <c:pt idx="29">
                  <c:v>0.32465246735834974</c:v>
                </c:pt>
                <c:pt idx="30">
                  <c:v>0.24935220877729622</c:v>
                </c:pt>
                <c:pt idx="31">
                  <c:v>0.1862704636977009</c:v>
                </c:pt>
                <c:pt idx="32">
                  <c:v>0.1353352832366127</c:v>
                </c:pt>
                <c:pt idx="33">
                  <c:v>0.0956344448325386</c:v>
                </c:pt>
                <c:pt idx="34">
                  <c:v>0.06572852861653047</c:v>
                </c:pt>
                <c:pt idx="35">
                  <c:v>0.04393693362340742</c:v>
                </c:pt>
                <c:pt idx="36">
                  <c:v>0.028565500784550377</c:v>
                </c:pt>
                <c:pt idx="37">
                  <c:v>0.018063013419781275</c:v>
                </c:pt>
                <c:pt idx="38">
                  <c:v>0.011108996538242306</c:v>
                </c:pt>
                <c:pt idx="39">
                  <c:v>0.006645011282741399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data. Every number, name and chart in this walkthrough is simulated; no real product or client is shown. Built with the Stochastic SPM Demo Kit by Level 5ive Consulting · Code MIT · Framework content CC BY 4.0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data. Every number, name and chart in this walkthrough is simulated; no real product or client is shown. Built with the Stochastic SPM Demo Kit by Level 5ive Consulting · Code MIT · Framework content CC BY 4.0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data. Every number, name and chart in this walkthrough is simulated; no real product or client is shown. Built with the Stochastic SPM Demo Kit by Level 5ive Consulting · Code MIT · Framework content CC BY 4.0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data. Every number, name and chart in this walkthrough is simulated; no real product or client is shown. Built with the Stochastic SPM Demo Kit by Level 5ive Consulting · Code MIT · Framework content CC BY 4.0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data. Every number, name and chart in this walkthrough is simulated; no real product or client is shown. Built with the Stochastic SPM Demo Kit by Level 5ive Consulting · Code MIT · Framework content CC BY 4.0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data. Every number, name and chart in this walkthrough is simulated; no real product or client is shown. Built with the Stochastic SPM Demo Kit by Level 5ive Consulting · Code MIT · Framework content CC BY 4.0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data. Every number, name and chart in this walkthrough is simulated; no real product or client is shown. Built with the Stochastic SPM Demo Kit by Level 5ive Consulting · Code MIT · Framework content CC BY 4.0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data. Every number, name and chart in this walkthrough is simulated; no real product or client is shown. Built with the Stochastic SPM Demo Kit by Level 5ive Consulting · Code MIT · Framework content CC BY 4.0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data. Every number, name and chart in this walkthrough is simulated; no real product or client is shown. Built with the Stochastic SPM Demo Kit by Level 5ive Consulting · Code MIT · Framework content CC BY 4.0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data. Every number, name and chart in this walkthrough is simulated; no real product or client is shown. Built with the Stochastic SPM Demo Kit by Level 5ive Consulting · Code MIT · Framework content CC BY 4.0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data. Every number, name and chart in this walkthrough is simulated; no real product or client is shown. Built with the Stochastic SPM Demo Kit by Level 5ive Consulting · Code MIT · Framework content CC BY 4.0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data. Every number, name and chart in this walkthrough is simulated; no real product or client is shown. Built with the Stochastic SPM Demo Kit by Level 5ive Consulting · Code MIT · Framework content CC BY 4.0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chart" Target="..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 descr=""/>
          <p:cNvGraphicFramePr/>
          <p:nvPr/>
        </p:nvGraphicFramePr>
        <p:xfrm>
          <a:off x="0" y="4206240"/>
          <a:ext cx="12188952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" name="Text 0"/>
          <p:cNvSpPr/>
          <p:nvPr/>
        </p:nvSpPr>
        <p:spPr>
          <a:xfrm>
            <a:off x="822960" y="14173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WALKTHROUGH · SIMULATED ENVIRONMENT · 60 MIN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78308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Stochastic SPM</a:t>
            </a:r>
            <a:endParaRPr lang="en-US" sz="4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800" b="1" dirty="0">
                <a:solidFill>
                  <a:srgbClr val="0F85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Portfolio Intelligence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8229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administrative tracking to statistical rigor. A 5-act narrative demo of an AI-enabled EPMO, built on the 7 Pillars framework.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22960" y="4434840"/>
            <a:ext cx="6035040" cy="457200"/>
          </a:xfrm>
          <a:prstGeom prst="roundRect">
            <a:avLst>
              <a:gd name="adj" fmla="val 12000"/>
            </a:avLst>
          </a:prstGeom>
          <a:solidFill>
            <a:srgbClr val="E3F5F1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822960" y="443484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stochastic (adj.) — governed by probability, not fixed rules. The opposite of a guess.</a:t>
            </a:r>
            <a:pPr algn="ctr" indent="0" marL="0">
              <a:buNone/>
            </a:pPr>
            <a:r>
              <a:rPr lang="en-US" sz="1050" i="1" dirty="0">
                <a:solidFill>
                  <a:srgbClr val="5A6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22960" y="5989320"/>
            <a:ext cx="5303520" cy="0"/>
          </a:xfrm>
          <a:prstGeom prst="line">
            <a:avLst/>
          </a:prstGeom>
          <a:noFill/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Portfolio Value  ·  Capacity  ·  Delivery Risk  ·  SPC  ·  Talent  ·  Financial Precision  ·  Business Outcome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OF SHOW · 60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Acts — and a Framework First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150876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4F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737360" y="156362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 Pillars Framework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737360" y="1892808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language before the story begins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966960" y="150876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0:01–0:05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28600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13A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37360" y="234086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Leader's Anxiety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737360" y="2670048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every SPM initiative begins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966960" y="228600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0:05–0:10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06324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06324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72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37360" y="311810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Operator's Grind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737360" y="3447288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manual cost of manufactured clarity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966960" y="306324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0:10–0:16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84048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77240" y="384048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85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737360" y="389534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Moment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737360" y="4224528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the 7 Pillars, in the platform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966960" y="384048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0:16–0:44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61772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77240" y="46177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4F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737360" y="467258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Hypothesis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737360" y="5001768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becomes visible, and arguable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66960" y="461772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0:44–0:52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539496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777240" y="539496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85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737360" y="5449824"/>
            <a:ext cx="4937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Outcome Realized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737360" y="5779008"/>
            <a:ext cx="4937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restored, ROI documented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966960" y="5394960"/>
            <a:ext cx="14630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0:52–0:58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2179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 is introduced first, as a precursor to the demonstration — so the language is already shared by the time the live demo begins in Act III.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4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 WE BEGIN · THE FRAMEWORK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7 Pillars of AI-Enabled SPM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078992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you'll see across the next five acts maps back to one of these seven. Keep this framework in mind — Act III will demonstrate each pillar live.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670048" cy="1371600"/>
          </a:xfrm>
          <a:prstGeom prst="roundRect">
            <a:avLst>
              <a:gd name="adj" fmla="val 4667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13232" y="1801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4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13232" y="2075688"/>
            <a:ext cx="2340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Allocation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2587752"/>
            <a:ext cx="23408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drift detection + cluster analysis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46704" y="1691640"/>
            <a:ext cx="2670048" cy="1371600"/>
          </a:xfrm>
          <a:prstGeom prst="roundRect">
            <a:avLst>
              <a:gd name="adj" fmla="val 4667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11296" y="1801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4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11296" y="2075688"/>
            <a:ext cx="2340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&amp; Queuing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11296" y="2587752"/>
            <a:ext cx="23408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Erlang models, predictive overload alerts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44768" y="1691640"/>
            <a:ext cx="2670048" cy="1371600"/>
          </a:xfrm>
          <a:prstGeom prst="roundRect">
            <a:avLst>
              <a:gd name="adj" fmla="val 4667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09360" y="1801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4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P03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09360" y="2075688"/>
            <a:ext cx="2340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Risk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309360" y="2587752"/>
            <a:ext cx="23408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simulation, survival analysis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8942832" y="1691640"/>
            <a:ext cx="2670048" cy="1371600"/>
          </a:xfrm>
          <a:prstGeom prst="roundRect">
            <a:avLst>
              <a:gd name="adj" fmla="val 4667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07424" y="18013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4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07424" y="2075688"/>
            <a:ext cx="2340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Control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07424" y="2587752"/>
            <a:ext cx="23408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Graduates from reporting a number to controlling a process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209544"/>
            <a:ext cx="2670048" cy="1371600"/>
          </a:xfrm>
          <a:prstGeom prst="roundRect">
            <a:avLst>
              <a:gd name="adj" fmla="val 4667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13232" y="331927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4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P05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13232" y="3593592"/>
            <a:ext cx="2340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Elevation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3232" y="4105656"/>
            <a:ext cx="23408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AI-adopting PMs measurably outproduce those who aren't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346704" y="3209544"/>
            <a:ext cx="2670048" cy="1371600"/>
          </a:xfrm>
          <a:prstGeom prst="roundRect">
            <a:avLst>
              <a:gd name="adj" fmla="val 4667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511296" y="331927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4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P06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11296" y="3593592"/>
            <a:ext cx="2340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Precision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511296" y="4105656"/>
            <a:ext cx="23408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EAC/ETC, dynamic NPV/IRR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144768" y="3209544"/>
            <a:ext cx="2670048" cy="1371600"/>
          </a:xfrm>
          <a:prstGeom prst="roundRect">
            <a:avLst>
              <a:gd name="adj" fmla="val 4667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309360" y="331927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4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P07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09360" y="3593592"/>
            <a:ext cx="23408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309360" y="4105656"/>
            <a:ext cx="234086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+ causal inference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4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 WE BEGIN · WHY IT'S DIFFERENT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Qualitative GenAI vs. Statistical AI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SPM DOMAIN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63240" y="14173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13A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AMATEUR APPROACH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9480" y="141732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PROFESSIONAL APPROACH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11064240" cy="1051560"/>
          </a:xfrm>
          <a:prstGeom prst="rect">
            <a:avLst/>
          </a:prstGeom>
          <a:solidFill>
            <a:srgbClr val="EDF1F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77240" y="1828800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Alignment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063240" y="1828800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Keyword-scans summaries against pillars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1828800"/>
            <a:ext cx="4206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&amp; factor analysis on hidden concentrations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2907792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Risk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063240" y="2907792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Aggregates subjective RAG / Jira counts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269480" y="2907792"/>
            <a:ext cx="4206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Monte Carlo confidence-interval simulations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986784"/>
            <a:ext cx="11064240" cy="1051560"/>
          </a:xfrm>
          <a:prstGeom prst="rect">
            <a:avLst/>
          </a:prstGeom>
          <a:solidFill>
            <a:srgbClr val="EDF1F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986784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Control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063240" y="3986784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averages, prompts micromanagement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69480" y="3986784"/>
            <a:ext cx="4206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separates common-cause noise from real signal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5065776"/>
            <a:ext cx="2194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Precision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063240" y="5065776"/>
            <a:ext cx="3931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Re-calculates static formulas on manual entry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269480" y="5065776"/>
            <a:ext cx="42062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ARIMA/Prophet + Bayesian continuous EAC curves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 descr=""/>
          <p:cNvGraphicFramePr/>
          <p:nvPr/>
        </p:nvGraphicFramePr>
        <p:xfrm>
          <a:off x="0" y="4480560"/>
          <a:ext cx="12188952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" name="Text 0"/>
          <p:cNvSpPr/>
          <p:nvPr/>
        </p:nvSpPr>
        <p:spPr>
          <a:xfrm>
            <a:off x="640080" y="100584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0F3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3000" dirty="0"/>
          </a:p>
        </p:txBody>
      </p:sp>
      <p:sp>
        <p:nvSpPr>
          <p:cNvPr id="4" name="Shape 1"/>
          <p:cNvSpPr/>
          <p:nvPr/>
        </p:nvSpPr>
        <p:spPr>
          <a:xfrm>
            <a:off x="1965960" y="1234440"/>
            <a:ext cx="0" cy="1554480"/>
          </a:xfrm>
          <a:prstGeom prst="line">
            <a:avLst/>
          </a:prstGeom>
          <a:noFill/>
          <a:ln w="38100">
            <a:solidFill>
              <a:srgbClr val="C13A3E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2286000" y="128016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Leader's Anxiety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2286000" y="21488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SPM initiative begins with uncertainty.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2286000" y="28803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C13A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“Is this number from Tuesday or from three weeks ago?”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13A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 I · CURRENT STATE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portfolio nobody fully trusts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lack clarity on whether strategy is translating into execution, whether the data can be trusted, and whether progress is real.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2103120"/>
            <a:ext cx="306324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13A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62%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843784"/>
            <a:ext cx="30632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Initiatives with a manually-set RAG status (no underlying data model)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06240" y="196596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2103120"/>
            <a:ext cx="306324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872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days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34840" y="2843784"/>
            <a:ext cx="30632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staleness of the "current" portfolio report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863840" y="196596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092440" y="2103120"/>
            <a:ext cx="306324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C13A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092440" y="2843784"/>
            <a:ext cx="30632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versions of "the numbers" in this week's steering deck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10835640" cy="2468880"/>
          </a:xfrm>
          <a:prstGeom prst="roundRect">
            <a:avLst>
              <a:gd name="adj" fmla="val 2222"/>
            </a:avLst>
          </a:prstGeom>
          <a:solidFill>
            <a:srgbClr val="EDF1F7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8680" y="3886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Portfolio Status — Master Tracker.xlsx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68680" y="4206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maintained · last saved 11 days ago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68680" y="4690872"/>
            <a:ext cx="109728" cy="109728"/>
          </a:xfrm>
          <a:prstGeom prst="ellipse">
            <a:avLst/>
          </a:prstGeom>
          <a:solidFill>
            <a:srgbClr val="0F8577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97280" y="46177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Billing Re-platform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0560" y="46177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Green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577840" y="46177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4617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 track” (as of 2 wks ago)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68680" y="5074920"/>
            <a:ext cx="109728" cy="109728"/>
          </a:xfrm>
          <a:prstGeom prst="ellipse">
            <a:avLst/>
          </a:prstGeom>
          <a:solidFill>
            <a:srgbClr val="B8720C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97280" y="5001768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Data Unification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480560" y="500176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72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Yellow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77840" y="5001768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92240" y="50017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on infra team?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68680" y="5458968"/>
            <a:ext cx="109728" cy="109728"/>
          </a:xfrm>
          <a:prstGeom prst="ellipse">
            <a:avLst/>
          </a:prstGeom>
          <a:solidFill>
            <a:srgbClr val="C13A3E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97280" y="5385816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 ML Pipeline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480560" y="5385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13A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77840" y="5385816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29%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92240" y="5385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Escalated in email, not here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68680" y="5843016"/>
            <a:ext cx="109728" cy="109728"/>
          </a:xfrm>
          <a:prstGeom prst="ellipse">
            <a:avLst/>
          </a:prstGeom>
          <a:solidFill>
            <a:srgbClr val="B8720C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97280" y="576986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CRM Sunset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480560" y="5769864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72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Yellow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77840" y="5769864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C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492240" y="576986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update this cycle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 descr=""/>
          <p:cNvGraphicFramePr/>
          <p:nvPr/>
        </p:nvGraphicFramePr>
        <p:xfrm>
          <a:off x="0" y="4480560"/>
          <a:ext cx="12188952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" name="Text 0"/>
          <p:cNvSpPr/>
          <p:nvPr/>
        </p:nvSpPr>
        <p:spPr>
          <a:xfrm>
            <a:off x="640080" y="100584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0F3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3000" dirty="0"/>
          </a:p>
        </p:txBody>
      </p:sp>
      <p:sp>
        <p:nvSpPr>
          <p:cNvPr id="4" name="Shape 1"/>
          <p:cNvSpPr/>
          <p:nvPr/>
        </p:nvSpPr>
        <p:spPr>
          <a:xfrm>
            <a:off x="1965960" y="1234440"/>
            <a:ext cx="0" cy="1554480"/>
          </a:xfrm>
          <a:prstGeom prst="line">
            <a:avLst/>
          </a:prstGeom>
          <a:noFill/>
          <a:ln w="38100">
            <a:solidFill>
              <a:srgbClr val="B8720C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2286000" y="128016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Operator's Grind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2286000" y="21488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carry the burden of delivering clarity through manual work.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2286000" y="288036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B872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don't have time to think about the portfolio. I'm too busy building the slide that describes it.”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72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 II · THE HIDDEN COST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40-hour week actually goes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6492240" cy="4663440"/>
          </a:xfrm>
          <a:prstGeom prst="roundRect">
            <a:avLst>
              <a:gd name="adj" fmla="val 1176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645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manual task queue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Chase 14 project owners for status updates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394960" y="214884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872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6.5 hrs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68680" y="2606040"/>
            <a:ext cx="5943600" cy="0"/>
          </a:xfrm>
          <a:prstGeom prst="line">
            <a:avLst/>
          </a:prstGeom>
          <a:noFill/>
          <a:ln w="9525">
            <a:solidFill>
              <a:srgbClr val="E1E6EF"/>
            </a:solidFill>
            <a:prstDash val="dash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8680" y="26974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3 conflicting budget spreadsheets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394960" y="269748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872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4.0 hrs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" y="3154680"/>
            <a:ext cx="5943600" cy="0"/>
          </a:xfrm>
          <a:prstGeom prst="line">
            <a:avLst/>
          </a:prstGeom>
          <a:noFill/>
          <a:ln w="9525">
            <a:solidFill>
              <a:srgbClr val="E1E6EF"/>
            </a:solidFill>
            <a:prstDash val="dash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68680" y="32461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steering committee deck from scratch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394960" y="32461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872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7.0 hrs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3703320"/>
            <a:ext cx="5943600" cy="0"/>
          </a:xfrm>
          <a:prstGeom prst="line">
            <a:avLst/>
          </a:prstGeom>
          <a:noFill/>
          <a:ln w="9525">
            <a:solidFill>
              <a:srgbClr val="E1E6EF"/>
            </a:solidFill>
            <a:prstDash val="dash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8680" y="37947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recolor RAG statuses per opinion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394960" y="379476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872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2.5 hrs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8680" y="4251960"/>
            <a:ext cx="5943600" cy="0"/>
          </a:xfrm>
          <a:prstGeom prst="line">
            <a:avLst/>
          </a:prstGeom>
          <a:noFill/>
          <a:ln w="9525">
            <a:solidFill>
              <a:srgbClr val="E1E6EF"/>
            </a:solidFill>
            <a:prstDash val="dash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68680" y="43434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Re-key resourcing data from 4 team calendars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94960" y="434340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872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5.0 hrs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8680" y="4800600"/>
            <a:ext cx="5943600" cy="0"/>
          </a:xfrm>
          <a:prstGeom prst="line">
            <a:avLst/>
          </a:prstGeom>
          <a:noFill/>
          <a:ln w="9525">
            <a:solidFill>
              <a:srgbClr val="E1E6EF"/>
            </a:solidFill>
            <a:prstDash val="dash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68680" y="48920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hoc requests, incl. "can you pull that number again?"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394960" y="489204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872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11.5 hrs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68680" y="5349240"/>
            <a:ext cx="5943600" cy="0"/>
          </a:xfrm>
          <a:prstGeom prst="line">
            <a:avLst/>
          </a:prstGeom>
          <a:noFill/>
          <a:ln w="9525">
            <a:solidFill>
              <a:srgbClr val="E1E6EF"/>
            </a:solidFill>
            <a:prstDash val="dash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868680" y="54864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left for actual portfolio judgment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394960" y="548640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3.5 hrs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269480" y="1463040"/>
            <a:ext cx="4114800" cy="4663440"/>
          </a:xfrm>
          <a:prstGeom prst="roundRect">
            <a:avLst>
              <a:gd name="adj" fmla="val 1333"/>
            </a:avLst>
          </a:prstGeom>
          <a:solidFill>
            <a:srgbClr val="EDF1F7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543800" y="1691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rework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543800" y="21031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B872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91%</a:t>
            </a:r>
            <a:endParaRPr lang="en-US" sz="4600" dirty="0"/>
          </a:p>
        </p:txBody>
      </p:sp>
      <p:sp>
        <p:nvSpPr>
          <p:cNvPr id="29" name="Text 27"/>
          <p:cNvSpPr/>
          <p:nvPr/>
        </p:nvSpPr>
        <p:spPr>
          <a:xfrm>
            <a:off x="7543800" y="30632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40-hour week spent chasing, reconciling, and rebuilding — not analyzing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543800" y="4023360"/>
            <a:ext cx="3566160" cy="0"/>
          </a:xfrm>
          <a:prstGeom prst="line">
            <a:avLst/>
          </a:prstGeom>
          <a:noFill/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543800" y="42062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9%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7543800" y="48920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remains for the judgment leaders are actually paying for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 descr=""/>
          <p:cNvGraphicFramePr/>
          <p:nvPr/>
        </p:nvGraphicFramePr>
        <p:xfrm>
          <a:off x="0" y="4480560"/>
          <a:ext cx="12188952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" name="Text 0"/>
          <p:cNvSpPr/>
          <p:nvPr/>
        </p:nvSpPr>
        <p:spPr>
          <a:xfrm>
            <a:off x="640080" y="1005840"/>
            <a:ext cx="3657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F0F3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3000" dirty="0"/>
          </a:p>
        </p:txBody>
      </p:sp>
      <p:sp>
        <p:nvSpPr>
          <p:cNvPr id="4" name="Shape 1"/>
          <p:cNvSpPr/>
          <p:nvPr/>
        </p:nvSpPr>
        <p:spPr>
          <a:xfrm>
            <a:off x="1965960" y="1234440"/>
            <a:ext cx="0" cy="1554480"/>
          </a:xfrm>
          <a:prstGeom prst="line">
            <a:avLst/>
          </a:prstGeom>
          <a:noFill/>
          <a:ln w="38100">
            <a:solidFill>
              <a:srgbClr val="0F8577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2286000" y="128016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Hero Moment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2286000" y="21488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7 Pillars you already saw — now live, on the same portfolio.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2286000" y="2926080"/>
            <a:ext cx="8229600" cy="566928"/>
          </a:xfrm>
          <a:prstGeom prst="roundRect">
            <a:avLst>
              <a:gd name="adj" fmla="val 50000"/>
            </a:avLst>
          </a:prstGeom>
          <a:solidFill>
            <a:srgbClr val="E3F5F1"/>
          </a:solidFill>
          <a:ln w="12700">
            <a:solidFill>
              <a:srgbClr val="0F8577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2286000" y="292608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 LIVE DEMO — open demo.html — walk all 7 Pillars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 descr=""/>
          <p:cNvGraphicFramePr/>
          <p:nvPr/>
        </p:nvGraphicFramePr>
        <p:xfrm>
          <a:off x="0" y="4846320"/>
          <a:ext cx="12188952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" name="Text 0"/>
          <p:cNvSpPr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B4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 IV · THE VALUE HYPOTHESIS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becomes visible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188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system working, decisions accelerate, data becomes trustworthy, and the connection between strategy and execution strengthens.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777240" y="2103120"/>
            <a:ext cx="306324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B4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6.2×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77240" y="2843784"/>
            <a:ext cx="30632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steering-committee decision cycle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06240" y="196596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434840" y="2103120"/>
            <a:ext cx="306324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91%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4434840" y="2843784"/>
            <a:ext cx="30632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RAG statuses now backed by a statistical model, not an opinion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863840" y="1965960"/>
            <a:ext cx="3520440" cy="14630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092440" y="2103120"/>
            <a:ext cx="306324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31.5 hrs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8092440" y="2843784"/>
            <a:ext cx="30632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hours per week returned to actual portfolio judgment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703320"/>
            <a:ext cx="10835640" cy="13716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22960" y="3886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velocity: risk emerges → leadership acts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22960" y="4251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Before:  9 + 6 + 4  =  19 days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22960" y="4617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After:  0.4 + 0.8 + 1.1  =  2.3 days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 V · THE OUTCOME REALIZED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quarters later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86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regains confidence as measurable outcomes emerge. Adoption drives ROI, and the anxiety that opened this story has an answer.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2057400"/>
            <a:ext cx="214884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$5.8M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798064"/>
            <a:ext cx="2148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portfolio ROI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9202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057400"/>
            <a:ext cx="214884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±4.2%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520440" y="2798064"/>
            <a:ext cx="2148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accuracy — was ±22%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9202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63640" y="2057400"/>
            <a:ext cx="214884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of 11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263640" y="2798064"/>
            <a:ext cx="2148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events caught before RAG flip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778240" y="192024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06840" y="2057400"/>
            <a:ext cx="2148840" cy="8046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8.7 / 10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006840" y="2798064"/>
            <a:ext cx="21488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trust score — was 4.1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03320"/>
            <a:ext cx="10835640" cy="2377440"/>
          </a:xfrm>
          <a:prstGeom prst="roundRect">
            <a:avLst>
              <a:gd name="adj" fmla="val 2308"/>
            </a:avLst>
          </a:prstGeom>
          <a:solidFill>
            <a:srgbClr val="EDF1F7"/>
          </a:solidFill>
          <a:ln w="12700">
            <a:solidFill>
              <a:srgbClr val="E1E6E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" y="4023360"/>
            <a:ext cx="9601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 stopped asking whether the number was real.</a:t>
            </a:r>
            <a:endParaRPr lang="en-US" sz="22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I ask what we're going to do about it.”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14400" y="53492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the same leader from Act I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0" descr=""/>
          <p:cNvGraphicFramePr/>
          <p:nvPr/>
        </p:nvGraphicFramePr>
        <p:xfrm>
          <a:off x="0" y="4206240"/>
          <a:ext cx="12188952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" name="Text 0"/>
          <p:cNvSpPr/>
          <p:nvPr/>
        </p:nvSpPr>
        <p:spPr>
          <a:xfrm>
            <a:off x="822960" y="1463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777240" y="18288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anxiety to statistical rigor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822960" y="3017520"/>
            <a:ext cx="365760" cy="365760"/>
          </a:xfrm>
          <a:prstGeom prst="ellipse">
            <a:avLst/>
          </a:prstGeom>
          <a:solidFill>
            <a:srgbClr val="E3F5F1"/>
          </a:solidFill>
          <a:ln w="12700">
            <a:solidFill>
              <a:srgbClr val="0F857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22960" y="3017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37160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one initiative to run through Monte Carlo + SPC this quarter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3611880"/>
            <a:ext cx="365760" cy="365760"/>
          </a:xfrm>
          <a:prstGeom prst="ellipse">
            <a:avLst/>
          </a:prstGeom>
          <a:solidFill>
            <a:srgbClr val="E3F5F1"/>
          </a:solidFill>
          <a:ln w="12700">
            <a:solidFill>
              <a:srgbClr val="0F8577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36118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371600" y="356616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charter &amp; backlog data sources for Strategic Drift Detection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22960" y="4206240"/>
            <a:ext cx="365760" cy="365760"/>
          </a:xfrm>
          <a:prstGeom prst="ellipse">
            <a:avLst/>
          </a:prstGeom>
          <a:solidFill>
            <a:srgbClr val="E3F5F1"/>
          </a:solidFill>
          <a:ln w="12700">
            <a:solidFill>
              <a:srgbClr val="0F857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85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371600" y="41605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C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current decision velocity as the before-state benchmark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365992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Stochastic SPM — AI Portfolio Intelligence Demo</dc:title>
  <dc:subject>PptxGenJS Presentation</dc:subject>
  <dc:creator>Stochastic SPM</dc:creator>
  <cp:lastModifiedBy>Stochastic SPM</cp:lastModifiedBy>
  <cp:revision>1</cp:revision>
  <dcterms:created xsi:type="dcterms:W3CDTF">2026-07-01T22:34:27Z</dcterms:created>
  <dcterms:modified xsi:type="dcterms:W3CDTF">2026-07-01T22:34:27Z</dcterms:modified>
</cp:coreProperties>
</file>