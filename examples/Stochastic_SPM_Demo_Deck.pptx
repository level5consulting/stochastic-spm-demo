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C13A3E"/>
            </a:solidFill>
            <a:ln w="25400" cap="flat">
              <a:solidFill>
                <a:srgbClr val="C13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3A3E"/>
              </a:solidFill>
              <a:ln w="9525" cap="flat">
                <a:solidFill>
                  <a:srgbClr val="C13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B8720C"/>
            </a:solidFill>
            <a:ln w="25400" cap="flat">
              <a:solidFill>
                <a:srgbClr val="B872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20C"/>
              </a:solidFill>
              <a:ln w="9525" cap="flat">
                <a:solidFill>
                  <a:srgbClr val="B872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5B4FC4"/>
            </a:solidFill>
            <a:ln w="25400" cap="flat">
              <a:solidFill>
                <a:srgbClr val="5B4F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4FC4"/>
              </a:solidFill>
              <a:ln w="9525" cap="flat">
                <a:solidFill>
                  <a:srgbClr val="5B4F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“Quick vocabulary note before we dive in: ‘stochastic’ just means probability-based rather than fixed — that's the whole shift we're here to talk about today.”</a:t>
            </a:r>
          </a:p>
          <a:p/>
          <a:p>
            <a:r>
              <a:t>DO: Say this over Slide 1, pointing at the definition line under the title, before advancing to the Agenda.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“Before we get into the story, I want to give you the map we'll be walking. Everything you see today maps back to one of seven pillars.”</a:t>
            </a:r>
          </a:p>
          <a:p/>
          <a:p>
            <a:r>
              <a:t>DO: Advance to Slide 3. Name each category briskly — don't explain the technique in depth yet. You'll demonstrate the technique live in Act III, so this is a preview, not the payoff.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“Portfolio allocation, capacity planning, delivery risk, process control, talent elevation, financial precision, and business outcome. Seven pillars, one system.”</a:t>
            </a:r>
          </a:p>
          <a:p/>
          <a:p>
            <a:r>
              <a:t>DO: Advance to Slide 4.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“And here's the difference in one slide: the amateur version of AI for SPM scans keywords and aggregates opinions. The professional version runs real statistics underneath it — cluster analysis, Monte Carlo simulation, statistical process control, Bayesian forecasting. That's the version you're about to see.”</a:t>
            </a:r>
          </a:p>
          <a:p/>
          <a:p>
            <a:r>
              <a:t>WATCH FOR: This slide can read as dense for a mixed audience — keep the pace brisk and don't read every row aloud. Let the amateur-vs-pro contrast do the work visually.</a:t>
            </a:r>
          </a:p>
          <a:p/>
          <a:p>
            <a:r>
              <a:t>SAY: “Hold onto this framework. Every time a pillar comes up for the rest of the hour, you'll already know where it fits.”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“Every SPM transformation starts in the same place: a leader looking at a portfolio report and not being sure if they can trust it. Not because anyone's lying — because the report was built by hand, from five spreadsheets, by someone who updated it under deadline pressure.”</a:t>
            </a:r>
          </a:p>
          <a:p/>
          <a:p>
            <a:r>
              <a:t>DO: Advance to Slide 6. Point at the Master Tracker mock — let the room read the RAG colors and the stale note before you speak.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“Sixty-two percent of the statuses on a tracker like this are set by feel, not by a model. The 'current' report is, on average, eleven days stale by the time it reaches a steering meeting. And this week, there are three different versions of 'the numbers' floating around before this meeting even starts.”</a:t>
            </a:r>
          </a:p>
          <a:p/>
          <a:p>
            <a:r>
              <a:t>WATCH FOR: This should land as recognizable, not exaggerated — if the room nods rather than laughs, you've calibrated it correctly. If it feels too on-the-nose for this audience, soften the specific numbers rather than the point.</a:t>
            </a:r>
          </a:p>
          <a:p/>
          <a:p>
            <a:r>
              <a:t>SAY: “That's Act One. Uncertainty about whether strategy is actually translating into execution, and whether the data underneath it can be trusted.”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“Behind that tracker is a person. Let's look at where her week actually goes.”</a:t>
            </a:r>
          </a:p>
          <a:p/>
          <a:p>
            <a:r>
              <a:t>DO: Advance to Slide 8. Let the 91% stat sit for a beat before narrating the task list.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“Chasing fourteen project owners for updates. Reconciling conflicting budget spreadsheets. Rebuilding the steering deck from scratch, again. Re-keying resourcing data by hand from four different calendars. Then the ad hoc requests — 'can you pull that number again?' Add it up, and ninety-one percent of a forty-hour week goes to manufacturing clarity — not exercising judgment.”</a:t>
            </a:r>
          </a:p>
          <a:p/>
          <a:p>
            <a:r>
              <a:t>SAY: “She has about three and a half hours left over each week to actually think about the portfolio she's supposedly managing.”</a:t>
            </a:r>
          </a:p>
          <a:p/>
          <a:p>
            <a:r>
              <a:t>WATCH FOR: Operators in the room may want to jump in here with their own war stories — that's a good sign of engagement. Acknowledge briefly, then bridge: 'Let's go fix that.'</a:t>
            </a:r>
          </a:p>
          <a:p/>
          <a:p>
            <a:r>
              <a:t>SAY: “So the question isn't whether this person is capable. It's whether we're spending her time on the right ninety-one percent. Let's look at what changes when AI does the assembly work instead of her.”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DO: Advance to Slide 9, then switch to the browser tab with the interactive demo. Click into Act III, then click through each pillar tab left to right as you narrate.</a:t>
            </a:r>
          </a:p>
          <a:p/>
          <a:p>
            <a:r>
              <a:t>SAY: “Same data sources as what you just saw. Same portfolio. Now run through the Stochastic SPM engine — the same seven pillars from a few minutes ago, this time live.”</a:t>
            </a:r>
          </a:p>
          <a:p/>
          <a:p>
            <a:r>
              <a:t>Pillar 1 — Portfolio Value &amp; Strategic Allocation</a:t>
            </a:r>
          </a:p>
          <a:p/>
          <a:p>
            <a:r>
              <a:t>DO: Open the "P01 — Strategic Allocation" tab in the interactive demo.</a:t>
            </a:r>
          </a:p>
          <a:p/>
          <a:p>
            <a:r>
              <a:t>SAY: “This isn't a keyword scan of project summaries. The engine is parsing charter language and backlog epics against our strategy metadata every night, and it's flagging drift before a human would ever notice it — the LATAM expansion initiative is talking about cost containment in a third of its open epics, not market entry.”</a:t>
            </a:r>
          </a:p>
          <a:p/>
          <a:p>
            <a:r>
              <a:t>SAY: “And on the right, cluster analysis is showing us something a spreadsheet never could: which projects are secretly correlated through a shared infrastructure or vendor dependency, so we're not accidentally over-indexed on a single point of failure.”</a:t>
            </a:r>
          </a:p>
          <a:p/>
          <a:p>
            <a:r>
              <a:t>WATCH FOR: An exec may ask 'how is this different from a dashboard filter?' — the answer is the model is reading unstructured text (charters, epics) and computing a drift *score*, not just displaying a status someone typed in.</a:t>
            </a:r>
          </a:p>
          <a:p/>
          <a:p>
            <a:r>
              <a:t>IF SHORT ON TIME: If pressed for time, show only the Strategic Drift Detection callouts and skip the cluster chart narration.</a:t>
            </a:r>
          </a:p>
          <a:p/>
          <a:p>
            <a:r>
              <a:t>Pillar 2 — Stochastic Capacity &amp; Resource Planning</a:t>
            </a:r>
          </a:p>
          <a:p/>
          <a:p>
            <a:r>
              <a:t>DO: Open the "P02 — Capacity &amp; Queuing" tab in the interactive demo.</a:t>
            </a:r>
          </a:p>
          <a:p/>
          <a:p>
            <a:r>
              <a:t>SAY: “This is queuing theory, not a spreadsheet that flags anyone over forty hours. The model is computing bottleneck probability from arrival rate and team capacity, in real time.”</a:t>
            </a:r>
          </a:p>
          <a:p/>
          <a:p>
            <a:r>
              <a:t>SAY: “Here's the moment that matters: once Platform Engineering crosses about eighty percent utilization, wait time stops climbing in a straight line and starts compounding. We can see it before it happens — expected queue wait goes from three days to over eleven within three sprints if nothing changes.”</a:t>
            </a:r>
          </a:p>
          <a:p/>
          <a:p>
            <a:r>
              <a:t>WATCH FOR: Operators will recognize this pattern immediately — let it land before moving on.</a:t>
            </a:r>
          </a:p>
          <a:p/>
          <a:p>
            <a:r>
              <a:t>Pillar 3 — Risk Management &amp; Predictive Delivery</a:t>
            </a:r>
          </a:p>
          <a:p/>
          <a:p>
            <a:r>
              <a:t>DO: Open the "P03 — Delivery Risk" tab in the interactive demo.</a:t>
            </a:r>
          </a:p>
          <a:p/>
          <a:p>
            <a:r>
              <a:t>SAY: “This is ten thousand simulated paths for the Fraud Detection pipeline, run overnight — not one person's gut-feel RAG status.”</a:t>
            </a:r>
          </a:p>
          <a:p/>
          <a:p>
            <a:r>
              <a:t>SAY: “The output is a real probability distribution. The date currently sitting in the steering deck — August 15th — has only a twenty-two percent chance of being met. September 30th is where we actually cross eighty-five percent confidence.”</a:t>
            </a:r>
          </a:p>
          <a:p/>
          <a:p>
            <a:r>
              <a:t>SAY: “This is usually the moment a room goes quiet. That's the whole point: a single RAG color was hiding this.”</a:t>
            </a:r>
          </a:p>
          <a:p/>
          <a:p>
            <a:r>
              <a:t>WATCH FOR: An exec will likely ask which date they should now commit to publicly. Bridge to: 'that's exactly the conversation this is designed to force earlier, with a number behind it instead of an opinion.'</a:t>
            </a:r>
          </a:p>
          <a:p/>
          <a:p>
            <a:r>
              <a:t>Pillar 4 — Operational Metrics via Statistical Process Control</a:t>
            </a:r>
          </a:p>
          <a:p/>
          <a:p>
            <a:r>
              <a:t>DO: Open the "P04 — SPC Control" tab in the interactive demo.</a:t>
            </a:r>
          </a:p>
          <a:p/>
          <a:p>
            <a:r>
              <a:t>SAY: “Remember Act Two — the hours spent chasing status, rebuilding the deck, recoloring RAG by feel? All of that was in service of producing a number. This pillar is the graduation past that. Reporting tells you a number changed. SPC tells you whether that change actually means anything.”</a:t>
            </a:r>
          </a:p>
          <a:p/>
          <a:p>
            <a:r>
              <a:t>SAY: “Control limits, computed from this team's own historical variation — not a rule of thumb.”</a:t>
            </a:r>
          </a:p>
          <a:p/>
          <a:p>
            <a:r>
              <a:t>SAY: “Look at the velocity line: only one point actually breaches the control limit. That's the one worth a leadership conversation. Every other wiggle on this chart is normal noise the system now filters out automatically, instead of triggering a status meeting. Nobody had to report on it for that to be true.”</a:t>
            </a:r>
          </a:p>
          <a:p/>
          <a:p>
            <a:r>
              <a:t>WATCH FOR: An exec may push back with 'isn't this just a dashboard with thresholds?' The distinction: the thresholds themselves are computed from the process's own statistical variation, not set by a person guessing at what 'too slow' means.</a:t>
            </a:r>
          </a:p>
          <a:p/>
          <a:p>
            <a:r>
              <a:t>IF SHORT ON TIME: This pillar can be trimmed to the first SAY line only if the room is engaged elsewhere and time is tight — the callback to Act II is the part worth protecting, since it's what makes the pillar land as a graduation rather than just another chart.</a:t>
            </a:r>
          </a:p>
          <a:p/>
          <a:p>
            <a:r>
              <a:t>Pillar 5 — Talent Elevation &amp; Maturity Management</a:t>
            </a:r>
          </a:p>
          <a:p/>
          <a:p>
            <a:r>
              <a:t>DO: Open the "P05 — Talent Elevation" tab in the interactive demo.</a:t>
            </a:r>
          </a:p>
          <a:p/>
          <a:p>
            <a:r>
              <a:t>SAY: “This is the pillar that answers a question every leader in this room is quietly asking: does using this thing actually make someone better at their job? Look at the same PMO, split by how fully each PM has adopted the AI-assisted workflow.”</a:t>
            </a:r>
          </a:p>
          <a:p/>
          <a:p>
            <a:r>
              <a:t>SAY: “PMs with high adoption are hitting on-time delivery eighty-eight percent of the time, versus sixty-one percent for PMs still working the old manual way. Forecast accuracy runs ninety-four percent versus seventy-one. And the PMs who've fully embraced this get forty-one percent of their week back for actual judgment — the PMs who haven't are stuck around twelve percent, which is close to where we started back in Act Two.”</a:t>
            </a:r>
          </a:p>
          <a:p/>
          <a:p>
            <a:r>
              <a:t>SAY: “That's not a talent gap. It's an adoption gap — and it's closeable.”</a:t>
            </a:r>
          </a:p>
          <a:p/>
          <a:p>
            <a:r>
              <a:t>SAY: “Underneath it, this is how: regression on every PM's historical estimates versus actuals. It found that one PM's validation-phase estimates run thirty-two percent short, on average — and it surfaces that as a live nudge while they're drafting the next requirements doc, not as a performance review finding six months later. That's the mechanism that moves someone from the low-adoption bar to the high-adoption bar.”</a:t>
            </a:r>
          </a:p>
          <a:p/>
          <a:p>
            <a:r>
              <a:t>WATCH FOR: This pillar tends to land well with operators and can feel sensitive to individual contributors in the room — frame it explicitly as elevation, not surveillance. The point is that the gap is closeable through adoption, not a fixed judgment about anyone's talent.</a:t>
            </a:r>
          </a:p>
          <a:p/>
          <a:p>
            <a:r>
              <a:t>IF SHORT ON TIME: If short on time, lead with the productivity comparison chart and one sentence on the mechanism — the adoption-gap framing is the part worth protecting.</a:t>
            </a:r>
          </a:p>
          <a:p/>
          <a:p>
            <a:r>
              <a:t>Pillar 6 — Financial Precision</a:t>
            </a:r>
          </a:p>
          <a:p/>
          <a:p>
            <a:r>
              <a:t>DO: Open the "P06 — Financial Precision" tab in the interactive demo.</a:t>
            </a:r>
          </a:p>
          <a:p/>
          <a:p>
            <a:r>
              <a:t>SAY: “Estimate to Complete used to mean re-running a static formula when someone remembered to update a number. Now it's a continuously updating Bayesian forecast — ARIMA time-series blended with Bayesian inference, recalculating every time new delivery data lands.”</a:t>
            </a:r>
          </a:p>
          <a:p/>
          <a:p>
            <a:r>
              <a:t>SAY: “And NPV and IRR aren't single point estimates anymore — they carry a confidence interval. When expected value on this initiative drifted within four points of our governance trigger last month, the workflow fired on its own. Nobody had to notice it manually.”</a:t>
            </a:r>
          </a:p>
          <a:p/>
          <a:p>
            <a:r>
              <a:t>WATCH FOR: This is usually the pillar that resonates most with the CFO-adjacent people in the room — let it breathe.</a:t>
            </a:r>
          </a:p>
          <a:p/>
          <a:p>
            <a:r>
              <a:t>Pillar 7 — Direct Business Outcome &amp; Value Realization</a:t>
            </a:r>
          </a:p>
          <a:p/>
          <a:p>
            <a:r>
              <a:t>DO: Open the "P07 — Outcome Twin" tab in the interactive demo.</a:t>
            </a:r>
          </a:p>
          <a:p/>
          <a:p>
            <a:r>
              <a:t>SAY: “This is the pillar that shifts the whole conversation from 'did we ship on time' to 'did it matter.'”</a:t>
            </a:r>
          </a:p>
          <a:p/>
          <a:p>
            <a:r>
              <a:t>SAY: “The digital twin maps execution dependencies straight through to OKRs and dollars — a three-week delay on the fraud pipeline maps to four hundred ten thousand dollars of projected Q4 exposure.”</a:t>
            </a:r>
          </a:p>
          <a:p/>
          <a:p>
            <a:r>
              <a:t>SAY: “And causal inference is how we prove it, not just claim it. We're comparing the treated initiative against a synthetic control — a version of the world where we didn't run it — and isolating a four-point retention lift that's actually attributable to the work, not to a general market trend.”</a:t>
            </a:r>
          </a:p>
          <a:p/>
          <a:p>
            <a:r>
              <a:t>WATCH FOR: This is the strongest closing pillar for an exec audience — if you're behind schedule, protect time here over Pillars 4 or 5.</a:t>
            </a:r>
          </a:p>
          <a:p/>
          <a:p>
            <a:r>
              <a:t>That's the Hero Moment: seven pillars, one system, and every number on screen now carries a confidence interval instead of an opinion.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“With the system doing the assembly work, value stops being an anecdote and starts being a number you can argue with.”</a:t>
            </a:r>
          </a:p>
          <a:p/>
          <a:p>
            <a:r>
              <a:t>DO: Advance to Slide 10. Walk the three stat cards left to right, then land on the decision-velocity comparison.</a:t>
            </a:r>
          </a:p>
          <a:p/>
          <a:p>
            <a:r>
              <a:t>SAY: “Decisions that used to take nineteen days from 'a risk emerges' to 'leadership actually acts on it' now take just over two. That's not a productivity story — that's a risk story. Every day shaved off that cycle is a day less of exposure.”</a:t>
            </a:r>
          </a:p>
          <a:p/>
          <a:p>
            <a:r>
              <a:t>WATCH FOR: This is where the mixed audience tends to split: execs want the velocity number, operators want the 31.5-hours-returned number. Give both explicitly rather than picking one.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DO: Advance to Slide 11. Read the closing quote slowly — it's designed to land as the answer to the Act I quote.</a:t>
            </a:r>
          </a:p>
          <a:p/>
          <a:p>
            <a:r>
              <a:t>SAY: “Two quarters in: $5.8M in documented ROI, forecast accuracy tightened from plus-or-minus twenty-two percent to plus-or-minus four, and nine of eleven red-flag events caught before they ever became a red status in a steering deck.”</a:t>
            </a:r>
          </a:p>
          <a:p/>
          <a:p>
            <a:r>
              <a:t>SAY: “And the leader we opened with — the trust survey score moved from 4.1 to 8.7. In their own words: 'I stopped asking whether the number was real. Now I ask what we're going to do about it.'”</a:t>
            </a:r>
          </a:p>
          <a:p/>
          <a:p>
            <a:r>
              <a:t>That's the arc closed: the anxiety that opened this story now has a measurable answer.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“If you're running one pilot this quarter, start with one initiative through Monte Carlo and SPC, connect your charter and backlog data for drift detection, and baseline your current decision velocity today — because that's the number you'll want to compare against in two quarters.”</a:t>
            </a:r>
          </a:p>
          <a:p/>
          <a:p>
            <a:r>
              <a:t>Open the floor. Common questions and suggested bridges are in the appendix below.</a:t>
            </a:r>
          </a:p>
          <a:p/>
          <a:p>
            <a:r>
              <a:t>Illustrative data. Every number, name and chart in this walkthrough is simulated; no real product or client is shown. Built with the Stochastic SPM Demo Kit by Level 5ive Consulting · Code MIT · Framework content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206240"/>
          <a:ext cx="1218895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WALKTHROUGH · SIMULATED ENVIRONMENT · 60 MIN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SPM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Portfolio Intelligence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administrative tracking to statistical rigor. A 5-act narrative demo of an AI-enabled EPMO, built on the 7 Pillars framework.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44348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stochastic (adj.) — governed by probability, not fixed rules. The opposite of a guess.</a:t>
            </a:r>
            <a:pPr algn="ctr" indent="0" marL="0">
              <a:buNone/>
            </a:pPr>
            <a:r>
              <a:rPr lang="en-US" sz="1050" i="1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" y="5989320"/>
            <a:ext cx="530352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Value  ·  Capacity  ·  Delivery Risk  ·  SPC  ·  Talent  ·  Financial Precision  ·  Business Outcome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OF SHOW · 60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Acts — and a Framework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087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63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Pillars Framework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37360" y="1892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 before the story begins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66960" y="150876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0:01–0:05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2860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3408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Leader's Anxiety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37360" y="26700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SPM initiative begins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66960" y="228600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0:05–0:10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06324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Grind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37360" y="34472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cost of manufactured clarity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66960" y="30632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0:10–0:16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384048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Moment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37360" y="4224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the 7 Pillars, in the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66960" y="384048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0:16–0:44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461772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467258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Hypothesis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737360" y="5001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becomes visible, and arguable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4617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0:44–0:52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" y="53949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737360" y="54498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Realized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737360" y="5779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restored, ROI documented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66960" y="539496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0:52–0:58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introduced first, as a precursor to the demonstration — so the language is already shared by the time the live demo begins in Act III.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WE BEGIN · 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Pillars of AI-Enabled SPM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you'll see across the next five acts maps back to one of these seven. Keep this framework in mind — Act III will demonstrate each pillar live.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Allocation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drift detection + cluster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6704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11296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Queuing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11296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 models, predictive overload alerts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9360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 survival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07424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07424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Control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07424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from reporting a number to controlling a process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Elevation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AI-adopting PMs measurably outproduce those who aren't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46704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11296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11296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11296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EAC/ETC, dynamic NPV/IRR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09360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+ causal inference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WE BEGIN · WHY IT'S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GenAI vs. Statistical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SPM DOMAIN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6324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AMATEUR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APPROACH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288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Alignment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Keyword-scans summaries against pillars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factor analysis on hidden concentrations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29077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subjective RAG / Jira counts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90779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Monte Carlo confidence-interval simulations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515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986784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3986784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averages, prompts micromanagement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398678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separates common-cause noise from real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65776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Precision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5065776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Re-calculates static formulas on manual entry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5065776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ARIMA/Prophet + Bayesian continuous EAC curves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C13A3E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Leader's Anxiety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SPM initiative begins with uncertainty.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8600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1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number from Tuesday or from three weeks ago?”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nobody fully trusts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lack clarity on whether strategy is translating into execution, whether the data can be trusted, and whether progress is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with a manually-set RAG status (no underlying data model)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staleness of the "current" portfolio report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924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924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versions of "the numbers" in this week's steering deck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0835640" cy="2468880"/>
          </a:xfrm>
          <a:prstGeom prst="roundRect">
            <a:avLst>
              <a:gd name="adj" fmla="val 2222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Portfolio Status — Master Tracker.xlsx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maintained · last saved 11 days ago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0F857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Billing Re-platform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track” (as of 2 wks ago)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74920"/>
            <a:ext cx="109728" cy="109728"/>
          </a:xfrm>
          <a:prstGeom prst="ellipse">
            <a:avLst/>
          </a:prstGeom>
          <a:solidFill>
            <a:srgbClr val="B8720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5001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Unification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5001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5001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5001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infra team?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5458968"/>
            <a:ext cx="109728" cy="109728"/>
          </a:xfrm>
          <a:prstGeom prst="ellipse">
            <a:avLst/>
          </a:prstGeom>
          <a:solidFill>
            <a:srgbClr val="C13A3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0" y="5385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ML Pipeline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5385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5385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385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in email, not here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843016"/>
            <a:ext cx="109728" cy="109728"/>
          </a:xfrm>
          <a:prstGeom prst="ellipse">
            <a:avLst/>
          </a:prstGeom>
          <a:solidFill>
            <a:srgbClr val="B8720C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97280" y="5769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CRM Sunset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5769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57698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769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this cycle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B8720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Operator's Grind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carry the burden of delivering clarity through manual work.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8600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time to think about the portfolio. I'm too busy building the slide that describes it.”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 · THE HIDDEN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40-hour week actually goes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663440"/>
          </a:xfrm>
          <a:prstGeom prst="roundRect">
            <a:avLst>
              <a:gd name="adj" fmla="val 1176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manual task queue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14 project owners for status updates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0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 hrs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3 conflicting budget spreadsheets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94960" y="2697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hrs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46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steering committee deck from scratch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hrs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70332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recolor RAG statuses per opinion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94960" y="3794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hrs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343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 resourcing data from 4 team calendars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 hrs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80060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892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requests, incl. "can you pull that number again?"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94960" y="4892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 hrs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34924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486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 for actual portfolio judgment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94960" y="5486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hrs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1463040"/>
            <a:ext cx="4114800" cy="4663440"/>
          </a:xfrm>
          <a:prstGeom prst="roundRect">
            <a:avLst>
              <a:gd name="adj" fmla="val 1333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438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7543800" y="3063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40-hour week spent chasing, reconciling, and rebuilding — not analyzing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43800" y="4023360"/>
            <a:ext cx="35661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438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543800" y="4892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for the judgment leaders are actually paying for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Hero Moment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Pillars you already saw — now live, on the same portfolio.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0" y="2926080"/>
            <a:ext cx="8229600" cy="566928"/>
          </a:xfrm>
          <a:prstGeom prst="roundRect">
            <a:avLst>
              <a:gd name="adj" fmla="val 50000"/>
            </a:avLst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86000" y="2926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LIVE DEMO — open demo.html — walk all 7 Pillars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846320"/>
          <a:ext cx="1218895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IV · THE VALUE HYPOTHESIS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becomes visible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system working, decisions accelerate, data becomes trustworthy, and the connection between strategy and execution strengthens.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6.2×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steering-committee decision cycle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348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348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RAG statuses now backed by a statistical model, not an opinion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0924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31.5 hrs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924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hours per week returned to actual portfolio judgment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velocity: risk emerges → leadership acts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 9 + 6 + 4  =  19 days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0.4 + 0.8 + 1.1  =  2.3 days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V · THE OUTCOME REALIZED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quarters later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regains confidence as measurable outcomes emerge. Adoption drives ROI, and the anxiety that opened this story has an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$5.8M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portfolio ROI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±4.2%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— was ±22%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of 11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events caught before RAG flip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068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8.7 /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trust score — was 4.1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835640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0233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stopped asking whether the number was real.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 ask what we're going to do about it.”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the same leader from Act 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206240"/>
          <a:ext cx="1218895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anxiety to statistical rigor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initiative to run through Monte Carlo + SPC this quarter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charter &amp; backlog data sources for Strategic Drift Detection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20624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decision velocity as the before-state benchmark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SPM — AI Portfolio Intelligence Demo</dc:title>
  <dc:subject>PptxGenJS Presentation</dc:subject>
  <dc:creator>Stochastic SPM</dc:creator>
  <cp:lastModifiedBy>Stochastic SPM</cp:lastModifiedBy>
  <cp:revision>1</cp:revision>
  <dcterms:created xsi:type="dcterms:W3CDTF">2026-07-01T22:34:27Z</dcterms:created>
  <dcterms:modified xsi:type="dcterms:W3CDTF">2026-07-01T22:34:27Z</dcterms:modified>
</cp:coreProperties>
</file>