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407f426b-cb6c-107b-a65b-bbf3db7fc8ea}">
          <p14:sldIdLst>
            <p14:sldId id="256"/>
          </p14:sldIdLst>
        </p14:section>
        <p14:section name="Act I" id="{5d24e1ca-1052-536b-32d2-eeddb1ed896f}">
          <p14:sldIdLst>
            <p14:sldId id="257"/>
          </p14:sldIdLst>
        </p14:section>
        <p14:section name="Act II" id="{53ad270b-0816-1ee0-410a-ac0baa65367b}">
          <p14:sldIdLst>
            <p14:sldId id="258"/>
            <p14:sldId id="259"/>
          </p14:sldIdLst>
        </p14:section>
        <p14:section name="Act IV" id="{4385ec39-9150-b8f7-fd84-50e7af0f6209}">
          <p14:sldIdLst>
            <p14:sldId id="260"/>
          </p14:sldIdLst>
        </p14:section>
        <p14:section name="Act V" id="{743bfc34-3703-cc32-1ca5-39d54c853012}">
          <p14:sldIdLst>
            <p14:sldId id="261"/>
          </p14:sldIdLst>
        </p14:section>
        <p14:section name="Close" id="{66230c72-76aa-529c-d3d8-8be0e994fee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Trailer: introduce Tributary, an AI-enabled early warning system. A device maker gets bad news from a critical supplier. Its VP of supplier quality has until 5 o'clock to tell the COO how exposed they are, and she can't. By the end she answers in minutes, with evidence. Confirm roles from the pre-read: the first volunteer is Dana, the second is the COO, anyone else is Maya. Discovery is already done - go straight 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Halvern and Steadia. Dana's name is on supplier controls. 7:40 email from Brightwater, 9:15 COO in the doorway, answer by end of day for the CEO tomorrow. Then switch to Tributary and press B for the old tracker view (the system itself is introduced by name in Act III).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every day; speed up from Wednesday. Plant the Brightwater clue on Monday without emphasis. Ask Maya: does that week look familiar? Then the tier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Mountain of evidence, nobody has time. Ask the COO: would you approve two more analysts? Then: Dana needs to know which suppliers need attention now, and why. Switch to Tributary for Act III and reintroduce it: the AI-enabled early warning system from the trailer.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list. Ask the COO which two he'd fund. Explain single-source exposure and the accuracy test (evidence, not proof). Price question: less than two analysts, scoped to a pilot. Ask Dana: if it caught Brightwater, enough? Close with the next step and a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Brightwater outcome, pilot accuracy (one miss), four more exposures, rollout approved. Maya: I finally read the audit reports. FDA inspection: minutes instead of days, no observations on supplier controls. Corvane still open. COO: how exposed are we? Answerable in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out of the role-play and thank them. Name Tributary once more as the illustration of the idea. One sentence on how you'd approach their customers. Then open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Halvern Medical and Tributary are fictional · figures are illustrative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Tributary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An AI-enabled early warning system for third-party risk · A medical device story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 Stellflue · October 20,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Halvern Medical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US device maker · ~1,400 third parties · growth product: Steadia continuous glucose monitor</a:t>
            </a:r>
            <a:endParaRPr lang="en-US" sz="1600" dirty="0"/>
          </a:p>
        </p:txBody>
      </p:sp>
      <p:sp>
        <p:nvSpPr>
          <p:cNvPr id="4" name="person0"/>
          <p:cNvSpPr/>
          <p:nvPr/>
        </p:nvSpPr>
        <p:spPr>
          <a:xfrm>
            <a:off x="548640" y="182880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EEF3F0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Whitfield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Global Supplier Quality &amp; Third-Party Risk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FDA for supplier controls</a:t>
            </a:r>
            <a:endParaRPr lang="en-US" sz="1200" dirty="0"/>
          </a:p>
        </p:txBody>
      </p:sp>
      <p:sp>
        <p:nvSpPr>
          <p:cNvPr id="10" name="person1"/>
          <p:cNvSpPr/>
          <p:nvPr/>
        </p:nvSpPr>
        <p:spPr>
          <a:xfrm>
            <a:off x="3063240" y="182880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EEF3F0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18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Dana's boss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Steadia launch commitments</a:t>
            </a:r>
            <a:endParaRPr lang="en-US" sz="1200" dirty="0"/>
          </a:p>
        </p:txBody>
      </p:sp>
      <p:sp>
        <p:nvSpPr>
          <p:cNvPr id="16" name="person2"/>
          <p:cNvSpPr/>
          <p:nvPr/>
        </p:nvSpPr>
        <p:spPr>
          <a:xfrm>
            <a:off x="5577840" y="182880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EEF3F0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2743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Ortiz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Third-Party Risk Analyst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program day to day</a:t>
            </a:r>
            <a:endParaRPr lang="en-US" sz="1200" dirty="0"/>
          </a:p>
        </p:txBody>
      </p:sp>
      <p:sp>
        <p:nvSpPr>
          <p:cNvPr id="22" name="brightwater"/>
          <p:cNvSpPr/>
          <p:nvPr/>
        </p:nvSpPr>
        <p:spPr>
          <a:xfrm>
            <a:off x="8183880" y="182880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BE9E7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Brightwater Sterilization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Sterilizes every Steadia sensor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single-source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3154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7:40 AM: one site under state review, capacity may drop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80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exposed are we?”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COO, 9:15 AM · answer needed by 5 o'clock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Maya's week</a:t>
            </a:r>
            <a:endParaRPr lang="en-US" sz="3600" dirty="0"/>
          </a:p>
        </p:txBody>
      </p:sp>
      <p:sp>
        <p:nvSpPr>
          <p:cNvPr id="3" name="day0"/>
          <p:cNvSpPr/>
          <p:nvPr/>
        </p:nvSpPr>
        <p:spPr>
          <a:xfrm>
            <a:off x="548640" y="1371600"/>
            <a:ext cx="2075688" cy="3017520"/>
          </a:xfrm>
          <a:prstGeom prst="roundRect">
            <a:avLst>
              <a:gd name="adj" fmla="val 3524"/>
            </a:avLst>
          </a:prstGeom>
          <a:solidFill>
            <a:srgbClr val="EEF3F0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Monday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overdue questionnaires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Brightwater took almost two months this year. Note to follow up.</a:t>
            </a:r>
            <a:endParaRPr lang="en-US" sz="1300" dirty="0"/>
          </a:p>
        </p:txBody>
      </p:sp>
      <p:sp>
        <p:nvSpPr>
          <p:cNvPr id="7" name="day1"/>
          <p:cNvSpPr/>
          <p:nvPr/>
        </p:nvSpPr>
        <p:spPr>
          <a:xfrm>
            <a:off x="2807208" y="1371600"/>
            <a:ext cx="2075688" cy="3017520"/>
          </a:xfrm>
          <a:prstGeom prst="roundRect">
            <a:avLst>
              <a:gd name="adj" fmla="val 3524"/>
            </a:avLst>
          </a:prstGeom>
          <a:solidFill>
            <a:srgbClr val="EEF3F0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0088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Tuesday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InfoSec, Privacy, Quality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Kestrel audit report lives in another system. Never seen it.</a:t>
            </a:r>
            <a:endParaRPr lang="en-US" sz="1300" dirty="0"/>
          </a:p>
        </p:txBody>
      </p:sp>
      <p:sp>
        <p:nvSpPr>
          <p:cNvPr id="11" name="day2"/>
          <p:cNvSpPr/>
          <p:nvPr/>
        </p:nvSpPr>
        <p:spPr>
          <a:xfrm>
            <a:off x="5065776" y="1371600"/>
            <a:ext cx="2075688" cy="3017520"/>
          </a:xfrm>
          <a:prstGeom prst="roundRect">
            <a:avLst>
              <a:gd name="adj" fmla="val 3524"/>
            </a:avLst>
          </a:prstGeom>
          <a:solidFill>
            <a:srgbClr val="EEF3F0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48656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Wednesday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48656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escalation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48656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new supplier take six weeks?</a:t>
            </a:r>
            <a:endParaRPr lang="en-US" sz="1300" dirty="0"/>
          </a:p>
        </p:txBody>
      </p:sp>
      <p:sp>
        <p:nvSpPr>
          <p:cNvPr id="15" name="day3"/>
          <p:cNvSpPr/>
          <p:nvPr/>
        </p:nvSpPr>
        <p:spPr>
          <a:xfrm>
            <a:off x="7324344" y="1371600"/>
            <a:ext cx="2075688" cy="3017520"/>
          </a:xfrm>
          <a:prstGeom prst="roundRect">
            <a:avLst>
              <a:gd name="adj" fmla="val 3524"/>
            </a:avLst>
          </a:prstGeom>
          <a:solidFill>
            <a:srgbClr val="EEF3F0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07224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Thursday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507224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Rekeying evidence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07224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and emails into a spreadsheet</a:t>
            </a:r>
            <a:endParaRPr lang="en-US" sz="1300" dirty="0"/>
          </a:p>
        </p:txBody>
      </p:sp>
      <p:sp>
        <p:nvSpPr>
          <p:cNvPr id="19" name="day4"/>
          <p:cNvSpPr/>
          <p:nvPr/>
        </p:nvSpPr>
        <p:spPr>
          <a:xfrm>
            <a:off x="9582912" y="1371600"/>
            <a:ext cx="2075688" cy="3017520"/>
          </a:xfrm>
          <a:prstGeom prst="roundRect">
            <a:avLst>
              <a:gd name="adj" fmla="val 3524"/>
            </a:avLst>
          </a:prstGeom>
          <a:solidFill>
            <a:srgbClr val="EEF3F0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65792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Friday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765792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risk report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by hand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review hours this year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7680960" cy="411480"/>
          </a:xfrm>
          <a:prstGeom prst="rect">
            <a:avLst/>
          </a:prstGeom>
          <a:solidFill>
            <a:srgbClr val="A15C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5120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 ~7,000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623560"/>
            <a:ext cx="5486400" cy="411480"/>
          </a:xfrm>
          <a:prstGeom prst="rect">
            <a:avLst/>
          </a:prstGeom>
          <a:solidFill>
            <a:srgbClr val="1F6B5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5623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 ~5,000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5074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before the year starts. Reviews run on anniversaries, not on risk.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 nobody reads</a:t>
            </a:r>
            <a:endParaRPr lang="en-US" sz="3600" dirty="0"/>
          </a:p>
        </p:txBody>
      </p:sp>
      <p:sp>
        <p:nvSpPr>
          <p:cNvPr id="3" name="doc0"/>
          <p:cNvSpPr/>
          <p:nvPr/>
        </p:nvSpPr>
        <p:spPr>
          <a:xfrm>
            <a:off x="54864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320040" cy="411480"/>
          </a:xfrm>
          <a:prstGeom prst="rect">
            <a:avLst/>
          </a:prstGeom>
          <a:solidFill>
            <a:srgbClr val="E1EFE9"/>
          </a:solidFill>
          <a:ln w="12700">
            <a:solidFill>
              <a:srgbClr val="1F6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6642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331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system</a:t>
            </a:r>
            <a:endParaRPr lang="en-US" sz="1200" dirty="0"/>
          </a:p>
        </p:txBody>
      </p:sp>
      <p:sp>
        <p:nvSpPr>
          <p:cNvPr id="7" name="doc1"/>
          <p:cNvSpPr/>
          <p:nvPr/>
        </p:nvSpPr>
        <p:spPr>
          <a:xfrm>
            <a:off x="320040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737360"/>
            <a:ext cx="320040" cy="411480"/>
          </a:xfrm>
          <a:prstGeom prst="rect">
            <a:avLst/>
          </a:prstGeom>
          <a:solidFill>
            <a:srgbClr val="E1EFE9"/>
          </a:solidFill>
          <a:ln w="12700">
            <a:solidFill>
              <a:srgbClr val="1F6B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0" y="16642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responses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331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system</a:t>
            </a:r>
            <a:endParaRPr lang="en-US" sz="1200" dirty="0"/>
          </a:p>
        </p:txBody>
      </p:sp>
      <p:sp>
        <p:nvSpPr>
          <p:cNvPr id="11" name="doc2"/>
          <p:cNvSpPr/>
          <p:nvPr/>
        </p:nvSpPr>
        <p:spPr>
          <a:xfrm>
            <a:off x="5852160" y="14630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1737360"/>
            <a:ext cx="320040" cy="411480"/>
          </a:xfrm>
          <a:prstGeom prst="rect">
            <a:avLst/>
          </a:prstGeom>
          <a:solidFill>
            <a:srgbClr val="E1EFE9"/>
          </a:solidFill>
          <a:ln w="12700">
            <a:solidFill>
              <a:srgbClr val="1F6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6642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agreement deviations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31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system</a:t>
            </a:r>
            <a:endParaRPr lang="en-US" sz="1200" dirty="0"/>
          </a:p>
        </p:txBody>
      </p:sp>
      <p:sp>
        <p:nvSpPr>
          <p:cNvPr id="15" name="doc3"/>
          <p:cNvSpPr/>
          <p:nvPr/>
        </p:nvSpPr>
        <p:spPr>
          <a:xfrm>
            <a:off x="548640" y="30632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337560"/>
            <a:ext cx="320040" cy="411480"/>
          </a:xfrm>
          <a:prstGeom prst="rect">
            <a:avLst/>
          </a:prstGeom>
          <a:solidFill>
            <a:srgbClr val="E1EFE9"/>
          </a:solidFill>
          <a:ln w="12700">
            <a:solidFill>
              <a:srgbClr val="1F6B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80160" y="3264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renewals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31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drive</a:t>
            </a:r>
            <a:endParaRPr lang="en-US" sz="1200" dirty="0"/>
          </a:p>
        </p:txBody>
      </p:sp>
      <p:sp>
        <p:nvSpPr>
          <p:cNvPr id="19" name="doc4"/>
          <p:cNvSpPr/>
          <p:nvPr/>
        </p:nvSpPr>
        <p:spPr>
          <a:xfrm>
            <a:off x="3200400" y="30632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337560"/>
            <a:ext cx="320040" cy="411480"/>
          </a:xfrm>
          <a:prstGeom prst="rect">
            <a:avLst/>
          </a:prstGeom>
          <a:solidFill>
            <a:srgbClr val="E1EFE9"/>
          </a:solidFill>
          <a:ln w="12700">
            <a:solidFill>
              <a:srgbClr val="1F6B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3264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free text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931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TPRM spreadsheet</a:t>
            </a:r>
            <a:endParaRPr lang="en-US" sz="1200" dirty="0"/>
          </a:p>
        </p:txBody>
      </p:sp>
      <p:sp>
        <p:nvSpPr>
          <p:cNvPr id="23" name="doc5"/>
          <p:cNvSpPr/>
          <p:nvPr/>
        </p:nvSpPr>
        <p:spPr>
          <a:xfrm>
            <a:off x="5852160" y="30632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3337560"/>
            <a:ext cx="320040" cy="411480"/>
          </a:xfrm>
          <a:prstGeom prst="rect">
            <a:avLst/>
          </a:prstGeom>
          <a:solidFill>
            <a:srgbClr val="E1EFE9"/>
          </a:solidFill>
          <a:ln w="12700">
            <a:solidFill>
              <a:srgbClr val="1F6B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0" y="3264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emails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931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1737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documents across separate systems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33832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together, they'd show which suppliers are slipping. Today they're read only after something goes wrong.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892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quo option: two more analysts, roughly $250K a year. Same calendar, same unread evidence.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90-day Tributary pilot: what we'd measure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237744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target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suppliers with evidence newer than 90 days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half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Nearly 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Single-source critical suppliers without a qualified alternate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identified, each with a plan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produce supplier control evidence for FDA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hours on critical vs. low-risk suppliers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 by calendar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to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warning accuracy on Halvern's own history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Backtested on the past year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Tributary pilot scope: critical and high-tier suppliers · Sponsor: Dana · Run by: Maya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quarters later</a:t>
            </a:r>
            <a:endParaRPr lang="en-US" sz="3600" dirty="0"/>
          </a:p>
        </p:txBody>
      </p:sp>
      <p:sp>
        <p:nvSpPr>
          <p:cNvPr id="3" name="out0"/>
          <p:cNvSpPr/>
          <p:nvPr/>
        </p:nvSpPr>
        <p:spPr>
          <a:xfrm>
            <a:off x="548640" y="14630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3F0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supply gap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Ashby capacity secured the same week; second sterilizer on track for next quarter</a:t>
            </a:r>
            <a:endParaRPr lang="en-US" sz="1500" dirty="0"/>
          </a:p>
        </p:txBody>
      </p:sp>
      <p:sp>
        <p:nvSpPr>
          <p:cNvPr id="6" name="out1"/>
          <p:cNvSpPr/>
          <p:nvPr/>
        </p:nvSpPr>
        <p:spPr>
          <a:xfrm>
            <a:off x="6172200" y="14630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3F0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737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more exposures found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31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the Tributary pilot; each now has an owner and a plan</a:t>
            </a:r>
            <a:endParaRPr lang="en-US" sz="1500" dirty="0"/>
          </a:p>
        </p:txBody>
      </p:sp>
      <p:sp>
        <p:nvSpPr>
          <p:cNvPr id="9" name="out2"/>
          <p:cNvSpPr/>
          <p:nvPr/>
        </p:nvSpPr>
        <p:spPr>
          <a:xfrm>
            <a:off x="548640" y="34747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3F0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749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observations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343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inspection: Tributary reviews held up as supplier-control evidence</a:t>
            </a:r>
            <a:endParaRPr lang="en-US" sz="1500" dirty="0"/>
          </a:p>
        </p:txBody>
      </p:sp>
      <p:sp>
        <p:nvSpPr>
          <p:cNvPr id="12" name="out3"/>
          <p:cNvSpPr/>
          <p:nvPr/>
        </p:nvSpPr>
        <p:spPr>
          <a:xfrm>
            <a:off x="6172200" y="34747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DF0DC"/>
          </a:solidFill>
          <a:ln w="9525">
            <a:solidFill>
              <a:srgbClr val="DDE2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49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15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open: Corvane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43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lead times keep stretching; on the Tributary watch list every week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6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 was already yours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Third-party risk used to ask suppliers how risky they are. With Tributary, the evidence answers continuously.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vern">
  <a:themeElements>
    <a:clrScheme name="Halvern">
      <a:dk1>
        <a:srgbClr val="1B2420"/>
      </a:dk1>
      <a:lt1>
        <a:srgbClr val="FFFFFF"/>
      </a:lt1>
      <a:dk2>
        <a:srgbClr val="1F6B5C"/>
      </a:dk2>
      <a:lt2>
        <a:srgbClr val="EEF3F0"/>
      </a:lt2>
      <a:accent1>
        <a:srgbClr val="1F6B5C"/>
      </a:accent1>
      <a:accent2>
        <a:srgbClr val="B3261E"/>
      </a:accent2>
      <a:accent3>
        <a:srgbClr val="A15C00"/>
      </a:accent3>
      <a:accent4>
        <a:srgbClr val="5D6B64"/>
      </a:accent4>
      <a:accent5>
        <a:srgbClr val="E1EFE9"/>
      </a:accent5>
      <a:accent6>
        <a:srgbClr val="FBE9E7"/>
      </a:accent6>
      <a:hlink>
        <a:srgbClr val="1F6B5C"/>
      </a:hlink>
      <a:folHlink>
        <a:srgbClr val="5D6B64"/>
      </a:folHlink>
    </a:clrScheme>
    <a:fontScheme name="Halver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Tributary - AI-Enabled Early Warning</dc:title>
  <dc:subject>PptxGenJS Presentation</dc:subject>
  <dc:creator>Greg Stellflue</dc:creator>
  <cp:lastModifiedBy>Greg Stellflue</cp:lastModifiedBy>
  <cp:revision>1</cp:revision>
  <dcterms:created xsi:type="dcterms:W3CDTF">2026-10-20T01:22:08Z</dcterms:created>
  <dcterms:modified xsi:type="dcterms:W3CDTF">2026-10-20T01:22:08Z</dcterms:modified>
</cp:coreProperties>
</file>